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16" r:id="rId18"/>
    <p:sldId id="317" r:id="rId19"/>
    <p:sldId id="318" r:id="rId20"/>
    <p:sldId id="319" r:id="rId21"/>
    <p:sldId id="272" r:id="rId22"/>
    <p:sldId id="320" r:id="rId23"/>
    <p:sldId id="321" r:id="rId24"/>
    <p:sldId id="322" r:id="rId25"/>
    <p:sldId id="323" r:id="rId26"/>
    <p:sldId id="325" r:id="rId27"/>
    <p:sldId id="324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343" r:id="rId46"/>
    <p:sldId id="344" r:id="rId47"/>
    <p:sldId id="345" r:id="rId48"/>
    <p:sldId id="346" r:id="rId49"/>
    <p:sldId id="347" r:id="rId50"/>
    <p:sldId id="348" r:id="rId51"/>
    <p:sldId id="349" r:id="rId52"/>
    <p:sldId id="350" r:id="rId53"/>
    <p:sldId id="351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  <p:sldId id="302" r:id="rId72"/>
    <p:sldId id="303" r:id="rId73"/>
    <p:sldId id="304" r:id="rId74"/>
    <p:sldId id="305" r:id="rId75"/>
    <p:sldId id="306" r:id="rId76"/>
    <p:sldId id="307" r:id="rId77"/>
    <p:sldId id="308" r:id="rId78"/>
    <p:sldId id="309" r:id="rId79"/>
    <p:sldId id="310" r:id="rId80"/>
    <p:sldId id="311" r:id="rId81"/>
    <p:sldId id="312" r:id="rId82"/>
    <p:sldId id="313" r:id="rId83"/>
    <p:sldId id="314" r:id="rId84"/>
    <p:sldId id="315" r:id="rId85"/>
  </p:sldIdLst>
  <p:sldSz cx="6070600" cy="4552950"/>
  <p:notesSz cx="6070600" cy="45529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53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5771" y="1411414"/>
            <a:ext cx="5165407" cy="95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B8234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1542" y="2549652"/>
            <a:ext cx="4253865" cy="1138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B8234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B8234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3847" y="1047178"/>
            <a:ext cx="2643473" cy="3004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29629" y="1047178"/>
            <a:ext cx="2643473" cy="3004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B8234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8041" y="162877"/>
            <a:ext cx="5126124" cy="10201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B8234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0018" y="1319212"/>
            <a:ext cx="4918710" cy="2600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66163" y="4234243"/>
            <a:ext cx="1944624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3847" y="4234243"/>
            <a:ext cx="1397698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75404" y="4234243"/>
            <a:ext cx="1397698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7" Type="http://schemas.openxmlformats.org/officeDocument/2006/relationships/image" Target="../media/image40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1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63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jpg"/><Relationship Id="rId13" Type="http://schemas.openxmlformats.org/officeDocument/2006/relationships/image" Target="../media/image91.png"/><Relationship Id="rId18" Type="http://schemas.openxmlformats.org/officeDocument/2006/relationships/image" Target="../media/image96.jpg"/><Relationship Id="rId3" Type="http://schemas.openxmlformats.org/officeDocument/2006/relationships/image" Target="../media/image81.jpg"/><Relationship Id="rId7" Type="http://schemas.openxmlformats.org/officeDocument/2006/relationships/image" Target="../media/image85.jpg"/><Relationship Id="rId12" Type="http://schemas.openxmlformats.org/officeDocument/2006/relationships/image" Target="../media/image90.jpg"/><Relationship Id="rId17" Type="http://schemas.openxmlformats.org/officeDocument/2006/relationships/image" Target="../media/image95.jpg"/><Relationship Id="rId2" Type="http://schemas.openxmlformats.org/officeDocument/2006/relationships/image" Target="../media/image80.jpg"/><Relationship Id="rId16" Type="http://schemas.openxmlformats.org/officeDocument/2006/relationships/image" Target="../media/image9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4.png"/><Relationship Id="rId11" Type="http://schemas.openxmlformats.org/officeDocument/2006/relationships/image" Target="../media/image89.jpg"/><Relationship Id="rId5" Type="http://schemas.openxmlformats.org/officeDocument/2006/relationships/image" Target="../media/image83.jpg"/><Relationship Id="rId15" Type="http://schemas.openxmlformats.org/officeDocument/2006/relationships/image" Target="../media/image93.png"/><Relationship Id="rId10" Type="http://schemas.openxmlformats.org/officeDocument/2006/relationships/image" Target="../media/image88.jpg"/><Relationship Id="rId4" Type="http://schemas.openxmlformats.org/officeDocument/2006/relationships/image" Target="../media/image82.jpg"/><Relationship Id="rId9" Type="http://schemas.openxmlformats.org/officeDocument/2006/relationships/image" Target="../media/image87.jpg"/><Relationship Id="rId14" Type="http://schemas.openxmlformats.org/officeDocument/2006/relationships/image" Target="../media/image9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3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7" Type="http://schemas.openxmlformats.org/officeDocument/2006/relationships/image" Target="../media/image113.pn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jpg"/><Relationship Id="rId4" Type="http://schemas.openxmlformats.org/officeDocument/2006/relationships/image" Target="../media/image110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12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g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jpg"/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g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1.png"/><Relationship Id="rId4" Type="http://schemas.openxmlformats.org/officeDocument/2006/relationships/image" Target="../media/image6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g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4.png"/><Relationship Id="rId4" Type="http://schemas.openxmlformats.org/officeDocument/2006/relationships/image" Target="../media/image1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jpg"/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7.png"/><Relationship Id="rId4" Type="http://schemas.openxmlformats.org/officeDocument/2006/relationships/image" Target="../media/image136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g"/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g"/><Relationship Id="rId2" Type="http://schemas.openxmlformats.org/officeDocument/2006/relationships/image" Target="../media/image15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0.jpg"/><Relationship Id="rId7" Type="http://schemas.openxmlformats.org/officeDocument/2006/relationships/image" Target="../media/image164.png"/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3.jpg"/><Relationship Id="rId5" Type="http://schemas.openxmlformats.org/officeDocument/2006/relationships/image" Target="../media/image162.jpg"/><Relationship Id="rId4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E61D3D"/>
                </a:solidFill>
              </a:rPr>
              <a:t>Learning</a:t>
            </a:r>
            <a:r>
              <a:rPr sz="2900" spc="-20" dirty="0">
                <a:solidFill>
                  <a:srgbClr val="E61D3D"/>
                </a:solidFill>
              </a:rPr>
              <a:t> </a:t>
            </a:r>
            <a:r>
              <a:rPr sz="2900" spc="-10" dirty="0">
                <a:solidFill>
                  <a:srgbClr val="CD1636"/>
                </a:solidFill>
              </a:rPr>
              <a:t>Objectives</a:t>
            </a:r>
            <a:endParaRPr sz="2900"/>
          </a:p>
        </p:txBody>
      </p:sp>
      <p:sp>
        <p:nvSpPr>
          <p:cNvPr id="6" name="object 6"/>
          <p:cNvSpPr txBox="1"/>
          <p:nvPr/>
        </p:nvSpPr>
        <p:spPr>
          <a:xfrm>
            <a:off x="832046" y="1300162"/>
            <a:ext cx="5019040" cy="275209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37490" marR="9525" indent="-225425">
              <a:lnSpc>
                <a:spcPct val="79100"/>
              </a:lnSpc>
              <a:spcBef>
                <a:spcPts val="560"/>
              </a:spcBef>
              <a:buChar char="•"/>
              <a:tabLst>
                <a:tab pos="237490" algn="l"/>
                <a:tab pos="244475" algn="l"/>
              </a:tabLst>
            </a:pPr>
            <a:r>
              <a:rPr sz="1850" dirty="0">
                <a:latin typeface="Arial MT"/>
                <a:cs typeface="Arial MT"/>
              </a:rPr>
              <a:t>	Understand</a:t>
            </a:r>
            <a:r>
              <a:rPr sz="1850" spc="7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that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organizations</a:t>
            </a:r>
            <a:r>
              <a:rPr sz="1850" spc="8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and</a:t>
            </a:r>
            <a:r>
              <a:rPr sz="1850" spc="-9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their </a:t>
            </a:r>
            <a:r>
              <a:rPr sz="1900" spc="-30" dirty="0">
                <a:latin typeface="Arial MT"/>
                <a:cs typeface="Arial MT"/>
              </a:rPr>
              <a:t>members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are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systems </a:t>
            </a:r>
            <a:r>
              <a:rPr sz="1900" spc="-35" dirty="0">
                <a:latin typeface="Arial MT"/>
                <a:cs typeface="Arial MT"/>
              </a:rPr>
              <a:t>and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that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analysts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need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take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30" dirty="0">
                <a:latin typeface="Arial MT"/>
                <a:cs typeface="Arial MT"/>
              </a:rPr>
              <a:t>systems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perspective.</a:t>
            </a:r>
            <a:endParaRPr sz="1900">
              <a:latin typeface="Arial MT"/>
              <a:cs typeface="Arial MT"/>
            </a:endParaRPr>
          </a:p>
          <a:p>
            <a:pPr marL="238125" marR="5080" indent="-226060">
              <a:lnSpc>
                <a:spcPct val="79200"/>
              </a:lnSpc>
              <a:spcBef>
                <a:spcPts val="445"/>
              </a:spcBef>
              <a:buChar char="•"/>
              <a:tabLst>
                <a:tab pos="238125" algn="l"/>
                <a:tab pos="245110" algn="l"/>
              </a:tabLst>
            </a:pPr>
            <a:r>
              <a:rPr sz="1850" dirty="0">
                <a:latin typeface="Arial MT"/>
                <a:cs typeface="Arial MT"/>
              </a:rPr>
              <a:t>	Depict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systems</a:t>
            </a:r>
            <a:r>
              <a:rPr sz="1850" spc="4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graphically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using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context- </a:t>
            </a:r>
            <a:r>
              <a:rPr sz="1850" dirty="0">
                <a:latin typeface="Arial MT"/>
                <a:cs typeface="Arial MT"/>
              </a:rPr>
              <a:t>level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data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flow</a:t>
            </a:r>
            <a:r>
              <a:rPr sz="1850" spc="4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diagrams,</a:t>
            </a:r>
            <a:r>
              <a:rPr sz="1850" spc="5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and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entity- </a:t>
            </a:r>
            <a:r>
              <a:rPr sz="1900" spc="-25" dirty="0">
                <a:latin typeface="Arial MT"/>
                <a:cs typeface="Arial MT"/>
              </a:rPr>
              <a:t>relationship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models,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use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cases,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1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use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case </a:t>
            </a:r>
            <a:r>
              <a:rPr sz="1900" spc="-10" dirty="0">
                <a:latin typeface="Arial MT"/>
                <a:cs typeface="Arial MT"/>
              </a:rPr>
              <a:t>scenarios.</a:t>
            </a:r>
            <a:endParaRPr sz="1900">
              <a:latin typeface="Arial MT"/>
              <a:cs typeface="Arial MT"/>
            </a:endParaRPr>
          </a:p>
          <a:p>
            <a:pPr marL="244475">
              <a:lnSpc>
                <a:spcPts val="1985"/>
              </a:lnSpc>
              <a:spcBef>
                <a:spcPts val="20"/>
              </a:spcBef>
            </a:pPr>
            <a:r>
              <a:rPr sz="1850" dirty="0">
                <a:latin typeface="Arial MT"/>
                <a:cs typeface="Arial MT"/>
              </a:rPr>
              <a:t>Recognize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that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different levels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of</a:t>
            </a:r>
            <a:endParaRPr sz="1850">
              <a:latin typeface="Arial MT"/>
              <a:cs typeface="Arial MT"/>
            </a:endParaRPr>
          </a:p>
          <a:p>
            <a:pPr marL="237490">
              <a:lnSpc>
                <a:spcPts val="2045"/>
              </a:lnSpc>
            </a:pPr>
            <a:r>
              <a:rPr sz="1900" spc="-40" dirty="0">
                <a:latin typeface="Arial MT"/>
                <a:cs typeface="Arial MT"/>
              </a:rPr>
              <a:t>management</a:t>
            </a:r>
            <a:r>
              <a:rPr sz="1900" spc="4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require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different</a:t>
            </a:r>
            <a:r>
              <a:rPr sz="190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systems.</a:t>
            </a:r>
            <a:endParaRPr sz="1900">
              <a:latin typeface="Arial MT"/>
              <a:cs typeface="Arial MT"/>
            </a:endParaRPr>
          </a:p>
          <a:p>
            <a:pPr marL="241935">
              <a:lnSpc>
                <a:spcPts val="1964"/>
              </a:lnSpc>
              <a:spcBef>
                <a:spcPts val="20"/>
              </a:spcBef>
            </a:pPr>
            <a:r>
              <a:rPr sz="1850" dirty="0">
                <a:latin typeface="Arial MT"/>
                <a:cs typeface="Arial MT"/>
              </a:rPr>
              <a:t>Comprehend</a:t>
            </a:r>
            <a:r>
              <a:rPr sz="1850" spc="1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that organizational</a:t>
            </a:r>
            <a:r>
              <a:rPr sz="1850" spc="-8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culture</a:t>
            </a:r>
            <a:endParaRPr sz="1850">
              <a:latin typeface="Arial MT"/>
              <a:cs typeface="Arial MT"/>
            </a:endParaRPr>
          </a:p>
          <a:p>
            <a:pPr marL="237490">
              <a:lnSpc>
                <a:spcPts val="2025"/>
              </a:lnSpc>
            </a:pPr>
            <a:r>
              <a:rPr sz="1900" spc="-25" dirty="0">
                <a:latin typeface="Arial MT"/>
                <a:cs typeface="Arial MT"/>
              </a:rPr>
              <a:t>impacts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12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design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30" dirty="0">
                <a:latin typeface="Arial MT"/>
                <a:cs typeface="Arial MT"/>
              </a:rPr>
              <a:t>information</a:t>
            </a:r>
            <a:r>
              <a:rPr sz="1900" spc="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systems.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2F2F2F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5841" y="4341812"/>
            <a:ext cx="1441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40" dirty="0">
                <a:solidFill>
                  <a:srgbClr val="1F1F1F"/>
                </a:solidFill>
                <a:latin typeface="Arial MT"/>
                <a:cs typeface="Arial MT"/>
              </a:rPr>
              <a:t>2-</a:t>
            </a:r>
            <a:r>
              <a:rPr sz="700" spc="-50" dirty="0">
                <a:solidFill>
                  <a:srgbClr val="1F1F1F"/>
                </a:solidFill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3163" y="258762"/>
            <a:ext cx="4887595" cy="84201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4604" marR="5080" indent="-2540">
              <a:lnSpc>
                <a:spcPts val="3190"/>
              </a:lnSpc>
              <a:spcBef>
                <a:spcPts val="245"/>
              </a:spcBef>
            </a:pPr>
            <a:r>
              <a:rPr sz="2700" dirty="0">
                <a:solidFill>
                  <a:srgbClr val="AF2A46"/>
                </a:solidFill>
              </a:rPr>
              <a:t>Three</a:t>
            </a:r>
            <a:r>
              <a:rPr sz="2700" spc="-130" dirty="0">
                <a:solidFill>
                  <a:srgbClr val="AF2A46"/>
                </a:solidFill>
              </a:rPr>
              <a:t> </a:t>
            </a:r>
            <a:r>
              <a:rPr sz="2700" dirty="0">
                <a:solidFill>
                  <a:srgbClr val="D8133A"/>
                </a:solidFill>
              </a:rPr>
              <a:t>Main</a:t>
            </a:r>
            <a:r>
              <a:rPr sz="2700" spc="-170" dirty="0">
                <a:solidFill>
                  <a:srgbClr val="D8133A"/>
                </a:solidFill>
              </a:rPr>
              <a:t> </a:t>
            </a:r>
            <a:r>
              <a:rPr sz="2700" dirty="0">
                <a:solidFill>
                  <a:srgbClr val="AA2B46"/>
                </a:solidFill>
              </a:rPr>
              <a:t>Forces</a:t>
            </a:r>
            <a:r>
              <a:rPr sz="2700" spc="-70" dirty="0">
                <a:solidFill>
                  <a:srgbClr val="AA2B46"/>
                </a:solidFill>
              </a:rPr>
              <a:t> </a:t>
            </a:r>
            <a:r>
              <a:rPr sz="2700" spc="-25" dirty="0">
                <a:solidFill>
                  <a:srgbClr val="A8263F"/>
                </a:solidFill>
              </a:rPr>
              <a:t>Interacting</a:t>
            </a:r>
            <a:r>
              <a:rPr sz="2700" spc="-45" dirty="0">
                <a:solidFill>
                  <a:srgbClr val="A8263F"/>
                </a:solidFill>
              </a:rPr>
              <a:t> </a:t>
            </a:r>
            <a:r>
              <a:rPr sz="2700" spc="-40" dirty="0">
                <a:solidFill>
                  <a:srgbClr val="C32342"/>
                </a:solidFill>
              </a:rPr>
              <a:t>to </a:t>
            </a:r>
            <a:r>
              <a:rPr sz="2700" spc="-10" dirty="0">
                <a:solidFill>
                  <a:srgbClr val="BA1833"/>
                </a:solidFill>
              </a:rPr>
              <a:t>Shape</a:t>
            </a:r>
            <a:r>
              <a:rPr sz="2700" spc="-140" dirty="0">
                <a:solidFill>
                  <a:srgbClr val="BA1833"/>
                </a:solidFill>
              </a:rPr>
              <a:t> </a:t>
            </a:r>
            <a:r>
              <a:rPr sz="2700" spc="-10" dirty="0">
                <a:solidFill>
                  <a:srgbClr val="BA213D"/>
                </a:solidFill>
              </a:rPr>
              <a:t>Organizations</a:t>
            </a:r>
            <a:endParaRPr sz="2700"/>
          </a:p>
        </p:txBody>
      </p:sp>
      <p:sp>
        <p:nvSpPr>
          <p:cNvPr id="6" name="object 6"/>
          <p:cNvSpPr txBox="1"/>
          <p:nvPr/>
        </p:nvSpPr>
        <p:spPr>
          <a:xfrm>
            <a:off x="830018" y="1289685"/>
            <a:ext cx="3044825" cy="120205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595"/>
              </a:spcBef>
              <a:buChar char="•"/>
              <a:tabLst>
                <a:tab pos="245110" algn="l"/>
              </a:tabLst>
            </a:pPr>
            <a:r>
              <a:rPr sz="2150" dirty="0">
                <a:latin typeface="Arial MT"/>
                <a:cs typeface="Arial MT"/>
              </a:rPr>
              <a:t>Levels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13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management</a:t>
            </a:r>
            <a:endParaRPr sz="2150">
              <a:latin typeface="Arial MT"/>
              <a:cs typeface="Arial MT"/>
            </a:endParaRPr>
          </a:p>
          <a:p>
            <a:pPr marL="243840" indent="-231140">
              <a:lnSpc>
                <a:spcPct val="100000"/>
              </a:lnSpc>
              <a:spcBef>
                <a:spcPts val="495"/>
              </a:spcBef>
              <a:buChar char="•"/>
              <a:tabLst>
                <a:tab pos="243840" algn="l"/>
              </a:tabLst>
            </a:pPr>
            <a:r>
              <a:rPr sz="2150" spc="-10" dirty="0">
                <a:latin typeface="Arial MT"/>
                <a:cs typeface="Arial MT"/>
              </a:rPr>
              <a:t>Design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15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organizations</a:t>
            </a:r>
            <a:endParaRPr sz="2150">
              <a:latin typeface="Arial MT"/>
              <a:cs typeface="Arial MT"/>
            </a:endParaRPr>
          </a:p>
          <a:p>
            <a:pPr marL="242570" indent="-229870">
              <a:lnSpc>
                <a:spcPct val="100000"/>
              </a:lnSpc>
              <a:spcBef>
                <a:spcPts val="530"/>
              </a:spcBef>
              <a:buChar char="•"/>
              <a:tabLst>
                <a:tab pos="242570" algn="l"/>
              </a:tabLst>
            </a:pPr>
            <a:r>
              <a:rPr sz="2150" spc="-20" dirty="0">
                <a:latin typeface="Arial MT"/>
                <a:cs typeface="Arial MT"/>
              </a:rPr>
              <a:t>Organizational</a:t>
            </a:r>
            <a:r>
              <a:rPr sz="2150" spc="-4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cultures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9461" y="4322762"/>
            <a:ext cx="14097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40" dirty="0">
                <a:solidFill>
                  <a:srgbClr val="494949"/>
                </a:solidFill>
                <a:latin typeface="Courier New"/>
                <a:cs typeface="Courier New"/>
              </a:rPr>
              <a:t>20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4147" y="258762"/>
            <a:ext cx="4813935" cy="84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40"/>
              </a:lnSpc>
              <a:spcBef>
                <a:spcPts val="100"/>
              </a:spcBef>
              <a:tabLst>
                <a:tab pos="2191385" algn="l"/>
              </a:tabLst>
            </a:pPr>
            <a:r>
              <a:rPr sz="2700" spc="-10" dirty="0">
                <a:solidFill>
                  <a:srgbClr val="B81A38"/>
                </a:solidFill>
              </a:rPr>
              <a:t>Organizations</a:t>
            </a:r>
            <a:r>
              <a:rPr sz="2700" dirty="0">
                <a:solidFill>
                  <a:srgbClr val="B81A38"/>
                </a:solidFill>
              </a:rPr>
              <a:t>	</a:t>
            </a:r>
            <a:r>
              <a:rPr sz="2700" dirty="0">
                <a:solidFill>
                  <a:srgbClr val="BA213B"/>
                </a:solidFill>
              </a:rPr>
              <a:t>Are</a:t>
            </a:r>
            <a:r>
              <a:rPr sz="2700" spc="-90" dirty="0">
                <a:solidFill>
                  <a:srgbClr val="BA213B"/>
                </a:solidFill>
              </a:rPr>
              <a:t> </a:t>
            </a:r>
            <a:r>
              <a:rPr sz="2700" spc="-35" dirty="0">
                <a:solidFill>
                  <a:srgbClr val="A8162F"/>
                </a:solidFill>
              </a:rPr>
              <a:t>Composed</a:t>
            </a:r>
            <a:r>
              <a:rPr sz="2700" spc="-5" dirty="0">
                <a:solidFill>
                  <a:srgbClr val="A8162F"/>
                </a:solidFill>
              </a:rPr>
              <a:t> </a:t>
            </a:r>
            <a:r>
              <a:rPr sz="2700" spc="-25" dirty="0">
                <a:solidFill>
                  <a:srgbClr val="B51D3D"/>
                </a:solidFill>
              </a:rPr>
              <a:t>of</a:t>
            </a:r>
            <a:endParaRPr sz="2700"/>
          </a:p>
          <a:p>
            <a:pPr marL="16510">
              <a:lnSpc>
                <a:spcPts val="3180"/>
              </a:lnSpc>
            </a:pPr>
            <a:r>
              <a:rPr sz="2650" spc="-10" dirty="0">
                <a:solidFill>
                  <a:srgbClr val="B82141"/>
                </a:solidFill>
              </a:rPr>
              <a:t>Interrelated</a:t>
            </a:r>
            <a:r>
              <a:rPr sz="2650" spc="-60" dirty="0">
                <a:solidFill>
                  <a:srgbClr val="B82141"/>
                </a:solidFill>
              </a:rPr>
              <a:t> </a:t>
            </a:r>
            <a:r>
              <a:rPr sz="2650" spc="-10" dirty="0">
                <a:solidFill>
                  <a:srgbClr val="BC1834"/>
                </a:solidFill>
              </a:rPr>
              <a:t>Subsystems</a:t>
            </a:r>
            <a:endParaRPr sz="2650"/>
          </a:p>
        </p:txBody>
      </p:sp>
      <p:sp>
        <p:nvSpPr>
          <p:cNvPr id="6" name="object 6"/>
          <p:cNvSpPr txBox="1"/>
          <p:nvPr/>
        </p:nvSpPr>
        <p:spPr>
          <a:xfrm>
            <a:off x="830018" y="1319212"/>
            <a:ext cx="4624070" cy="252349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39395" marR="47625" indent="-227329" algn="just">
              <a:lnSpc>
                <a:spcPts val="2290"/>
              </a:lnSpc>
              <a:spcBef>
                <a:spcPts val="415"/>
              </a:spcBef>
              <a:buChar char="•"/>
              <a:tabLst>
                <a:tab pos="245745" algn="l"/>
              </a:tabLst>
            </a:pPr>
            <a:r>
              <a:rPr sz="2150" spc="-20" dirty="0">
                <a:latin typeface="Arial MT"/>
                <a:cs typeface="Arial MT"/>
              </a:rPr>
              <a:t>Influenced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by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levels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8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management 	decision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makers</a:t>
            </a:r>
            <a:r>
              <a:rPr sz="2150" spc="-10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that</a:t>
            </a:r>
            <a:r>
              <a:rPr sz="2150" spc="-13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cut</a:t>
            </a:r>
            <a:r>
              <a:rPr sz="2150" spc="-13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horizontally 	</a:t>
            </a:r>
            <a:r>
              <a:rPr sz="2100" dirty="0">
                <a:latin typeface="Arial MT"/>
                <a:cs typeface="Arial MT"/>
              </a:rPr>
              <a:t>across</a:t>
            </a:r>
            <a:r>
              <a:rPr sz="2100" spc="2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1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organizational</a:t>
            </a:r>
            <a:r>
              <a:rPr sz="2100" spc="-8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system</a:t>
            </a:r>
            <a:endParaRPr sz="2100">
              <a:latin typeface="Arial MT"/>
              <a:cs typeface="Arial MT"/>
            </a:endParaRPr>
          </a:p>
          <a:p>
            <a:pPr marL="509270" lvl="1" indent="-190500">
              <a:lnSpc>
                <a:spcPct val="100000"/>
              </a:lnSpc>
              <a:spcBef>
                <a:spcPts val="190"/>
              </a:spcBef>
              <a:buClr>
                <a:srgbClr val="DF1C3F"/>
              </a:buClr>
              <a:buChar char="•"/>
              <a:tabLst>
                <a:tab pos="509270" algn="l"/>
              </a:tabLst>
            </a:pPr>
            <a:r>
              <a:rPr sz="1900" spc="-10" dirty="0">
                <a:latin typeface="Arial MT"/>
                <a:cs typeface="Arial MT"/>
              </a:rPr>
              <a:t>Operations</a:t>
            </a:r>
            <a:endParaRPr sz="1900">
              <a:latin typeface="Arial MT"/>
              <a:cs typeface="Arial MT"/>
            </a:endParaRPr>
          </a:p>
          <a:p>
            <a:pPr marL="504190" lvl="1" indent="-184785">
              <a:lnSpc>
                <a:spcPct val="100000"/>
              </a:lnSpc>
              <a:spcBef>
                <a:spcPts val="244"/>
              </a:spcBef>
              <a:buClr>
                <a:srgbClr val="F2264D"/>
              </a:buClr>
              <a:buChar char="•"/>
              <a:tabLst>
                <a:tab pos="504190" algn="l"/>
              </a:tabLst>
            </a:pPr>
            <a:r>
              <a:rPr sz="1850" dirty="0">
                <a:latin typeface="Arial MT"/>
                <a:cs typeface="Arial MT"/>
              </a:rPr>
              <a:t>Middle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management</a:t>
            </a:r>
            <a:endParaRPr sz="1850">
              <a:latin typeface="Arial MT"/>
              <a:cs typeface="Arial MT"/>
            </a:endParaRPr>
          </a:p>
          <a:p>
            <a:pPr marL="509905" lvl="1" indent="-191135">
              <a:lnSpc>
                <a:spcPct val="100000"/>
              </a:lnSpc>
              <a:spcBef>
                <a:spcPts val="204"/>
              </a:spcBef>
              <a:buClr>
                <a:srgbClr val="E81F44"/>
              </a:buClr>
              <a:buChar char="•"/>
              <a:tabLst>
                <a:tab pos="509905" algn="l"/>
              </a:tabLst>
            </a:pPr>
            <a:r>
              <a:rPr sz="1900" spc="-30" dirty="0">
                <a:latin typeface="Arial MT"/>
                <a:cs typeface="Arial MT"/>
              </a:rPr>
              <a:t>Strategic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management</a:t>
            </a:r>
            <a:endParaRPr sz="1900">
              <a:latin typeface="Arial MT"/>
              <a:cs typeface="Arial MT"/>
            </a:endParaRPr>
          </a:p>
          <a:p>
            <a:pPr marL="239395" indent="-226695">
              <a:lnSpc>
                <a:spcPts val="2440"/>
              </a:lnSpc>
              <a:spcBef>
                <a:spcPts val="245"/>
              </a:spcBef>
              <a:buChar char="•"/>
              <a:tabLst>
                <a:tab pos="239395" algn="l"/>
              </a:tabLst>
            </a:pPr>
            <a:r>
              <a:rPr sz="2150" spc="-20" dirty="0">
                <a:latin typeface="Arial MT"/>
                <a:cs typeface="Arial MT"/>
              </a:rPr>
              <a:t>Influenced</a:t>
            </a:r>
            <a:r>
              <a:rPr sz="2150" dirty="0">
                <a:latin typeface="Arial MT"/>
                <a:cs typeface="Arial MT"/>
              </a:rPr>
              <a:t> by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organizational</a:t>
            </a:r>
            <a:r>
              <a:rPr sz="2150" spc="-13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cultures</a:t>
            </a:r>
            <a:endParaRPr sz="2150">
              <a:latin typeface="Arial MT"/>
              <a:cs typeface="Arial MT"/>
            </a:endParaRPr>
          </a:p>
          <a:p>
            <a:pPr marL="245745">
              <a:lnSpc>
                <a:spcPts val="2380"/>
              </a:lnSpc>
            </a:pPr>
            <a:r>
              <a:rPr sz="2100" dirty="0">
                <a:latin typeface="Arial MT"/>
                <a:cs typeface="Arial MT"/>
              </a:rPr>
              <a:t>and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subcultures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9461" y="4322762"/>
            <a:ext cx="1485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282828"/>
                </a:solidFill>
                <a:latin typeface="Courier New"/>
                <a:cs typeface="Courier New"/>
              </a:rPr>
              <a:t>2w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91175" y="4381500"/>
            <a:ext cx="123825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2440" y="266700"/>
            <a:ext cx="212788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E62842"/>
                </a:solidFill>
              </a:rPr>
              <a:t>Major</a:t>
            </a:r>
            <a:r>
              <a:rPr sz="2900" spc="40" dirty="0">
                <a:solidFill>
                  <a:srgbClr val="E62842"/>
                </a:solidFill>
              </a:rPr>
              <a:t> </a:t>
            </a:r>
            <a:r>
              <a:rPr sz="2900" spc="-10" dirty="0">
                <a:solidFill>
                  <a:srgbClr val="DB1138"/>
                </a:solidFill>
              </a:rPr>
              <a:t>Topics</a:t>
            </a:r>
            <a:endParaRPr sz="2900"/>
          </a:p>
        </p:txBody>
      </p:sp>
      <p:sp>
        <p:nvSpPr>
          <p:cNvPr id="7" name="object 7"/>
          <p:cNvSpPr txBox="1"/>
          <p:nvPr/>
        </p:nvSpPr>
        <p:spPr>
          <a:xfrm>
            <a:off x="829004" y="1299210"/>
            <a:ext cx="3794125" cy="261556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43204" indent="-229870">
              <a:lnSpc>
                <a:spcPct val="100000"/>
              </a:lnSpc>
              <a:spcBef>
                <a:spcPts val="555"/>
              </a:spcBef>
              <a:buChar char="•"/>
              <a:tabLst>
                <a:tab pos="243204" algn="l"/>
              </a:tabLst>
            </a:pPr>
            <a:r>
              <a:rPr sz="2150" spc="-25" dirty="0">
                <a:latin typeface="Arial MT"/>
                <a:cs typeface="Arial MT"/>
              </a:rPr>
              <a:t>Organizations</a:t>
            </a:r>
            <a:r>
              <a:rPr sz="2150" spc="12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as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systems</a:t>
            </a:r>
            <a:endParaRPr sz="2150">
              <a:latin typeface="Arial MT"/>
              <a:cs typeface="Arial MT"/>
            </a:endParaRPr>
          </a:p>
          <a:p>
            <a:pPr marL="245110" indent="-231775">
              <a:lnSpc>
                <a:spcPct val="100000"/>
              </a:lnSpc>
              <a:spcBef>
                <a:spcPts val="459"/>
              </a:spcBef>
              <a:buChar char="•"/>
              <a:tabLst>
                <a:tab pos="245110" algn="l"/>
              </a:tabLst>
            </a:pPr>
            <a:r>
              <a:rPr sz="2150" spc="-20" dirty="0">
                <a:latin typeface="Arial MT"/>
                <a:cs typeface="Arial MT"/>
              </a:rPr>
              <a:t>Depicting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systems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graphically</a:t>
            </a:r>
            <a:endParaRPr sz="2150">
              <a:latin typeface="Arial MT"/>
              <a:cs typeface="Arial MT"/>
            </a:endParaRPr>
          </a:p>
          <a:p>
            <a:pPr marL="514350" lvl="1" indent="-193675">
              <a:lnSpc>
                <a:spcPct val="100000"/>
              </a:lnSpc>
              <a:spcBef>
                <a:spcPts val="505"/>
              </a:spcBef>
              <a:buClr>
                <a:srgbClr val="E81C3B"/>
              </a:buClr>
              <a:buChar char="•"/>
              <a:tabLst>
                <a:tab pos="514350" algn="l"/>
              </a:tabLst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flow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diagram</a:t>
            </a:r>
            <a:endParaRPr sz="1800">
              <a:latin typeface="Arial MT"/>
              <a:cs typeface="Arial MT"/>
            </a:endParaRPr>
          </a:p>
          <a:p>
            <a:pPr marL="513080" lvl="1" indent="-193040">
              <a:lnSpc>
                <a:spcPct val="100000"/>
              </a:lnSpc>
              <a:spcBef>
                <a:spcPts val="490"/>
              </a:spcBef>
              <a:buClr>
                <a:srgbClr val="F42344"/>
              </a:buClr>
              <a:buChar char="•"/>
              <a:tabLst>
                <a:tab pos="513080" algn="l"/>
              </a:tabLst>
            </a:pPr>
            <a:r>
              <a:rPr sz="1850" dirty="0">
                <a:latin typeface="Arial MT"/>
                <a:cs typeface="Arial MT"/>
              </a:rPr>
              <a:t>Entity-relationship</a:t>
            </a:r>
            <a:r>
              <a:rPr sz="1850" spc="-6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model</a:t>
            </a:r>
            <a:endParaRPr sz="1850">
              <a:latin typeface="Arial MT"/>
              <a:cs typeface="Arial MT"/>
            </a:endParaRPr>
          </a:p>
          <a:p>
            <a:pPr marL="513080" lvl="1" indent="-193040">
              <a:lnSpc>
                <a:spcPct val="100000"/>
              </a:lnSpc>
              <a:spcBef>
                <a:spcPts val="430"/>
              </a:spcBef>
              <a:buClr>
                <a:srgbClr val="DD1C36"/>
              </a:buClr>
              <a:buChar char="•"/>
              <a:tabLst>
                <a:tab pos="513080" algn="l"/>
              </a:tabLst>
            </a:pPr>
            <a:r>
              <a:rPr sz="1900" dirty="0">
                <a:latin typeface="Arial MT"/>
                <a:cs typeface="Arial MT"/>
              </a:rPr>
              <a:t>Use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40" dirty="0">
                <a:latin typeface="Arial MT"/>
                <a:cs typeface="Arial MT"/>
              </a:rPr>
              <a:t>case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modeling</a:t>
            </a:r>
            <a:endParaRPr sz="1900">
              <a:latin typeface="Arial MT"/>
              <a:cs typeface="Arial MT"/>
            </a:endParaRPr>
          </a:p>
          <a:p>
            <a:pPr marL="244475" indent="-231775">
              <a:lnSpc>
                <a:spcPct val="100000"/>
              </a:lnSpc>
              <a:spcBef>
                <a:spcPts val="359"/>
              </a:spcBef>
              <a:buChar char="•"/>
              <a:tabLst>
                <a:tab pos="244475" algn="l"/>
              </a:tabLst>
            </a:pPr>
            <a:r>
              <a:rPr sz="2300" spc="-80" dirty="0">
                <a:latin typeface="Arial MT"/>
                <a:cs typeface="Arial MT"/>
              </a:rPr>
              <a:t>Levels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90" dirty="0">
                <a:latin typeface="Arial MT"/>
                <a:cs typeface="Arial MT"/>
              </a:rPr>
              <a:t>of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management</a:t>
            </a:r>
            <a:endParaRPr sz="2300">
              <a:latin typeface="Arial MT"/>
              <a:cs typeface="Arial MT"/>
            </a:endParaRPr>
          </a:p>
          <a:p>
            <a:pPr marL="242570" indent="-229870">
              <a:lnSpc>
                <a:spcPct val="100000"/>
              </a:lnSpc>
              <a:spcBef>
                <a:spcPts val="350"/>
              </a:spcBef>
              <a:buChar char="•"/>
              <a:tabLst>
                <a:tab pos="242570" algn="l"/>
              </a:tabLst>
            </a:pPr>
            <a:r>
              <a:rPr sz="2300" spc="-80" dirty="0">
                <a:latin typeface="Arial MT"/>
                <a:cs typeface="Arial MT"/>
              </a:rPr>
              <a:t>Organizational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culture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65656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2919" y="271462"/>
            <a:ext cx="432054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BF213F"/>
                </a:solidFill>
              </a:rPr>
              <a:t>Organizations</a:t>
            </a:r>
            <a:r>
              <a:rPr sz="2900" spc="204" dirty="0">
                <a:solidFill>
                  <a:srgbClr val="BF213F"/>
                </a:solidFill>
              </a:rPr>
              <a:t> </a:t>
            </a:r>
            <a:r>
              <a:rPr sz="2900" dirty="0">
                <a:solidFill>
                  <a:srgbClr val="BD1633"/>
                </a:solidFill>
              </a:rPr>
              <a:t>as</a:t>
            </a:r>
            <a:r>
              <a:rPr sz="2900" spc="30" dirty="0">
                <a:solidFill>
                  <a:srgbClr val="BD1633"/>
                </a:solidFill>
              </a:rPr>
              <a:t> </a:t>
            </a:r>
            <a:r>
              <a:rPr sz="2900" spc="-10" dirty="0">
                <a:solidFill>
                  <a:srgbClr val="C81331"/>
                </a:solidFill>
              </a:rPr>
              <a:t>Systems</a:t>
            </a:r>
            <a:endParaRPr sz="2900"/>
          </a:p>
        </p:txBody>
      </p:sp>
      <p:sp>
        <p:nvSpPr>
          <p:cNvPr id="6" name="object 6"/>
          <p:cNvSpPr txBox="1"/>
          <p:nvPr/>
        </p:nvSpPr>
        <p:spPr>
          <a:xfrm>
            <a:off x="829342" y="1350962"/>
            <a:ext cx="5017770" cy="27539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41935" marR="5080" indent="-229235">
              <a:lnSpc>
                <a:spcPct val="95900"/>
              </a:lnSpc>
              <a:spcBef>
                <a:spcPts val="204"/>
              </a:spcBef>
              <a:buChar char="•"/>
              <a:tabLst>
                <a:tab pos="246379" algn="l"/>
              </a:tabLst>
            </a:pPr>
            <a:r>
              <a:rPr sz="2200" spc="-50" dirty="0">
                <a:latin typeface="Arial MT"/>
                <a:cs typeface="Arial MT"/>
              </a:rPr>
              <a:t>Conceptualized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40" dirty="0">
                <a:latin typeface="Arial MT"/>
                <a:cs typeface="Arial MT"/>
              </a:rPr>
              <a:t>systems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45" dirty="0">
                <a:latin typeface="Arial MT"/>
                <a:cs typeface="Arial MT"/>
              </a:rPr>
              <a:t>designed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to 	</a:t>
            </a:r>
            <a:r>
              <a:rPr sz="2200" spc="-50" dirty="0">
                <a:latin typeface="Arial MT"/>
                <a:cs typeface="Arial MT"/>
              </a:rPr>
              <a:t>accomplish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predetermined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goals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	</a:t>
            </a:r>
            <a:r>
              <a:rPr sz="2200" spc="-10" dirty="0">
                <a:latin typeface="Arial MT"/>
                <a:cs typeface="Arial MT"/>
              </a:rPr>
              <a:t>objectives</a:t>
            </a:r>
            <a:endParaRPr sz="2200">
              <a:latin typeface="Arial MT"/>
              <a:cs typeface="Arial MT"/>
            </a:endParaRPr>
          </a:p>
          <a:p>
            <a:pPr marL="242570" marR="275590" indent="-229870">
              <a:lnSpc>
                <a:spcPts val="2510"/>
              </a:lnSpc>
              <a:spcBef>
                <a:spcPts val="665"/>
              </a:spcBef>
              <a:buChar char="•"/>
              <a:tabLst>
                <a:tab pos="247650" algn="l"/>
              </a:tabLst>
            </a:pPr>
            <a:r>
              <a:rPr sz="2150" spc="-30" dirty="0">
                <a:latin typeface="Arial MT"/>
                <a:cs typeface="Arial MT"/>
              </a:rPr>
              <a:t>Composed</a:t>
            </a:r>
            <a:r>
              <a:rPr sz="2150" spc="3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11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smaller,</a:t>
            </a:r>
            <a:r>
              <a:rPr sz="2150" spc="-4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interrelated 	systems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serving</a:t>
            </a:r>
            <a:r>
              <a:rPr sz="2150" spc="-4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specialized</a:t>
            </a:r>
            <a:r>
              <a:rPr sz="2150" spc="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functions</a:t>
            </a:r>
            <a:endParaRPr sz="2150">
              <a:latin typeface="Arial MT"/>
              <a:cs typeface="Arial MT"/>
            </a:endParaRPr>
          </a:p>
          <a:p>
            <a:pPr marL="241935" marR="267335" indent="-229870">
              <a:lnSpc>
                <a:spcPct val="96400"/>
              </a:lnSpc>
              <a:spcBef>
                <a:spcPts val="459"/>
              </a:spcBef>
              <a:buChar char="•"/>
              <a:tabLst>
                <a:tab pos="241935" algn="l"/>
                <a:tab pos="243204" algn="l"/>
              </a:tabLst>
            </a:pPr>
            <a:r>
              <a:rPr sz="2250" dirty="0">
                <a:latin typeface="Arial MT"/>
                <a:cs typeface="Arial MT"/>
              </a:rPr>
              <a:t>	</a:t>
            </a:r>
            <a:r>
              <a:rPr sz="2250" spc="-60" dirty="0">
                <a:latin typeface="Arial MT"/>
                <a:cs typeface="Arial MT"/>
              </a:rPr>
              <a:t>Specialized</a:t>
            </a:r>
            <a:r>
              <a:rPr sz="2250" spc="-55" dirty="0">
                <a:latin typeface="Arial MT"/>
                <a:cs typeface="Arial MT"/>
              </a:rPr>
              <a:t> functions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spc="-25" dirty="0">
                <a:latin typeface="Arial MT"/>
                <a:cs typeface="Arial MT"/>
              </a:rPr>
              <a:t>are</a:t>
            </a:r>
            <a:r>
              <a:rPr sz="2250" spc="-130" dirty="0">
                <a:latin typeface="Arial MT"/>
                <a:cs typeface="Arial MT"/>
              </a:rPr>
              <a:t> </a:t>
            </a:r>
            <a:r>
              <a:rPr sz="2250" spc="-75" dirty="0">
                <a:latin typeface="Arial MT"/>
                <a:cs typeface="Arial MT"/>
              </a:rPr>
              <a:t>reintegrated </a:t>
            </a:r>
            <a:r>
              <a:rPr sz="2250" spc="-10" dirty="0">
                <a:latin typeface="Arial MT"/>
                <a:cs typeface="Arial MT"/>
              </a:rPr>
              <a:t>to</a:t>
            </a:r>
            <a:r>
              <a:rPr sz="2250" spc="-150" dirty="0">
                <a:latin typeface="Arial MT"/>
                <a:cs typeface="Arial MT"/>
              </a:rPr>
              <a:t> </a:t>
            </a:r>
            <a:r>
              <a:rPr sz="2250" spc="-30" dirty="0">
                <a:latin typeface="Arial MT"/>
                <a:cs typeface="Arial MT"/>
              </a:rPr>
              <a:t>form</a:t>
            </a:r>
            <a:r>
              <a:rPr sz="2250" spc="-125" dirty="0">
                <a:latin typeface="Arial MT"/>
                <a:cs typeface="Arial MT"/>
              </a:rPr>
              <a:t> </a:t>
            </a:r>
            <a:r>
              <a:rPr sz="2250" spc="-55" dirty="0">
                <a:latin typeface="Arial MT"/>
                <a:cs typeface="Arial MT"/>
              </a:rPr>
              <a:t>an</a:t>
            </a:r>
            <a:r>
              <a:rPr sz="2250" spc="-100" dirty="0">
                <a:latin typeface="Arial MT"/>
                <a:cs typeface="Arial MT"/>
              </a:rPr>
              <a:t> </a:t>
            </a:r>
            <a:r>
              <a:rPr sz="2250" spc="-45" dirty="0">
                <a:latin typeface="Arial MT"/>
                <a:cs typeface="Arial MT"/>
              </a:rPr>
              <a:t>effective</a:t>
            </a:r>
            <a:r>
              <a:rPr sz="2250" spc="-75" dirty="0">
                <a:latin typeface="Arial MT"/>
                <a:cs typeface="Arial MT"/>
              </a:rPr>
              <a:t> </a:t>
            </a:r>
            <a:r>
              <a:rPr sz="2250" spc="-10" dirty="0">
                <a:latin typeface="Arial MT"/>
                <a:cs typeface="Arial MT"/>
              </a:rPr>
              <a:t>organizational </a:t>
            </a:r>
            <a:r>
              <a:rPr sz="2100" spc="-10" dirty="0">
                <a:latin typeface="Arial MT"/>
                <a:cs typeface="Arial MT"/>
              </a:rPr>
              <a:t>whole.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9461" y="4322762"/>
            <a:ext cx="1593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494949"/>
                </a:solidFill>
                <a:latin typeface="Courier New"/>
                <a:cs typeface="Courier New"/>
              </a:rPr>
              <a:t>2k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6609" y="246062"/>
            <a:ext cx="30873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75" dirty="0">
                <a:solidFill>
                  <a:srgbClr val="AF2A42"/>
                </a:solidFill>
              </a:rPr>
              <a:t>Interrelatedness</a:t>
            </a:r>
            <a:r>
              <a:rPr sz="2800" spc="-55" dirty="0">
                <a:solidFill>
                  <a:srgbClr val="AF2A42"/>
                </a:solidFill>
              </a:rPr>
              <a:t> </a:t>
            </a:r>
            <a:r>
              <a:rPr sz="2800" spc="-65" dirty="0">
                <a:solidFill>
                  <a:srgbClr val="B31331"/>
                </a:solidFill>
              </a:rPr>
              <a:t>and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07794" y="668337"/>
            <a:ext cx="5165725" cy="3245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42820" algn="l"/>
              </a:tabLst>
            </a:pPr>
            <a:r>
              <a:rPr sz="2700" spc="-10" dirty="0">
                <a:solidFill>
                  <a:srgbClr val="B82141"/>
                </a:solidFill>
                <a:latin typeface="Arial MT"/>
                <a:cs typeface="Arial MT"/>
              </a:rPr>
              <a:t>Independence</a:t>
            </a:r>
            <a:r>
              <a:rPr sz="2700" dirty="0">
                <a:solidFill>
                  <a:srgbClr val="B82141"/>
                </a:solidFill>
                <a:latin typeface="Arial MT"/>
                <a:cs typeface="Arial MT"/>
              </a:rPr>
              <a:t>	</a:t>
            </a:r>
            <a:r>
              <a:rPr sz="2700" dirty="0">
                <a:solidFill>
                  <a:srgbClr val="B31838"/>
                </a:solidFill>
                <a:latin typeface="Arial MT"/>
                <a:cs typeface="Arial MT"/>
              </a:rPr>
              <a:t>of</a:t>
            </a:r>
            <a:r>
              <a:rPr sz="2700" spc="-40" dirty="0">
                <a:solidFill>
                  <a:srgbClr val="B31838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C11A38"/>
                </a:solidFill>
                <a:latin typeface="Arial MT"/>
                <a:cs typeface="Arial MT"/>
              </a:rPr>
              <a:t>Systems</a:t>
            </a:r>
            <a:endParaRPr sz="2700">
              <a:latin typeface="Arial MT"/>
              <a:cs typeface="Arial MT"/>
            </a:endParaRPr>
          </a:p>
          <a:p>
            <a:pPr marL="368935" marR="188595" indent="-233045">
              <a:lnSpc>
                <a:spcPts val="1989"/>
              </a:lnSpc>
              <a:spcBef>
                <a:spcPts val="2215"/>
              </a:spcBef>
              <a:buChar char="•"/>
              <a:tabLst>
                <a:tab pos="368935" algn="l"/>
              </a:tabLst>
            </a:pPr>
            <a:r>
              <a:rPr sz="1900" dirty="0">
                <a:latin typeface="Arial MT"/>
                <a:cs typeface="Arial MT"/>
              </a:rPr>
              <a:t>All</a:t>
            </a:r>
            <a:r>
              <a:rPr sz="1900" spc="-13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systems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and</a:t>
            </a:r>
            <a:r>
              <a:rPr sz="1900" spc="-114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subsystems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are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interrelated </a:t>
            </a:r>
            <a:r>
              <a:rPr sz="1900" spc="-10" dirty="0">
                <a:latin typeface="Arial MT"/>
                <a:cs typeface="Arial MT"/>
              </a:rPr>
              <a:t>and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interdependent.</a:t>
            </a:r>
            <a:endParaRPr sz="1900">
              <a:latin typeface="Arial MT"/>
              <a:cs typeface="Arial MT"/>
            </a:endParaRPr>
          </a:p>
          <a:p>
            <a:pPr marL="368935" marR="951230" indent="-233045">
              <a:lnSpc>
                <a:spcPts val="1989"/>
              </a:lnSpc>
              <a:spcBef>
                <a:spcPts val="484"/>
              </a:spcBef>
              <a:buChar char="•"/>
              <a:tabLst>
                <a:tab pos="368935" algn="l"/>
              </a:tabLst>
            </a:pPr>
            <a:r>
              <a:rPr sz="1900" dirty="0">
                <a:latin typeface="Arial MT"/>
                <a:cs typeface="Arial MT"/>
              </a:rPr>
              <a:t>All</a:t>
            </a:r>
            <a:r>
              <a:rPr sz="1900" spc="-13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systems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process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inputs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from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their environments.</a:t>
            </a:r>
            <a:endParaRPr sz="1900">
              <a:latin typeface="Arial MT"/>
              <a:cs typeface="Arial MT"/>
            </a:endParaRPr>
          </a:p>
          <a:p>
            <a:pPr marL="368300" marR="509905" indent="-232410">
              <a:lnSpc>
                <a:spcPts val="2030"/>
              </a:lnSpc>
              <a:spcBef>
                <a:spcPts val="450"/>
              </a:spcBef>
              <a:buChar char="•"/>
              <a:tabLst>
                <a:tab pos="370205" algn="l"/>
              </a:tabLst>
            </a:pPr>
            <a:r>
              <a:rPr sz="1850" dirty="0">
                <a:latin typeface="Arial MT"/>
                <a:cs typeface="Arial MT"/>
              </a:rPr>
              <a:t>All</a:t>
            </a:r>
            <a:r>
              <a:rPr sz="1850" spc="-6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systems</a:t>
            </a:r>
            <a:r>
              <a:rPr sz="1850" spc="8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are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contained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by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boundaries 	</a:t>
            </a:r>
            <a:r>
              <a:rPr sz="1850" dirty="0">
                <a:latin typeface="Arial MT"/>
                <a:cs typeface="Arial MT"/>
              </a:rPr>
              <a:t>separating</a:t>
            </a:r>
            <a:r>
              <a:rPr sz="1850" spc="7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them</a:t>
            </a:r>
            <a:r>
              <a:rPr sz="1850" spc="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from</a:t>
            </a:r>
            <a:r>
              <a:rPr sz="1850" spc="-8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their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environments.</a:t>
            </a:r>
            <a:endParaRPr sz="1850">
              <a:latin typeface="Arial MT"/>
              <a:cs typeface="Arial MT"/>
            </a:endParaRPr>
          </a:p>
          <a:p>
            <a:pPr marL="367030" indent="-230504">
              <a:lnSpc>
                <a:spcPct val="100000"/>
              </a:lnSpc>
              <a:spcBef>
                <a:spcPts val="215"/>
              </a:spcBef>
              <a:buChar char="•"/>
              <a:tabLst>
                <a:tab pos="367030" algn="l"/>
              </a:tabLst>
            </a:pPr>
            <a:r>
              <a:rPr sz="1850" dirty="0">
                <a:latin typeface="Arial MT"/>
                <a:cs typeface="Arial MT"/>
              </a:rPr>
              <a:t>System</a:t>
            </a:r>
            <a:r>
              <a:rPr sz="1850" spc="-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feedback</a:t>
            </a:r>
            <a:r>
              <a:rPr sz="1850" spc="8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for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planning</a:t>
            </a:r>
            <a:r>
              <a:rPr sz="1850" spc="5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and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control</a:t>
            </a:r>
            <a:endParaRPr sz="1850">
              <a:latin typeface="Arial MT"/>
              <a:cs typeface="Arial MT"/>
            </a:endParaRPr>
          </a:p>
          <a:p>
            <a:pPr marL="361950" marR="5080" indent="-225425">
              <a:lnSpc>
                <a:spcPts val="2030"/>
              </a:lnSpc>
              <a:spcBef>
                <a:spcPts val="480"/>
              </a:spcBef>
              <a:buChar char="•"/>
              <a:tabLst>
                <a:tab pos="361950" algn="l"/>
                <a:tab pos="368300" algn="l"/>
              </a:tabLst>
            </a:pPr>
            <a:r>
              <a:rPr sz="1900" dirty="0">
                <a:latin typeface="Arial MT"/>
                <a:cs typeface="Arial MT"/>
              </a:rPr>
              <a:t>	</a:t>
            </a:r>
            <a:r>
              <a:rPr sz="1900" spc="-35" dirty="0">
                <a:latin typeface="Arial MT"/>
                <a:cs typeface="Arial MT"/>
              </a:rPr>
              <a:t>An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ideal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system</a:t>
            </a:r>
            <a:r>
              <a:rPr sz="1900" dirty="0">
                <a:latin typeface="Arial MT"/>
                <a:cs typeface="Arial MT"/>
              </a:rPr>
              <a:t> </a:t>
            </a:r>
            <a:r>
              <a:rPr sz="1900" spc="-45" dirty="0">
                <a:latin typeface="Arial MT"/>
                <a:cs typeface="Arial MT"/>
              </a:rPr>
              <a:t>self-</a:t>
            </a:r>
            <a:r>
              <a:rPr sz="1900" spc="-20" dirty="0">
                <a:latin typeface="Arial MT"/>
                <a:cs typeface="Arial MT"/>
              </a:rPr>
              <a:t>corrects</a:t>
            </a:r>
            <a:r>
              <a:rPr sz="1900" spc="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or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30" dirty="0">
                <a:latin typeface="Arial MT"/>
                <a:cs typeface="Arial MT"/>
              </a:rPr>
              <a:t>self-</a:t>
            </a:r>
            <a:r>
              <a:rPr sz="1900" spc="-10" dirty="0">
                <a:latin typeface="Arial MT"/>
                <a:cs typeface="Arial MT"/>
              </a:rPr>
              <a:t>regulates itself.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9461" y="4322762"/>
            <a:ext cx="1498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0" dirty="0">
                <a:solidFill>
                  <a:srgbClr val="2A2A2A"/>
                </a:solidFill>
                <a:latin typeface="Courier New"/>
                <a:cs typeface="Courier New"/>
              </a:rPr>
              <a:t>2-</a:t>
            </a:r>
            <a:r>
              <a:rPr sz="850" spc="-125" dirty="0">
                <a:solidFill>
                  <a:srgbClr val="2A2A2A"/>
                </a:solidFill>
                <a:latin typeface="Courier New"/>
                <a:cs typeface="Courier New"/>
              </a:rPr>
              <a:t>/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15000" cy="4552950"/>
            <a:chOff x="0" y="0"/>
            <a:chExt cx="5715000" cy="4552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715000" cy="45529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2550" y="2724150"/>
              <a:ext cx="371475" cy="12382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4604">
              <a:lnSpc>
                <a:spcPts val="2305"/>
              </a:lnSpc>
              <a:spcBef>
                <a:spcPts val="100"/>
              </a:spcBef>
            </a:pPr>
            <a:r>
              <a:rPr sz="1950" spc="-35" dirty="0">
                <a:solidFill>
                  <a:srgbClr val="A71831"/>
                </a:solidFill>
              </a:rPr>
              <a:t>System</a:t>
            </a:r>
            <a:r>
              <a:rPr sz="1950" spc="-100" dirty="0">
                <a:solidFill>
                  <a:srgbClr val="A71831"/>
                </a:solidFill>
              </a:rPr>
              <a:t> </a:t>
            </a:r>
            <a:r>
              <a:rPr sz="1950" spc="-35" dirty="0">
                <a:solidFill>
                  <a:srgbClr val="A31C3B"/>
                </a:solidFill>
              </a:rPr>
              <a:t>Outputs</a:t>
            </a:r>
            <a:r>
              <a:rPr sz="1950" spc="-95" dirty="0">
                <a:solidFill>
                  <a:srgbClr val="A31C3B"/>
                </a:solidFill>
              </a:rPr>
              <a:t> </a:t>
            </a:r>
            <a:r>
              <a:rPr sz="1950" spc="-65" dirty="0">
                <a:solidFill>
                  <a:srgbClr val="A71A3B"/>
                </a:solidFill>
              </a:rPr>
              <a:t>Serve</a:t>
            </a:r>
            <a:r>
              <a:rPr sz="1950" spc="-70" dirty="0">
                <a:solidFill>
                  <a:srgbClr val="A71A3B"/>
                </a:solidFill>
              </a:rPr>
              <a:t> </a:t>
            </a:r>
            <a:r>
              <a:rPr sz="1950" spc="-30" dirty="0">
                <a:solidFill>
                  <a:srgbClr val="BC2F44"/>
                </a:solidFill>
              </a:rPr>
              <a:t>as</a:t>
            </a:r>
            <a:r>
              <a:rPr sz="1950" spc="-105" dirty="0">
                <a:solidFill>
                  <a:srgbClr val="BC2F44"/>
                </a:solidFill>
              </a:rPr>
              <a:t> </a:t>
            </a:r>
            <a:r>
              <a:rPr sz="1950" spc="-50" dirty="0">
                <a:solidFill>
                  <a:srgbClr val="931831"/>
                </a:solidFill>
              </a:rPr>
              <a:t>Feedback</a:t>
            </a:r>
            <a:r>
              <a:rPr sz="1950" spc="20" dirty="0">
                <a:solidFill>
                  <a:srgbClr val="931831"/>
                </a:solidFill>
              </a:rPr>
              <a:t> </a:t>
            </a:r>
            <a:r>
              <a:rPr sz="1950" spc="-20" dirty="0">
                <a:solidFill>
                  <a:srgbClr val="9C2134"/>
                </a:solidFill>
              </a:rPr>
              <a:t>that</a:t>
            </a:r>
            <a:endParaRPr sz="1950"/>
          </a:p>
          <a:p>
            <a:pPr marL="23495">
              <a:lnSpc>
                <a:spcPts val="2190"/>
              </a:lnSpc>
            </a:pPr>
            <a:r>
              <a:rPr sz="1850" dirty="0">
                <a:solidFill>
                  <a:srgbClr val="9E1334"/>
                </a:solidFill>
              </a:rPr>
              <a:t>Compares</a:t>
            </a:r>
            <a:r>
              <a:rPr sz="1850" spc="30" dirty="0">
                <a:solidFill>
                  <a:srgbClr val="9E1334"/>
                </a:solidFill>
              </a:rPr>
              <a:t> </a:t>
            </a:r>
            <a:r>
              <a:rPr sz="1850" dirty="0">
                <a:solidFill>
                  <a:srgbClr val="91263F"/>
                </a:solidFill>
              </a:rPr>
              <a:t>Performance</a:t>
            </a:r>
            <a:r>
              <a:rPr sz="1850" spc="125" dirty="0">
                <a:solidFill>
                  <a:srgbClr val="91263F"/>
                </a:solidFill>
              </a:rPr>
              <a:t> </a:t>
            </a:r>
            <a:r>
              <a:rPr sz="1850" dirty="0">
                <a:solidFill>
                  <a:srgbClr val="F05777"/>
                </a:solidFill>
              </a:rPr>
              <a:t>with</a:t>
            </a:r>
            <a:r>
              <a:rPr sz="1850" spc="-15" dirty="0">
                <a:solidFill>
                  <a:srgbClr val="F05777"/>
                </a:solidFill>
              </a:rPr>
              <a:t> </a:t>
            </a:r>
            <a:r>
              <a:rPr sz="1850" dirty="0">
                <a:solidFill>
                  <a:srgbClr val="911A2F"/>
                </a:solidFill>
              </a:rPr>
              <a:t>Coals</a:t>
            </a:r>
            <a:r>
              <a:rPr sz="1850" spc="35" dirty="0">
                <a:solidFill>
                  <a:srgbClr val="911A2F"/>
                </a:solidFill>
              </a:rPr>
              <a:t> </a:t>
            </a:r>
            <a:r>
              <a:rPr sz="1850" dirty="0">
                <a:solidFill>
                  <a:srgbClr val="DAA1B1"/>
                </a:solidFill>
              </a:rPr>
              <a:t>(Figure</a:t>
            </a:r>
            <a:r>
              <a:rPr sz="1850" spc="-40" dirty="0">
                <a:solidFill>
                  <a:srgbClr val="DAA1B1"/>
                </a:solidFill>
              </a:rPr>
              <a:t> </a:t>
            </a:r>
            <a:r>
              <a:rPr sz="1850" spc="-20" dirty="0">
                <a:solidFill>
                  <a:srgbClr val="AA052A"/>
                </a:solidFill>
              </a:rPr>
              <a:t>2.1)</a:t>
            </a:r>
            <a:endParaRPr sz="18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C11F3F"/>
                </a:solidFill>
              </a:rPr>
              <a:t>Organizational</a:t>
            </a:r>
            <a:r>
              <a:rPr sz="2900" spc="-45" dirty="0">
                <a:solidFill>
                  <a:srgbClr val="C11F3F"/>
                </a:solidFill>
              </a:rPr>
              <a:t> </a:t>
            </a:r>
            <a:r>
              <a:rPr sz="2900" spc="-10" dirty="0">
                <a:solidFill>
                  <a:srgbClr val="CD183B"/>
                </a:solidFill>
              </a:rPr>
              <a:t>Environments</a:t>
            </a:r>
            <a:endParaRPr sz="2900"/>
          </a:p>
        </p:txBody>
      </p:sp>
      <p:sp>
        <p:nvSpPr>
          <p:cNvPr id="6" name="object 6"/>
          <p:cNvSpPr txBox="1"/>
          <p:nvPr/>
        </p:nvSpPr>
        <p:spPr>
          <a:xfrm>
            <a:off x="831032" y="1300162"/>
            <a:ext cx="4967605" cy="2635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indent="-229235">
              <a:lnSpc>
                <a:spcPts val="2185"/>
              </a:lnSpc>
              <a:spcBef>
                <a:spcPts val="100"/>
              </a:spcBef>
              <a:buChar char="•"/>
              <a:tabLst>
                <a:tab pos="242570" algn="l"/>
              </a:tabLst>
            </a:pPr>
            <a:r>
              <a:rPr sz="1850" spc="-10" dirty="0">
                <a:latin typeface="Arial MT"/>
                <a:cs typeface="Arial MT"/>
              </a:rPr>
              <a:t>Community</a:t>
            </a:r>
            <a:endParaRPr sz="1850">
              <a:latin typeface="Arial MT"/>
              <a:cs typeface="Arial MT"/>
            </a:endParaRPr>
          </a:p>
          <a:p>
            <a:pPr marL="504825" lvl="1" indent="-185420">
              <a:lnSpc>
                <a:spcPts val="1905"/>
              </a:lnSpc>
              <a:buClr>
                <a:srgbClr val="D12850"/>
              </a:buClr>
              <a:buChar char="•"/>
              <a:tabLst>
                <a:tab pos="504825" algn="l"/>
              </a:tabLst>
            </a:pPr>
            <a:r>
              <a:rPr sz="1650" spc="-25" dirty="0">
                <a:latin typeface="Arial MT"/>
                <a:cs typeface="Arial MT"/>
              </a:rPr>
              <a:t>Physical</a:t>
            </a:r>
            <a:r>
              <a:rPr sz="1650" spc="-4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location</a:t>
            </a:r>
            <a:endParaRPr sz="1650">
              <a:latin typeface="Arial MT"/>
              <a:cs typeface="Arial MT"/>
            </a:endParaRPr>
          </a:p>
          <a:p>
            <a:pPr marL="504825" lvl="1" indent="-185420">
              <a:lnSpc>
                <a:spcPts val="1964"/>
              </a:lnSpc>
              <a:buClr>
                <a:srgbClr val="BD1F3D"/>
              </a:buClr>
              <a:buChar char="•"/>
              <a:tabLst>
                <a:tab pos="504825" algn="l"/>
              </a:tabLst>
            </a:pPr>
            <a:r>
              <a:rPr sz="1700" spc="-105" dirty="0">
                <a:latin typeface="Arial MT"/>
                <a:cs typeface="Arial MT"/>
              </a:rPr>
              <a:t>DemOgraphic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45" dirty="0">
                <a:latin typeface="Arial MT"/>
                <a:cs typeface="Arial MT"/>
              </a:rPr>
              <a:t>profile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60" dirty="0">
                <a:latin typeface="Arial MT"/>
                <a:cs typeface="Arial MT"/>
              </a:rPr>
              <a:t>(education,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income)</a:t>
            </a:r>
            <a:endParaRPr sz="1700">
              <a:latin typeface="Arial MT"/>
              <a:cs typeface="Arial MT"/>
            </a:endParaRPr>
          </a:p>
          <a:p>
            <a:pPr marL="245110" indent="-231775">
              <a:lnSpc>
                <a:spcPts val="2245"/>
              </a:lnSpc>
              <a:buChar char="•"/>
              <a:tabLst>
                <a:tab pos="245110" algn="l"/>
              </a:tabLst>
            </a:pPr>
            <a:r>
              <a:rPr sz="1900" spc="-10" dirty="0">
                <a:latin typeface="Arial MT"/>
                <a:cs typeface="Arial MT"/>
              </a:rPr>
              <a:t>Economic</a:t>
            </a:r>
            <a:endParaRPr sz="1900">
              <a:latin typeface="Arial MT"/>
              <a:cs typeface="Arial MT"/>
            </a:endParaRPr>
          </a:p>
          <a:p>
            <a:pPr marL="505459" lvl="1" indent="-186055">
              <a:lnSpc>
                <a:spcPts val="1950"/>
              </a:lnSpc>
              <a:buClr>
                <a:srgbClr val="DA2A48"/>
              </a:buClr>
              <a:buChar char="•"/>
              <a:tabLst>
                <a:tab pos="505459" algn="l"/>
              </a:tabLst>
            </a:pPr>
            <a:r>
              <a:rPr sz="1650" spc="-25" dirty="0">
                <a:latin typeface="Arial MT"/>
                <a:cs typeface="Arial MT"/>
              </a:rPr>
              <a:t>Market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factors</a:t>
            </a:r>
            <a:endParaRPr sz="1650">
              <a:latin typeface="Arial MT"/>
              <a:cs typeface="Arial MT"/>
            </a:endParaRPr>
          </a:p>
          <a:p>
            <a:pPr marL="512445" lvl="1" indent="-192405">
              <a:lnSpc>
                <a:spcPts val="1839"/>
              </a:lnSpc>
              <a:buClr>
                <a:srgbClr val="B80F33"/>
              </a:buClr>
              <a:buChar char="•"/>
              <a:tabLst>
                <a:tab pos="512445" algn="l"/>
              </a:tabLst>
            </a:pPr>
            <a:r>
              <a:rPr sz="1600" spc="-10" dirty="0">
                <a:latin typeface="Arial MT"/>
                <a:cs typeface="Arial MT"/>
              </a:rPr>
              <a:t>Competition</a:t>
            </a:r>
            <a:endParaRPr sz="1600">
              <a:latin typeface="Arial MT"/>
              <a:cs typeface="Arial MT"/>
            </a:endParaRPr>
          </a:p>
          <a:p>
            <a:pPr marL="244475" indent="-231775">
              <a:lnSpc>
                <a:spcPts val="2290"/>
              </a:lnSpc>
              <a:buChar char="•"/>
              <a:tabLst>
                <a:tab pos="244475" algn="l"/>
              </a:tabLst>
            </a:pPr>
            <a:r>
              <a:rPr sz="2000" spc="-10" dirty="0">
                <a:latin typeface="Arial MT"/>
                <a:cs typeface="Arial MT"/>
              </a:rPr>
              <a:t>Political</a:t>
            </a:r>
            <a:endParaRPr sz="2000">
              <a:latin typeface="Arial MT"/>
              <a:cs typeface="Arial MT"/>
            </a:endParaRPr>
          </a:p>
          <a:p>
            <a:pPr marL="568325" lvl="1" indent="-248920">
              <a:lnSpc>
                <a:spcPts val="1975"/>
              </a:lnSpc>
              <a:buClr>
                <a:srgbClr val="BF1633"/>
              </a:buClr>
              <a:buChar char="•"/>
              <a:tabLst>
                <a:tab pos="568325" algn="l"/>
              </a:tabLst>
            </a:pPr>
            <a:r>
              <a:rPr sz="1700" spc="-70" dirty="0">
                <a:latin typeface="Arial MT"/>
                <a:cs typeface="Arial MT"/>
              </a:rPr>
              <a:t>State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75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local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government</a:t>
            </a:r>
            <a:endParaRPr sz="1700">
              <a:latin typeface="Arial MT"/>
              <a:cs typeface="Arial MT"/>
            </a:endParaRPr>
          </a:p>
          <a:p>
            <a:pPr marL="237490" indent="-224154">
              <a:lnSpc>
                <a:spcPts val="2215"/>
              </a:lnSpc>
              <a:buChar char="•"/>
              <a:tabLst>
                <a:tab pos="237490" algn="l"/>
              </a:tabLst>
            </a:pPr>
            <a:r>
              <a:rPr sz="1850" spc="-10" dirty="0">
                <a:latin typeface="Arial MT"/>
                <a:cs typeface="Arial MT"/>
              </a:rPr>
              <a:t>Legal</a:t>
            </a:r>
            <a:endParaRPr sz="1850">
              <a:latin typeface="Arial MT"/>
              <a:cs typeface="Arial MT"/>
            </a:endParaRPr>
          </a:p>
          <a:p>
            <a:pPr marL="504190" lvl="1" indent="-184785">
              <a:lnSpc>
                <a:spcPct val="100000"/>
              </a:lnSpc>
              <a:spcBef>
                <a:spcPts val="5"/>
              </a:spcBef>
              <a:buClr>
                <a:srgbClr val="E62F5B"/>
              </a:buClr>
              <a:buChar char="•"/>
              <a:tabLst>
                <a:tab pos="504190" algn="l"/>
              </a:tabLst>
            </a:pPr>
            <a:r>
              <a:rPr sz="1650" spc="-20" dirty="0">
                <a:latin typeface="Arial MT"/>
                <a:cs typeface="Arial MT"/>
              </a:rPr>
              <a:t>Federal,</a:t>
            </a:r>
            <a:r>
              <a:rPr sz="1650" spc="-90" dirty="0">
                <a:latin typeface="Arial MT"/>
                <a:cs typeface="Arial MT"/>
              </a:rPr>
              <a:t> </a:t>
            </a:r>
            <a:r>
              <a:rPr sz="1650" spc="-20" dirty="0">
                <a:latin typeface="Arial MT"/>
                <a:cs typeface="Arial MT"/>
              </a:rPr>
              <a:t>state,</a:t>
            </a:r>
            <a:r>
              <a:rPr sz="1650" spc="-70" dirty="0">
                <a:latin typeface="Arial MT"/>
                <a:cs typeface="Arial MT"/>
              </a:rPr>
              <a:t> </a:t>
            </a:r>
            <a:r>
              <a:rPr sz="1650" spc="-30" dirty="0">
                <a:latin typeface="Arial MT"/>
                <a:cs typeface="Arial MT"/>
              </a:rPr>
              <a:t>regional,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local</a:t>
            </a:r>
            <a:r>
              <a:rPr sz="1650" spc="-9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laws,</a:t>
            </a:r>
            <a:r>
              <a:rPr sz="1650" spc="-75" dirty="0">
                <a:latin typeface="Arial MT"/>
                <a:cs typeface="Arial MT"/>
              </a:rPr>
              <a:t> </a:t>
            </a:r>
            <a:r>
              <a:rPr sz="1650" spc="-20" dirty="0">
                <a:latin typeface="Arial MT"/>
                <a:cs typeface="Arial MT"/>
              </a:rPr>
              <a:t>and</a:t>
            </a:r>
            <a:r>
              <a:rPr sz="1650" spc="-75" dirty="0">
                <a:latin typeface="Arial MT"/>
                <a:cs typeface="Arial MT"/>
              </a:rPr>
              <a:t> </a:t>
            </a:r>
            <a:r>
              <a:rPr sz="1650" spc="-20" dirty="0">
                <a:latin typeface="Arial MT"/>
                <a:cs typeface="Arial MT"/>
              </a:rPr>
              <a:t>guidelines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7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5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Pearson</a:t>
            </a:r>
            <a:r>
              <a:rPr sz="700" spc="3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363636"/>
                </a:solidFill>
                <a:latin typeface="Arial MT"/>
                <a:cs typeface="Arial MT"/>
              </a:rPr>
              <a:t>Eouc‹mion,</a:t>
            </a:r>
            <a:r>
              <a:rPr sz="700" spc="6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3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-1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Nali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9461" y="4322762"/>
            <a:ext cx="1600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75" dirty="0">
                <a:solidFill>
                  <a:srgbClr val="2D2D2D"/>
                </a:solidFill>
                <a:latin typeface="Courier New"/>
                <a:cs typeface="Courier New"/>
              </a:rPr>
              <a:t>2-</a:t>
            </a:r>
            <a:r>
              <a:rPr sz="850" spc="-95" dirty="0">
                <a:solidFill>
                  <a:srgbClr val="2D2D2D"/>
                </a:solidFill>
                <a:latin typeface="Courier New"/>
                <a:cs typeface="Courier New"/>
              </a:rPr>
              <a:t>#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172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31F3B"/>
                </a:solidFill>
              </a:rPr>
              <a:t>Openness</a:t>
            </a:r>
            <a:r>
              <a:rPr spc="5" dirty="0">
                <a:solidFill>
                  <a:srgbClr val="C31F3B"/>
                </a:solidFill>
              </a:rPr>
              <a:t> </a:t>
            </a:r>
            <a:r>
              <a:rPr dirty="0">
                <a:solidFill>
                  <a:srgbClr val="C12341"/>
                </a:solidFill>
              </a:rPr>
              <a:t>and</a:t>
            </a:r>
            <a:r>
              <a:rPr spc="-155" dirty="0">
                <a:solidFill>
                  <a:srgbClr val="C12341"/>
                </a:solidFill>
              </a:rPr>
              <a:t> </a:t>
            </a:r>
            <a:r>
              <a:rPr spc="-45" dirty="0">
                <a:solidFill>
                  <a:srgbClr val="CA1F38"/>
                </a:solidFill>
              </a:rPr>
              <a:t>Closedness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9342" y="1306512"/>
            <a:ext cx="4963795" cy="2548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100"/>
              </a:spcBef>
              <a:buChar char="•"/>
              <a:tabLst>
                <a:tab pos="242570" algn="l"/>
              </a:tabLst>
            </a:pPr>
            <a:r>
              <a:rPr sz="2250" spc="-20" dirty="0">
                <a:latin typeface="Arial MT"/>
                <a:cs typeface="Arial MT"/>
              </a:rPr>
              <a:t>Open</a:t>
            </a:r>
            <a:endParaRPr sz="2250">
              <a:latin typeface="Arial MT"/>
              <a:cs typeface="Arial MT"/>
            </a:endParaRPr>
          </a:p>
          <a:p>
            <a:pPr marL="509270" lvl="1" indent="-190500">
              <a:lnSpc>
                <a:spcPct val="100000"/>
              </a:lnSpc>
              <a:spcBef>
                <a:spcPts val="60"/>
              </a:spcBef>
              <a:buClr>
                <a:srgbClr val="E82446"/>
              </a:buClr>
              <a:buChar char="•"/>
              <a:tabLst>
                <a:tab pos="509270" algn="l"/>
              </a:tabLst>
            </a:pPr>
            <a:r>
              <a:rPr sz="2000" spc="-85" dirty="0">
                <a:latin typeface="Arial MT"/>
                <a:cs typeface="Arial MT"/>
              </a:rPr>
              <a:t>Free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flow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information</a:t>
            </a:r>
            <a:endParaRPr sz="2000">
              <a:latin typeface="Arial MT"/>
              <a:cs typeface="Arial MT"/>
            </a:endParaRPr>
          </a:p>
          <a:p>
            <a:pPr marL="509270" lvl="1" indent="-189865">
              <a:lnSpc>
                <a:spcPts val="2195"/>
              </a:lnSpc>
              <a:spcBef>
                <a:spcPts val="165"/>
              </a:spcBef>
              <a:buClr>
                <a:srgbClr val="FD3459"/>
              </a:buClr>
              <a:buChar char="•"/>
              <a:tabLst>
                <a:tab pos="509270" algn="l"/>
              </a:tabLst>
            </a:pPr>
            <a:r>
              <a:rPr sz="1950" spc="-45" dirty="0">
                <a:latin typeface="Arial MT"/>
                <a:cs typeface="Arial MT"/>
              </a:rPr>
              <a:t>Output</a:t>
            </a:r>
            <a:r>
              <a:rPr sz="1950" spc="-85" dirty="0">
                <a:latin typeface="Arial MT"/>
                <a:cs typeface="Arial MT"/>
              </a:rPr>
              <a:t> </a:t>
            </a:r>
            <a:r>
              <a:rPr sz="1950" spc="-35" dirty="0">
                <a:latin typeface="Arial MT"/>
                <a:cs typeface="Arial MT"/>
              </a:rPr>
              <a:t>from</a:t>
            </a:r>
            <a:r>
              <a:rPr sz="1950" spc="-95" dirty="0">
                <a:latin typeface="Arial MT"/>
                <a:cs typeface="Arial MT"/>
              </a:rPr>
              <a:t> </a:t>
            </a:r>
            <a:r>
              <a:rPr sz="1950" spc="-20" dirty="0">
                <a:latin typeface="Arial MT"/>
                <a:cs typeface="Arial MT"/>
              </a:rPr>
              <a:t>one</a:t>
            </a:r>
            <a:r>
              <a:rPr sz="1950" spc="-100" dirty="0">
                <a:latin typeface="Arial MT"/>
                <a:cs typeface="Arial MT"/>
              </a:rPr>
              <a:t> </a:t>
            </a:r>
            <a:r>
              <a:rPr sz="1950" spc="-45" dirty="0">
                <a:latin typeface="Arial MT"/>
                <a:cs typeface="Arial MT"/>
              </a:rPr>
              <a:t>system</a:t>
            </a:r>
            <a:r>
              <a:rPr sz="1950" spc="-65" dirty="0">
                <a:latin typeface="Arial MT"/>
                <a:cs typeface="Arial MT"/>
              </a:rPr>
              <a:t> becomes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spc="-30" dirty="0">
                <a:latin typeface="Arial MT"/>
                <a:cs typeface="Arial MT"/>
              </a:rPr>
              <a:t>input</a:t>
            </a:r>
            <a:r>
              <a:rPr sz="1950" spc="-75" dirty="0">
                <a:latin typeface="Arial MT"/>
                <a:cs typeface="Arial MT"/>
              </a:rPr>
              <a:t> </a:t>
            </a:r>
            <a:r>
              <a:rPr sz="1950" spc="-25" dirty="0">
                <a:latin typeface="Arial MT"/>
                <a:cs typeface="Arial MT"/>
              </a:rPr>
              <a:t>to</a:t>
            </a:r>
            <a:endParaRPr sz="1950">
              <a:latin typeface="Arial MT"/>
              <a:cs typeface="Arial MT"/>
            </a:endParaRPr>
          </a:p>
          <a:p>
            <a:pPr marL="514350">
              <a:lnSpc>
                <a:spcPts val="2075"/>
              </a:lnSpc>
            </a:pPr>
            <a:r>
              <a:rPr sz="1850" spc="-10" dirty="0">
                <a:latin typeface="Arial MT"/>
                <a:cs typeface="Arial MT"/>
              </a:rPr>
              <a:t>another</a:t>
            </a:r>
            <a:endParaRPr sz="1850">
              <a:latin typeface="Arial MT"/>
              <a:cs typeface="Arial MT"/>
            </a:endParaRPr>
          </a:p>
          <a:p>
            <a:pPr marL="242570" indent="-229235">
              <a:lnSpc>
                <a:spcPct val="100000"/>
              </a:lnSpc>
              <a:spcBef>
                <a:spcPts val="305"/>
              </a:spcBef>
              <a:buChar char="•"/>
              <a:tabLst>
                <a:tab pos="242570" algn="l"/>
              </a:tabLst>
            </a:pPr>
            <a:r>
              <a:rPr sz="2100" spc="-10" dirty="0">
                <a:latin typeface="Arial MT"/>
                <a:cs typeface="Arial MT"/>
              </a:rPr>
              <a:t>Closed</a:t>
            </a:r>
            <a:endParaRPr sz="2100">
              <a:latin typeface="Arial MT"/>
              <a:cs typeface="Arial MT"/>
            </a:endParaRPr>
          </a:p>
          <a:p>
            <a:pPr marL="513080" lvl="1" indent="-193040">
              <a:lnSpc>
                <a:spcPct val="100000"/>
              </a:lnSpc>
              <a:spcBef>
                <a:spcPts val="280"/>
              </a:spcBef>
              <a:buClr>
                <a:srgbClr val="EF244B"/>
              </a:buClr>
              <a:buChar char="•"/>
              <a:tabLst>
                <a:tab pos="513080" algn="l"/>
              </a:tabLst>
            </a:pPr>
            <a:r>
              <a:rPr sz="1850" dirty="0">
                <a:latin typeface="Arial MT"/>
                <a:cs typeface="Arial MT"/>
              </a:rPr>
              <a:t>Restricted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access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information</a:t>
            </a:r>
            <a:endParaRPr sz="1850">
              <a:latin typeface="Arial MT"/>
              <a:cs typeface="Arial MT"/>
            </a:endParaRPr>
          </a:p>
          <a:p>
            <a:pPr marL="504825" lvl="1" indent="-184785">
              <a:lnSpc>
                <a:spcPct val="100000"/>
              </a:lnSpc>
              <a:spcBef>
                <a:spcPts val="254"/>
              </a:spcBef>
              <a:buClr>
                <a:srgbClr val="F62F4D"/>
              </a:buClr>
              <a:buChar char="•"/>
              <a:tabLst>
                <a:tab pos="504825" algn="l"/>
              </a:tabLst>
            </a:pPr>
            <a:r>
              <a:rPr sz="1850" dirty="0">
                <a:latin typeface="Arial MT"/>
                <a:cs typeface="Arial MT"/>
              </a:rPr>
              <a:t>Limited</a:t>
            </a:r>
            <a:r>
              <a:rPr sz="1850" spc="4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by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numerous</a:t>
            </a:r>
            <a:r>
              <a:rPr sz="1850" spc="4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rules</a:t>
            </a:r>
            <a:endParaRPr sz="1850">
              <a:latin typeface="Arial MT"/>
              <a:cs typeface="Arial MT"/>
            </a:endParaRPr>
          </a:p>
          <a:p>
            <a:pPr marL="509905" lvl="1" indent="-189865">
              <a:lnSpc>
                <a:spcPct val="100000"/>
              </a:lnSpc>
              <a:spcBef>
                <a:spcPts val="254"/>
              </a:spcBef>
              <a:buClr>
                <a:srgbClr val="EF2148"/>
              </a:buClr>
              <a:buChar char="•"/>
              <a:tabLst>
                <a:tab pos="509905" algn="l"/>
              </a:tabLst>
            </a:pPr>
            <a:r>
              <a:rPr sz="1850" dirty="0">
                <a:latin typeface="Arial MT"/>
                <a:cs typeface="Arial MT"/>
              </a:rPr>
              <a:t>Information</a:t>
            </a:r>
            <a:r>
              <a:rPr sz="1850" spc="4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only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on</a:t>
            </a:r>
            <a:r>
              <a:rPr sz="1850" spc="-4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”need</a:t>
            </a:r>
            <a:r>
              <a:rPr sz="1850" spc="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know”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basis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7741" y="4341812"/>
            <a:ext cx="1936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45" dirty="0">
                <a:solidFill>
                  <a:srgbClr val="262626"/>
                </a:solidFill>
                <a:latin typeface="Arial MT"/>
                <a:cs typeface="Arial MT"/>
              </a:rPr>
              <a:t>2-</a:t>
            </a:r>
            <a:r>
              <a:rPr sz="700" spc="-8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797979"/>
                </a:solidFill>
                <a:latin typeface="Arial MT"/>
                <a:cs typeface="Arial MT"/>
              </a:rPr>
              <a:t>r0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3014" y="265112"/>
            <a:ext cx="4853305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ts val="3150"/>
              </a:lnSpc>
              <a:spcBef>
                <a:spcPts val="100"/>
              </a:spcBef>
              <a:tabLst>
                <a:tab pos="3237230" algn="l"/>
              </a:tabLst>
            </a:pPr>
            <a:r>
              <a:rPr sz="2650" dirty="0">
                <a:solidFill>
                  <a:srgbClr val="AF1A34"/>
                </a:solidFill>
              </a:rPr>
              <a:t>Virtual</a:t>
            </a:r>
            <a:r>
              <a:rPr sz="2650" spc="-150" dirty="0">
                <a:solidFill>
                  <a:srgbClr val="AF1A34"/>
                </a:solidFill>
              </a:rPr>
              <a:t> </a:t>
            </a:r>
            <a:r>
              <a:rPr sz="2650" spc="-10" dirty="0">
                <a:solidFill>
                  <a:srgbClr val="C12646"/>
                </a:solidFill>
              </a:rPr>
              <a:t>Organizations</a:t>
            </a:r>
            <a:r>
              <a:rPr sz="2650" dirty="0">
                <a:solidFill>
                  <a:srgbClr val="C12646"/>
                </a:solidFill>
              </a:rPr>
              <a:t>	</a:t>
            </a:r>
            <a:r>
              <a:rPr sz="2650" dirty="0">
                <a:solidFill>
                  <a:srgbClr val="CD263F"/>
                </a:solidFill>
              </a:rPr>
              <a:t>and</a:t>
            </a:r>
            <a:r>
              <a:rPr sz="2650" spc="-30" dirty="0">
                <a:solidFill>
                  <a:srgbClr val="CD263F"/>
                </a:solidFill>
              </a:rPr>
              <a:t> </a:t>
            </a:r>
            <a:r>
              <a:rPr sz="2650" spc="-10" dirty="0">
                <a:solidFill>
                  <a:srgbClr val="B61A34"/>
                </a:solidFill>
              </a:rPr>
              <a:t>Virtual</a:t>
            </a:r>
            <a:endParaRPr sz="2650"/>
          </a:p>
          <a:p>
            <a:pPr marL="12700">
              <a:lnSpc>
                <a:spcPts val="3275"/>
              </a:lnSpc>
            </a:pPr>
            <a:r>
              <a:rPr sz="2750" spc="-10" dirty="0">
                <a:solidFill>
                  <a:srgbClr val="D11A36"/>
                </a:solidFill>
              </a:rPr>
              <a:t>Teams</a:t>
            </a:r>
            <a:endParaRPr sz="2750"/>
          </a:p>
        </p:txBody>
      </p:sp>
      <p:sp>
        <p:nvSpPr>
          <p:cNvPr id="6" name="object 6"/>
          <p:cNvSpPr txBox="1"/>
          <p:nvPr/>
        </p:nvSpPr>
        <p:spPr>
          <a:xfrm>
            <a:off x="830018" y="1352550"/>
            <a:ext cx="5019040" cy="2367915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238760" marR="311150" indent="-226695">
              <a:lnSpc>
                <a:spcPts val="2550"/>
              </a:lnSpc>
              <a:spcBef>
                <a:spcPts val="209"/>
              </a:spcBef>
              <a:buChar char="•"/>
              <a:tabLst>
                <a:tab pos="238760" algn="l"/>
                <a:tab pos="246379" algn="l"/>
              </a:tabLst>
            </a:pPr>
            <a:r>
              <a:rPr sz="2150" dirty="0">
                <a:latin typeface="Arial MT"/>
                <a:cs typeface="Arial MT"/>
              </a:rPr>
              <a:t>	A</a:t>
            </a:r>
            <a:r>
              <a:rPr sz="2150" spc="-6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virtual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spc="-30" dirty="0">
                <a:latin typeface="Arial MT"/>
                <a:cs typeface="Arial MT"/>
              </a:rPr>
              <a:t>organization</a:t>
            </a:r>
            <a:r>
              <a:rPr sz="2150" spc="3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has</a:t>
            </a:r>
            <a:r>
              <a:rPr sz="2150" spc="-8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parts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12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the </a:t>
            </a:r>
            <a:r>
              <a:rPr sz="2150" spc="-30" dirty="0">
                <a:latin typeface="Arial MT"/>
                <a:cs typeface="Arial MT"/>
              </a:rPr>
              <a:t>organization</a:t>
            </a:r>
            <a:r>
              <a:rPr sz="2150" spc="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in</a:t>
            </a:r>
            <a:r>
              <a:rPr sz="2150" spc="-14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different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physical </a:t>
            </a:r>
            <a:r>
              <a:rPr sz="2100" spc="-10" dirty="0">
                <a:latin typeface="Arial MT"/>
                <a:cs typeface="Arial MT"/>
              </a:rPr>
              <a:t>locations.</a:t>
            </a:r>
            <a:endParaRPr sz="2100">
              <a:latin typeface="Arial MT"/>
              <a:cs typeface="Arial MT"/>
            </a:endParaRPr>
          </a:p>
          <a:p>
            <a:pPr marL="237490" marR="5080" indent="-224790">
              <a:lnSpc>
                <a:spcPct val="100200"/>
              </a:lnSpc>
              <a:spcBef>
                <a:spcPts val="459"/>
              </a:spcBef>
              <a:buChar char="•"/>
              <a:tabLst>
                <a:tab pos="237490" algn="l"/>
                <a:tab pos="241935" algn="l"/>
              </a:tabLst>
            </a:pPr>
            <a:r>
              <a:rPr sz="2100" dirty="0">
                <a:latin typeface="Arial MT"/>
                <a:cs typeface="Arial MT"/>
              </a:rPr>
              <a:t>	Computer</a:t>
            </a:r>
            <a:r>
              <a:rPr sz="2100" spc="17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networks</a:t>
            </a:r>
            <a:r>
              <a:rPr sz="2100" spc="10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and </a:t>
            </a:r>
            <a:r>
              <a:rPr sz="2150" spc="-20" dirty="0">
                <a:latin typeface="Arial MT"/>
                <a:cs typeface="Arial MT"/>
              </a:rPr>
              <a:t>communications</a:t>
            </a:r>
            <a:r>
              <a:rPr sz="2150" spc="-130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technology</a:t>
            </a:r>
            <a:r>
              <a:rPr sz="2150" spc="4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are</a:t>
            </a:r>
            <a:r>
              <a:rPr sz="2150" spc="-6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used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to </a:t>
            </a:r>
            <a:r>
              <a:rPr sz="2100" dirty="0">
                <a:latin typeface="Arial MT"/>
                <a:cs typeface="Arial MT"/>
              </a:rPr>
              <a:t>bring</a:t>
            </a:r>
            <a:r>
              <a:rPr sz="2100" spc="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virtual</a:t>
            </a:r>
            <a:r>
              <a:rPr sz="2100" spc="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teams</a:t>
            </a:r>
            <a:r>
              <a:rPr sz="2100" spc="1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together</a:t>
            </a:r>
            <a:r>
              <a:rPr sz="2100" spc="1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work</a:t>
            </a:r>
            <a:r>
              <a:rPr sz="2100" spc="114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on </a:t>
            </a:r>
            <a:r>
              <a:rPr sz="2150" spc="-10" dirty="0">
                <a:latin typeface="Arial MT"/>
                <a:cs typeface="Arial MT"/>
              </a:rPr>
              <a:t>projects.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7741" y="4341812"/>
            <a:ext cx="1701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45" dirty="0">
                <a:solidFill>
                  <a:srgbClr val="262626"/>
                </a:solidFill>
                <a:latin typeface="Arial MT"/>
                <a:cs typeface="Arial MT"/>
              </a:rPr>
              <a:t>2-</a:t>
            </a:r>
            <a:r>
              <a:rPr sz="700" spc="-9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700" spc="-70" dirty="0">
                <a:solidFill>
                  <a:srgbClr val="797979"/>
                </a:solidFill>
                <a:latin typeface="Arial MT"/>
                <a:cs typeface="Arial MT"/>
              </a:rPr>
              <a:t>r</a:t>
            </a:r>
            <a:r>
              <a:rPr sz="700" spc="15" dirty="0">
                <a:solidFill>
                  <a:srgbClr val="797979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757575"/>
                </a:solidFill>
                <a:latin typeface="Arial MT"/>
                <a:cs typeface="Arial MT"/>
              </a:rPr>
              <a:t>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9050">
              <a:lnSpc>
                <a:spcPts val="3220"/>
              </a:lnSpc>
              <a:spcBef>
                <a:spcPts val="100"/>
              </a:spcBef>
            </a:pPr>
            <a:r>
              <a:rPr sz="2750" spc="-30" dirty="0">
                <a:solidFill>
                  <a:srgbClr val="DF1C3F"/>
                </a:solidFill>
              </a:rPr>
              <a:t>Benefits</a:t>
            </a:r>
            <a:r>
              <a:rPr sz="2750" spc="-70" dirty="0">
                <a:solidFill>
                  <a:srgbClr val="DF1C3F"/>
                </a:solidFill>
              </a:rPr>
              <a:t> </a:t>
            </a:r>
            <a:r>
              <a:rPr sz="2750" dirty="0">
                <a:solidFill>
                  <a:srgbClr val="A81131"/>
                </a:solidFill>
              </a:rPr>
              <a:t>of</a:t>
            </a:r>
            <a:r>
              <a:rPr sz="2750" spc="-180" dirty="0">
                <a:solidFill>
                  <a:srgbClr val="A81131"/>
                </a:solidFill>
              </a:rPr>
              <a:t> </a:t>
            </a:r>
            <a:r>
              <a:rPr sz="2750" spc="-30" dirty="0">
                <a:solidFill>
                  <a:srgbClr val="BA233B"/>
                </a:solidFill>
              </a:rPr>
              <a:t>Virtual</a:t>
            </a:r>
            <a:r>
              <a:rPr sz="2750" spc="-60" dirty="0">
                <a:solidFill>
                  <a:srgbClr val="BA233B"/>
                </a:solidFill>
              </a:rPr>
              <a:t> </a:t>
            </a:r>
            <a:r>
              <a:rPr sz="2750" spc="-75" dirty="0">
                <a:solidFill>
                  <a:srgbClr val="BD2646"/>
                </a:solidFill>
              </a:rPr>
              <a:t>Organizations</a:t>
            </a:r>
            <a:endParaRPr sz="2750"/>
          </a:p>
          <a:p>
            <a:pPr marL="22225">
              <a:lnSpc>
                <a:spcPts val="3279"/>
              </a:lnSpc>
            </a:pPr>
            <a:r>
              <a:rPr sz="2800" spc="-95" dirty="0">
                <a:solidFill>
                  <a:srgbClr val="C3233F"/>
                </a:solidFill>
              </a:rPr>
              <a:t>and</a:t>
            </a:r>
            <a:r>
              <a:rPr sz="2800" spc="-90" dirty="0">
                <a:solidFill>
                  <a:srgbClr val="C3233F"/>
                </a:solidFill>
              </a:rPr>
              <a:t> </a:t>
            </a:r>
            <a:r>
              <a:rPr sz="2800" spc="-10" dirty="0">
                <a:solidFill>
                  <a:srgbClr val="D32342"/>
                </a:solidFill>
              </a:rPr>
              <a:t>Teams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829004" y="1346200"/>
            <a:ext cx="5021580" cy="211582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44475" marR="111125" indent="-231775" algn="just">
              <a:lnSpc>
                <a:spcPts val="2550"/>
              </a:lnSpc>
              <a:spcBef>
                <a:spcPts val="259"/>
              </a:spcBef>
              <a:buChar char="•"/>
              <a:tabLst>
                <a:tab pos="244475" algn="l"/>
              </a:tabLst>
            </a:pPr>
            <a:r>
              <a:rPr sz="2200" spc="-25" dirty="0">
                <a:latin typeface="Arial MT"/>
                <a:cs typeface="Arial MT"/>
              </a:rPr>
              <a:t>Possibility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spc="-40" dirty="0">
                <a:latin typeface="Arial MT"/>
                <a:cs typeface="Arial MT"/>
              </a:rPr>
              <a:t>reducing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costs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physical </a:t>
            </a:r>
            <a:r>
              <a:rPr sz="2200" spc="-10" dirty="0">
                <a:latin typeface="Arial MT"/>
                <a:cs typeface="Arial MT"/>
              </a:rPr>
              <a:t>facilities</a:t>
            </a:r>
            <a:endParaRPr sz="2200">
              <a:latin typeface="Arial MT"/>
              <a:cs typeface="Arial MT"/>
            </a:endParaRPr>
          </a:p>
          <a:p>
            <a:pPr marL="246379" indent="-233045" algn="just">
              <a:lnSpc>
                <a:spcPct val="100000"/>
              </a:lnSpc>
              <a:spcBef>
                <a:spcPts val="415"/>
              </a:spcBef>
              <a:buChar char="•"/>
              <a:tabLst>
                <a:tab pos="246379" algn="l"/>
              </a:tabLst>
            </a:pPr>
            <a:r>
              <a:rPr sz="2150" spc="-10" dirty="0">
                <a:latin typeface="Arial MT"/>
                <a:cs typeface="Arial MT"/>
              </a:rPr>
              <a:t>More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rapid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response</a:t>
            </a:r>
            <a:r>
              <a:rPr sz="2150" spc="-3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to</a:t>
            </a:r>
            <a:r>
              <a:rPr sz="2150" spc="-13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customer</a:t>
            </a:r>
            <a:r>
              <a:rPr sz="2150" spc="3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needs</a:t>
            </a:r>
            <a:endParaRPr sz="2150">
              <a:latin typeface="Arial MT"/>
              <a:cs typeface="Arial MT"/>
            </a:endParaRPr>
          </a:p>
          <a:p>
            <a:pPr marL="241300" marR="173355" indent="-229235" algn="just">
              <a:lnSpc>
                <a:spcPts val="2550"/>
              </a:lnSpc>
              <a:spcBef>
                <a:spcPts val="605"/>
              </a:spcBef>
              <a:buChar char="•"/>
              <a:tabLst>
                <a:tab pos="244475" algn="l"/>
              </a:tabLst>
            </a:pPr>
            <a:r>
              <a:rPr sz="2300" spc="-80" dirty="0">
                <a:latin typeface="Arial MT"/>
                <a:cs typeface="Arial MT"/>
              </a:rPr>
              <a:t>Helping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spc="-75" dirty="0">
                <a:latin typeface="Arial MT"/>
                <a:cs typeface="Arial MT"/>
              </a:rPr>
              <a:t>virtual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spc="-100" dirty="0">
                <a:latin typeface="Arial MT"/>
                <a:cs typeface="Arial MT"/>
              </a:rPr>
              <a:t>employees</a:t>
            </a:r>
            <a:r>
              <a:rPr sz="2300" spc="30" dirty="0">
                <a:latin typeface="Arial MT"/>
                <a:cs typeface="Arial MT"/>
              </a:rPr>
              <a:t> </a:t>
            </a:r>
            <a:r>
              <a:rPr sz="2300" spc="-65" dirty="0">
                <a:latin typeface="Arial MT"/>
                <a:cs typeface="Arial MT"/>
              </a:rPr>
              <a:t>to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45" dirty="0">
                <a:latin typeface="Arial MT"/>
                <a:cs typeface="Arial MT"/>
              </a:rPr>
              <a:t>fulfill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70" dirty="0">
                <a:latin typeface="Arial MT"/>
                <a:cs typeface="Arial MT"/>
              </a:rPr>
              <a:t>their 	</a:t>
            </a:r>
            <a:r>
              <a:rPr sz="2300" spc="-65" dirty="0">
                <a:latin typeface="Arial MT"/>
                <a:cs typeface="Arial MT"/>
              </a:rPr>
              <a:t>familial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75" dirty="0">
                <a:latin typeface="Arial MT"/>
                <a:cs typeface="Arial MT"/>
              </a:rPr>
              <a:t>obligations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55" dirty="0">
                <a:latin typeface="Arial MT"/>
                <a:cs typeface="Arial MT"/>
              </a:rPr>
              <a:t>to</a:t>
            </a:r>
            <a:r>
              <a:rPr sz="2300" spc="-105" dirty="0">
                <a:latin typeface="Arial MT"/>
                <a:cs typeface="Arial MT"/>
              </a:rPr>
              <a:t> </a:t>
            </a:r>
            <a:r>
              <a:rPr sz="2300" spc="-85" dirty="0">
                <a:latin typeface="Arial MT"/>
                <a:cs typeface="Arial MT"/>
              </a:rPr>
              <a:t>children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spc="-60" dirty="0">
                <a:latin typeface="Arial MT"/>
                <a:cs typeface="Arial MT"/>
              </a:rPr>
              <a:t>or</a:t>
            </a:r>
            <a:r>
              <a:rPr sz="2300" spc="-100" dirty="0">
                <a:latin typeface="Arial MT"/>
                <a:cs typeface="Arial MT"/>
              </a:rPr>
              <a:t> </a:t>
            </a:r>
            <a:r>
              <a:rPr sz="2300" spc="-40" dirty="0">
                <a:latin typeface="Arial MT"/>
                <a:cs typeface="Arial MT"/>
              </a:rPr>
              <a:t>aging 	</a:t>
            </a:r>
            <a:r>
              <a:rPr sz="2300" spc="-10" dirty="0">
                <a:latin typeface="Arial MT"/>
                <a:cs typeface="Arial MT"/>
              </a:rPr>
              <a:t>parents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7741" y="4341812"/>
            <a:ext cx="18351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45" dirty="0">
                <a:solidFill>
                  <a:srgbClr val="262626"/>
                </a:solidFill>
                <a:latin typeface="Arial MT"/>
                <a:cs typeface="Arial MT"/>
              </a:rPr>
              <a:t>2-</a:t>
            </a:r>
            <a:r>
              <a:rPr sz="700" spc="-8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3D3D3D"/>
                </a:solidFill>
                <a:latin typeface="Arial MT"/>
                <a:cs typeface="Arial MT"/>
              </a:rPr>
              <a:t>r2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61925" cy="76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BD2646"/>
                </a:solidFill>
              </a:rPr>
              <a:t>Taking</a:t>
            </a:r>
            <a:r>
              <a:rPr sz="2900" spc="75" dirty="0">
                <a:solidFill>
                  <a:srgbClr val="BD2646"/>
                </a:solidFill>
              </a:rPr>
              <a:t> </a:t>
            </a:r>
            <a:r>
              <a:rPr sz="2900" dirty="0">
                <a:solidFill>
                  <a:srgbClr val="DD2644"/>
                </a:solidFill>
              </a:rPr>
              <a:t>a</a:t>
            </a:r>
            <a:r>
              <a:rPr sz="2900" spc="-15" dirty="0">
                <a:solidFill>
                  <a:srgbClr val="DD2644"/>
                </a:solidFill>
              </a:rPr>
              <a:t> </a:t>
            </a:r>
            <a:r>
              <a:rPr sz="2900" dirty="0">
                <a:solidFill>
                  <a:srgbClr val="C10F2D"/>
                </a:solidFill>
              </a:rPr>
              <a:t>Systems</a:t>
            </a:r>
            <a:r>
              <a:rPr sz="2900" spc="35" dirty="0">
                <a:solidFill>
                  <a:srgbClr val="C10F2D"/>
                </a:solidFill>
              </a:rPr>
              <a:t> </a:t>
            </a:r>
            <a:r>
              <a:rPr sz="2900" spc="-10" dirty="0">
                <a:solidFill>
                  <a:srgbClr val="B8233F"/>
                </a:solidFill>
              </a:rPr>
              <a:t>Perspective</a:t>
            </a:r>
            <a:endParaRPr sz="2900"/>
          </a:p>
        </p:txBody>
      </p:sp>
      <p:sp>
        <p:nvSpPr>
          <p:cNvPr id="7" name="object 7"/>
          <p:cNvSpPr txBox="1"/>
          <p:nvPr/>
        </p:nvSpPr>
        <p:spPr>
          <a:xfrm>
            <a:off x="831708" y="1300162"/>
            <a:ext cx="4989195" cy="2299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indent="-231775">
              <a:lnSpc>
                <a:spcPts val="1985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1850" dirty="0">
                <a:latin typeface="Arial MT"/>
                <a:cs typeface="Arial MT"/>
              </a:rPr>
              <a:t>Allows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system</a:t>
            </a:r>
            <a:r>
              <a:rPr sz="1850" spc="4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analyst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-10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understand</a:t>
            </a:r>
            <a:endParaRPr sz="1850">
              <a:latin typeface="Arial MT"/>
              <a:cs typeface="Arial MT"/>
            </a:endParaRPr>
          </a:p>
          <a:p>
            <a:pPr marL="238125">
              <a:lnSpc>
                <a:spcPts val="2030"/>
              </a:lnSpc>
            </a:pPr>
            <a:r>
              <a:rPr sz="1900" spc="-30" dirty="0">
                <a:latin typeface="Arial MT"/>
                <a:cs typeface="Arial MT"/>
              </a:rPr>
              <a:t>businesses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before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they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begin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their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tasks</a:t>
            </a:r>
            <a:endParaRPr sz="1900">
              <a:latin typeface="Arial MT"/>
              <a:cs typeface="Arial MT"/>
            </a:endParaRPr>
          </a:p>
          <a:p>
            <a:pPr marL="238760" marR="253365" indent="-226695">
              <a:lnSpc>
                <a:spcPct val="79200"/>
              </a:lnSpc>
              <a:spcBef>
                <a:spcPts val="459"/>
              </a:spcBef>
              <a:buChar char="•"/>
              <a:tabLst>
                <a:tab pos="238760" algn="l"/>
                <a:tab pos="240665" algn="l"/>
              </a:tabLst>
            </a:pPr>
            <a:r>
              <a:rPr sz="1900" dirty="0">
                <a:latin typeface="Arial MT"/>
                <a:cs typeface="Arial MT"/>
              </a:rPr>
              <a:t>	It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35" dirty="0">
                <a:latin typeface="Arial MT"/>
                <a:cs typeface="Arial MT"/>
              </a:rPr>
              <a:t>important</a:t>
            </a:r>
            <a:r>
              <a:rPr sz="1900" spc="7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that</a:t>
            </a:r>
            <a:r>
              <a:rPr sz="1900" spc="-114" dirty="0">
                <a:latin typeface="Arial MT"/>
                <a:cs typeface="Arial MT"/>
              </a:rPr>
              <a:t> </a:t>
            </a:r>
            <a:r>
              <a:rPr sz="1900" spc="-30" dirty="0">
                <a:latin typeface="Arial MT"/>
                <a:cs typeface="Arial MT"/>
              </a:rPr>
              <a:t>members</a:t>
            </a:r>
            <a:r>
              <a:rPr sz="1900" spc="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30" dirty="0">
                <a:latin typeface="Arial MT"/>
                <a:cs typeface="Arial MT"/>
              </a:rPr>
              <a:t>subsystems </a:t>
            </a:r>
            <a:r>
              <a:rPr sz="1850" dirty="0">
                <a:latin typeface="Arial MT"/>
                <a:cs typeface="Arial MT"/>
              </a:rPr>
              <a:t>realize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that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they</a:t>
            </a:r>
            <a:r>
              <a:rPr sz="1850" spc="6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are</a:t>
            </a:r>
            <a:r>
              <a:rPr sz="1850" spc="-6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interrelated</a:t>
            </a:r>
            <a:r>
              <a:rPr sz="1850" spc="10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with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other subsystems.</a:t>
            </a:r>
            <a:endParaRPr sz="1850">
              <a:latin typeface="Arial MT"/>
              <a:cs typeface="Arial MT"/>
            </a:endParaRPr>
          </a:p>
          <a:p>
            <a:pPr marL="240029" marR="5080" indent="-227965">
              <a:lnSpc>
                <a:spcPts val="1800"/>
              </a:lnSpc>
              <a:spcBef>
                <a:spcPts val="439"/>
              </a:spcBef>
              <a:buChar char="•"/>
              <a:tabLst>
                <a:tab pos="240029" algn="l"/>
                <a:tab pos="245110" algn="l"/>
              </a:tabLst>
            </a:pPr>
            <a:r>
              <a:rPr sz="1850" dirty="0">
                <a:latin typeface="Arial MT"/>
                <a:cs typeface="Arial MT"/>
              </a:rPr>
              <a:t>	Problems occur</a:t>
            </a:r>
            <a:r>
              <a:rPr sz="1850" spc="5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when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each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manager</a:t>
            </a:r>
            <a:r>
              <a:rPr sz="1850" spc="6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thinks </a:t>
            </a:r>
            <a:r>
              <a:rPr sz="1850" dirty="0">
                <a:latin typeface="Arial MT"/>
                <a:cs typeface="Arial MT"/>
              </a:rPr>
              <a:t>that</a:t>
            </a:r>
            <a:r>
              <a:rPr sz="1850" spc="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his/her</a:t>
            </a:r>
            <a:r>
              <a:rPr sz="1850" spc="4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department</a:t>
            </a:r>
            <a:r>
              <a:rPr sz="1850" spc="8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</a:t>
            </a:r>
            <a:r>
              <a:rPr sz="1850" spc="-5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most</a:t>
            </a:r>
            <a:r>
              <a:rPr sz="1850" spc="-3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important.</a:t>
            </a:r>
            <a:endParaRPr sz="1850">
              <a:latin typeface="Arial MT"/>
              <a:cs typeface="Arial MT"/>
            </a:endParaRPr>
          </a:p>
          <a:p>
            <a:pPr marL="236220" marR="779145" indent="-224154">
              <a:lnSpc>
                <a:spcPct val="78900"/>
              </a:lnSpc>
              <a:spcBef>
                <a:spcPts val="470"/>
              </a:spcBef>
              <a:buChar char="•"/>
              <a:tabLst>
                <a:tab pos="238125" algn="l"/>
              </a:tabLst>
            </a:pPr>
            <a:r>
              <a:rPr sz="1900" spc="-10" dirty="0">
                <a:latin typeface="Arial MT"/>
                <a:cs typeface="Arial MT"/>
              </a:rPr>
              <a:t>Bigger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problems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may</a:t>
            </a:r>
            <a:r>
              <a:rPr sz="1900" spc="-11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occur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spc="-35" dirty="0">
                <a:latin typeface="Arial MT"/>
                <a:cs typeface="Arial MT"/>
              </a:rPr>
              <a:t>when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that 	</a:t>
            </a:r>
            <a:r>
              <a:rPr sz="1900" spc="-30" dirty="0">
                <a:latin typeface="Arial MT"/>
                <a:cs typeface="Arial MT"/>
              </a:rPr>
              <a:t>manager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rises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through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ranks.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09825"/>
            <a:ext cx="381000" cy="18764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1175" y="2419350"/>
            <a:ext cx="3495675" cy="10763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381000" cy="2362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1866900"/>
            <a:ext cx="1038225" cy="3238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6750" y="4391025"/>
            <a:ext cx="657225" cy="666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81200" y="4381500"/>
            <a:ext cx="2609850" cy="952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762" rIns="0" bIns="0" rtlCol="0">
            <a:spAutoFit/>
          </a:bodyPr>
          <a:lstStyle/>
          <a:p>
            <a:pPr marL="13970" marR="5080" indent="3175">
              <a:lnSpc>
                <a:spcPts val="3190"/>
              </a:lnSpc>
              <a:spcBef>
                <a:spcPts val="295"/>
              </a:spcBef>
            </a:pPr>
            <a:r>
              <a:rPr sz="2750" spc="-40" dirty="0">
                <a:solidFill>
                  <a:srgbClr val="BF2642"/>
                </a:solidFill>
              </a:rPr>
              <a:t>Taking</a:t>
            </a:r>
            <a:r>
              <a:rPr sz="2750" spc="-125" dirty="0">
                <a:solidFill>
                  <a:srgbClr val="BF2642"/>
                </a:solidFill>
              </a:rPr>
              <a:t> </a:t>
            </a:r>
            <a:r>
              <a:rPr sz="2750" dirty="0">
                <a:solidFill>
                  <a:srgbClr val="D32342"/>
                </a:solidFill>
              </a:rPr>
              <a:t>a</a:t>
            </a:r>
            <a:r>
              <a:rPr sz="2750" spc="-190" dirty="0">
                <a:solidFill>
                  <a:srgbClr val="D32342"/>
                </a:solidFill>
              </a:rPr>
              <a:t> </a:t>
            </a:r>
            <a:r>
              <a:rPr sz="2750" spc="-35" dirty="0">
                <a:solidFill>
                  <a:srgbClr val="BD1333"/>
                </a:solidFill>
              </a:rPr>
              <a:t>Systems</a:t>
            </a:r>
            <a:r>
              <a:rPr sz="2750" spc="-20" dirty="0">
                <a:solidFill>
                  <a:srgbClr val="BD1333"/>
                </a:solidFill>
              </a:rPr>
              <a:t> </a:t>
            </a:r>
            <a:r>
              <a:rPr sz="2750" spc="-70" dirty="0">
                <a:solidFill>
                  <a:srgbClr val="AF213B"/>
                </a:solidFill>
              </a:rPr>
              <a:t>Perspective </a:t>
            </a:r>
            <a:r>
              <a:rPr sz="2750" spc="-30" dirty="0">
                <a:solidFill>
                  <a:srgbClr val="B32338"/>
                </a:solidFill>
              </a:rPr>
              <a:t>(Figure</a:t>
            </a:r>
            <a:r>
              <a:rPr sz="2750" spc="-130" dirty="0">
                <a:solidFill>
                  <a:srgbClr val="B32338"/>
                </a:solidFill>
              </a:rPr>
              <a:t> </a:t>
            </a:r>
            <a:r>
              <a:rPr sz="2750" spc="-20" dirty="0">
                <a:solidFill>
                  <a:srgbClr val="C61F38"/>
                </a:solidFill>
              </a:rPr>
              <a:t>2.2)</a:t>
            </a:r>
            <a:endParaRPr sz="2750"/>
          </a:p>
        </p:txBody>
      </p:sp>
      <p:sp>
        <p:nvSpPr>
          <p:cNvPr id="9" name="object 9"/>
          <p:cNvSpPr txBox="1"/>
          <p:nvPr/>
        </p:nvSpPr>
        <p:spPr>
          <a:xfrm>
            <a:off x="3889424" y="1252537"/>
            <a:ext cx="1573530" cy="97218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3810">
              <a:lnSpc>
                <a:spcPct val="84400"/>
              </a:lnSpc>
              <a:spcBef>
                <a:spcPts val="360"/>
              </a:spcBef>
            </a:pPr>
            <a:r>
              <a:rPr sz="1400" spc="-110" dirty="0">
                <a:latin typeface="Arial MT"/>
                <a:cs typeface="Arial MT"/>
              </a:rPr>
              <a:t>Outputs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spc="-114" dirty="0">
                <a:latin typeface="Arial MT"/>
                <a:cs typeface="Arial MT"/>
              </a:rPr>
              <a:t>from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181818"/>
                </a:solidFill>
                <a:latin typeface="Arial MT"/>
                <a:cs typeface="Arial MT"/>
              </a:rPr>
              <a:t>one </a:t>
            </a:r>
            <a:r>
              <a:rPr sz="1400" spc="-114" dirty="0">
                <a:latin typeface="Arial MT"/>
                <a:cs typeface="Arial MT"/>
              </a:rPr>
              <a:t>department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spc="-120" dirty="0">
                <a:latin typeface="Arial MT"/>
                <a:cs typeface="Arial MT"/>
              </a:rPr>
              <a:t>sarva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1A1A1A"/>
                </a:solidFill>
                <a:latin typeface="Arial MT"/>
                <a:cs typeface="Arial MT"/>
              </a:rPr>
              <a:t>as </a:t>
            </a:r>
            <a:r>
              <a:rPr sz="1500" spc="-160" dirty="0">
                <a:latin typeface="Arial MT"/>
                <a:cs typeface="Arial MT"/>
              </a:rPr>
              <a:t>inputs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for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75" dirty="0">
                <a:latin typeface="Arial MT"/>
                <a:cs typeface="Arial MT"/>
              </a:rPr>
              <a:t>another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55" dirty="0">
                <a:solidFill>
                  <a:srgbClr val="0F0F0F"/>
                </a:solidFill>
                <a:latin typeface="Arial MT"/>
                <a:cs typeface="Arial MT"/>
              </a:rPr>
              <a:t>such </a:t>
            </a:r>
            <a:r>
              <a:rPr sz="1400" spc="-110" dirty="0">
                <a:latin typeface="Arial MT"/>
                <a:cs typeface="Arial MT"/>
              </a:rPr>
              <a:t>that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125" dirty="0">
                <a:latin typeface="Arial MT"/>
                <a:cs typeface="Arial MT"/>
              </a:rPr>
              <a:t>subsystems</a:t>
            </a:r>
            <a:r>
              <a:rPr sz="1400" spc="8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are </a:t>
            </a:r>
            <a:r>
              <a:rPr sz="1400" spc="-30" dirty="0">
                <a:latin typeface="Arial MT"/>
                <a:cs typeface="Arial MT"/>
              </a:rPr>
              <a:t>interrelated.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2366" y="4329112"/>
            <a:ext cx="1987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50" dirty="0">
                <a:solidFill>
                  <a:srgbClr val="262626"/>
                </a:solidFill>
                <a:latin typeface="Courier New"/>
                <a:cs typeface="Courier New"/>
              </a:rPr>
              <a:t>2-</a:t>
            </a:r>
            <a:r>
              <a:rPr sz="800" spc="-105" dirty="0">
                <a:solidFill>
                  <a:srgbClr val="262626"/>
                </a:solidFill>
                <a:latin typeface="Courier New"/>
                <a:cs typeface="Courier New"/>
              </a:rPr>
              <a:t>t4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19725" cy="45529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762" rIns="0" bIns="0" rtlCol="0">
            <a:spAutoFit/>
          </a:bodyPr>
          <a:lstStyle/>
          <a:p>
            <a:pPr marL="17780" marR="5080" indent="-1270">
              <a:lnSpc>
                <a:spcPts val="3190"/>
              </a:lnSpc>
              <a:spcBef>
                <a:spcPts val="345"/>
              </a:spcBef>
            </a:pPr>
            <a:r>
              <a:rPr sz="2800" spc="-85" dirty="0">
                <a:solidFill>
                  <a:srgbClr val="B11F38"/>
                </a:solidFill>
              </a:rPr>
              <a:t>Perspective</a:t>
            </a:r>
            <a:r>
              <a:rPr sz="2800" spc="-75" dirty="0">
                <a:solidFill>
                  <a:srgbClr val="B11F38"/>
                </a:solidFill>
              </a:rPr>
              <a:t> </a:t>
            </a:r>
            <a:r>
              <a:rPr sz="2800" spc="-10" dirty="0">
                <a:solidFill>
                  <a:srgbClr val="B82A44"/>
                </a:solidFill>
              </a:rPr>
              <a:t>of</a:t>
            </a:r>
            <a:r>
              <a:rPr sz="2800" spc="-185" dirty="0">
                <a:solidFill>
                  <a:srgbClr val="B82A44"/>
                </a:solidFill>
              </a:rPr>
              <a:t> </a:t>
            </a:r>
            <a:r>
              <a:rPr sz="2800" spc="-70" dirty="0">
                <a:solidFill>
                  <a:srgbClr val="B81A3A"/>
                </a:solidFill>
              </a:rPr>
              <a:t>Functional </a:t>
            </a:r>
            <a:r>
              <a:rPr sz="2800" spc="-90" dirty="0">
                <a:solidFill>
                  <a:srgbClr val="FF7490"/>
                </a:solidFill>
              </a:rPr>
              <a:t>Managers</a:t>
            </a:r>
            <a:r>
              <a:rPr sz="2800" spc="-45" dirty="0">
                <a:solidFill>
                  <a:srgbClr val="FF7490"/>
                </a:solidFill>
              </a:rPr>
              <a:t> </a:t>
            </a:r>
            <a:r>
              <a:rPr sz="2800" spc="-90" dirty="0">
                <a:solidFill>
                  <a:srgbClr val="971D36"/>
                </a:solidFill>
              </a:rPr>
              <a:t>(FIGURE</a:t>
            </a:r>
            <a:r>
              <a:rPr sz="2800" spc="-75" dirty="0">
                <a:solidFill>
                  <a:srgbClr val="971D36"/>
                </a:solidFill>
              </a:rPr>
              <a:t> </a:t>
            </a:r>
            <a:r>
              <a:rPr sz="2800" spc="-20" dirty="0">
                <a:solidFill>
                  <a:srgbClr val="C11836"/>
                </a:solidFill>
              </a:rPr>
              <a:t>2.3)</a:t>
            </a:r>
            <a:endParaRPr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E22849"/>
                </a:solidFill>
              </a:rPr>
              <a:t>Enterprise</a:t>
            </a:r>
            <a:r>
              <a:rPr sz="2900" spc="35" dirty="0">
                <a:solidFill>
                  <a:srgbClr val="E22849"/>
                </a:solidFill>
              </a:rPr>
              <a:t> </a:t>
            </a:r>
            <a:r>
              <a:rPr sz="2900" dirty="0">
                <a:solidFill>
                  <a:srgbClr val="C12F50"/>
                </a:solidFill>
              </a:rPr>
              <a:t>Resource</a:t>
            </a:r>
            <a:r>
              <a:rPr sz="2900" spc="-25" dirty="0">
                <a:solidFill>
                  <a:srgbClr val="C12F50"/>
                </a:solidFill>
              </a:rPr>
              <a:t> </a:t>
            </a:r>
            <a:r>
              <a:rPr sz="2900" spc="-10" dirty="0">
                <a:solidFill>
                  <a:srgbClr val="BD1C3D"/>
                </a:solidFill>
              </a:rPr>
              <a:t>Planning</a:t>
            </a:r>
            <a:endParaRPr sz="2900"/>
          </a:p>
        </p:txBody>
      </p:sp>
      <p:sp>
        <p:nvSpPr>
          <p:cNvPr id="6" name="object 6"/>
          <p:cNvSpPr txBox="1"/>
          <p:nvPr/>
        </p:nvSpPr>
        <p:spPr>
          <a:xfrm>
            <a:off x="830018" y="1352550"/>
            <a:ext cx="4956810" cy="23679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3840" marR="5080" indent="-231775">
              <a:lnSpc>
                <a:spcPct val="99600"/>
              </a:lnSpc>
              <a:spcBef>
                <a:spcPts val="110"/>
              </a:spcBef>
              <a:buChar char="•"/>
              <a:tabLst>
                <a:tab pos="243840" algn="l"/>
              </a:tabLst>
            </a:pPr>
            <a:r>
              <a:rPr sz="2150" spc="-25" dirty="0">
                <a:latin typeface="Arial MT"/>
                <a:cs typeface="Arial MT"/>
              </a:rPr>
              <a:t>Enterprise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Systems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or</a:t>
            </a:r>
            <a:r>
              <a:rPr sz="2150" spc="-114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Enterprise </a:t>
            </a:r>
            <a:r>
              <a:rPr sz="2150" spc="-25" dirty="0">
                <a:latin typeface="Arial MT"/>
                <a:cs typeface="Arial MT"/>
              </a:rPr>
              <a:t>Resource</a:t>
            </a:r>
            <a:r>
              <a:rPr sz="2150" spc="-6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Planning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(ERP) </a:t>
            </a:r>
            <a:r>
              <a:rPr sz="2150" spc="-20" dirty="0">
                <a:latin typeface="Arial MT"/>
                <a:cs typeface="Arial MT"/>
              </a:rPr>
              <a:t>describes</a:t>
            </a:r>
            <a:r>
              <a:rPr sz="2150" spc="-65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an </a:t>
            </a:r>
            <a:r>
              <a:rPr sz="2100" dirty="0">
                <a:latin typeface="Arial MT"/>
                <a:cs typeface="Arial MT"/>
              </a:rPr>
              <a:t>integrated</a:t>
            </a:r>
            <a:r>
              <a:rPr sz="2100" spc="2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organizational</a:t>
            </a:r>
            <a:r>
              <a:rPr sz="2100" spc="-9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information </a:t>
            </a:r>
            <a:r>
              <a:rPr sz="2150" spc="-10" dirty="0">
                <a:latin typeface="Arial MT"/>
                <a:cs typeface="Arial MT"/>
              </a:rPr>
              <a:t>system.</a:t>
            </a:r>
            <a:endParaRPr sz="2150">
              <a:latin typeface="Arial MT"/>
              <a:cs typeface="Arial MT"/>
            </a:endParaRPr>
          </a:p>
          <a:p>
            <a:pPr marL="243204" marR="612775" indent="-231140">
              <a:lnSpc>
                <a:spcPct val="100000"/>
              </a:lnSpc>
              <a:spcBef>
                <a:spcPts val="530"/>
              </a:spcBef>
              <a:buChar char="•"/>
              <a:tabLst>
                <a:tab pos="245745" algn="l"/>
              </a:tabLst>
            </a:pPr>
            <a:r>
              <a:rPr sz="2150" spc="-20" dirty="0">
                <a:latin typeface="Arial MT"/>
                <a:cs typeface="Arial MT"/>
              </a:rPr>
              <a:t>Software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that</a:t>
            </a:r>
            <a:r>
              <a:rPr sz="2150" spc="-14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helps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114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flow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of 	</a:t>
            </a:r>
            <a:r>
              <a:rPr sz="2100" dirty="0">
                <a:latin typeface="Arial MT"/>
                <a:cs typeface="Arial MT"/>
              </a:rPr>
              <a:t>information</a:t>
            </a:r>
            <a:r>
              <a:rPr sz="2100" spc="1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between</a:t>
            </a:r>
            <a:r>
              <a:rPr sz="2100" spc="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functional 	</a:t>
            </a:r>
            <a:r>
              <a:rPr sz="2150" dirty="0">
                <a:latin typeface="Arial MT"/>
                <a:cs typeface="Arial MT"/>
              </a:rPr>
              <a:t>areas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within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12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organization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7741" y="4341812"/>
            <a:ext cx="19240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45" dirty="0">
                <a:solidFill>
                  <a:srgbClr val="262626"/>
                </a:solidFill>
                <a:latin typeface="Arial MT"/>
                <a:cs typeface="Arial MT"/>
              </a:rPr>
              <a:t>2-</a:t>
            </a:r>
            <a:r>
              <a:rPr sz="700" spc="-8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700" spc="-45" dirty="0">
                <a:solidFill>
                  <a:srgbClr val="6B6B6B"/>
                </a:solidFill>
                <a:latin typeface="Arial MT"/>
                <a:cs typeface="Arial MT"/>
              </a:rPr>
              <a:t>rG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16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5100" y="0"/>
            <a:ext cx="4857878" cy="91688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459940">
              <a:spcBef>
                <a:spcPts val="70"/>
              </a:spcBef>
            </a:pPr>
            <a:r>
              <a:rPr dirty="0"/>
              <a:t>Enterprise</a:t>
            </a:r>
            <a:r>
              <a:rPr spc="-53" dirty="0"/>
              <a:t> </a:t>
            </a:r>
            <a:r>
              <a:rPr dirty="0"/>
              <a:t>Resource</a:t>
            </a:r>
            <a:r>
              <a:rPr spc="-46" dirty="0"/>
              <a:t> </a:t>
            </a:r>
            <a:r>
              <a:rPr spc="-7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805" y="880878"/>
            <a:ext cx="5466491" cy="3393630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236083" marR="52697" indent="-227651" algn="just">
              <a:spcBef>
                <a:spcPts val="63"/>
              </a:spcBef>
              <a:buChar char="•"/>
              <a:tabLst>
                <a:tab pos="236083" algn="l"/>
                <a:tab pos="1843132" algn="l"/>
                <a:tab pos="3590145" algn="l"/>
              </a:tabLst>
            </a:pPr>
            <a:r>
              <a:rPr sz="2000" spc="-7" dirty="0">
                <a:latin typeface="Tahoma"/>
                <a:cs typeface="Tahoma"/>
              </a:rPr>
              <a:t>Enterprise</a:t>
            </a:r>
            <a:r>
              <a:rPr sz="2000" dirty="0">
                <a:latin typeface="Tahoma"/>
                <a:cs typeface="Tahoma"/>
              </a:rPr>
              <a:t>	Systems</a:t>
            </a:r>
            <a:r>
              <a:rPr sz="2000" spc="-3" dirty="0">
                <a:latin typeface="Tahoma"/>
                <a:cs typeface="Tahoma"/>
              </a:rPr>
              <a:t> </a:t>
            </a:r>
            <a:r>
              <a:rPr sz="2000" spc="-17" dirty="0">
                <a:latin typeface="Tahoma"/>
                <a:cs typeface="Tahoma"/>
              </a:rPr>
              <a:t>or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7" dirty="0">
                <a:latin typeface="Tahoma"/>
                <a:cs typeface="Tahoma"/>
              </a:rPr>
              <a:t>Enterprise </a:t>
            </a:r>
            <a:r>
              <a:rPr sz="2000" dirty="0">
                <a:latin typeface="Tahoma"/>
                <a:cs typeface="Tahoma"/>
              </a:rPr>
              <a:t>Resource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Planning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(ERP)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7" dirty="0">
                <a:latin typeface="Tahoma"/>
                <a:cs typeface="Tahoma"/>
              </a:rPr>
              <a:t>describes </a:t>
            </a:r>
            <a:r>
              <a:rPr sz="2000" dirty="0">
                <a:latin typeface="Tahoma"/>
                <a:cs typeface="Tahoma"/>
              </a:rPr>
              <a:t>an</a:t>
            </a:r>
            <a:r>
              <a:rPr sz="2000" spc="-86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integrated</a:t>
            </a:r>
            <a:r>
              <a:rPr sz="2000" b="1" spc="-63" dirty="0">
                <a:latin typeface="Tahoma"/>
                <a:cs typeface="Tahoma"/>
              </a:rPr>
              <a:t> </a:t>
            </a:r>
            <a:r>
              <a:rPr sz="2000" b="1" spc="-7" dirty="0">
                <a:latin typeface="Tahoma"/>
                <a:cs typeface="Tahoma"/>
              </a:rPr>
              <a:t>organizational </a:t>
            </a:r>
            <a:r>
              <a:rPr sz="2000" b="1" dirty="0">
                <a:latin typeface="Tahoma"/>
                <a:cs typeface="Tahoma"/>
              </a:rPr>
              <a:t>information</a:t>
            </a:r>
            <a:r>
              <a:rPr sz="2000" b="1" spc="-120" dirty="0">
                <a:latin typeface="Tahoma"/>
                <a:cs typeface="Tahoma"/>
              </a:rPr>
              <a:t> </a:t>
            </a:r>
            <a:r>
              <a:rPr sz="2000" b="1" spc="-7" dirty="0">
                <a:latin typeface="Tahoma"/>
                <a:cs typeface="Tahoma"/>
              </a:rPr>
              <a:t>system</a:t>
            </a:r>
            <a:endParaRPr sz="2000" dirty="0">
              <a:latin typeface="Tahoma"/>
              <a:cs typeface="Tahoma"/>
            </a:endParaRPr>
          </a:p>
          <a:p>
            <a:pPr marL="236083" marR="3373" indent="-227651" algn="just">
              <a:spcBef>
                <a:spcPts val="641"/>
              </a:spcBef>
              <a:buChar char="•"/>
              <a:tabLst>
                <a:tab pos="236083" algn="l"/>
                <a:tab pos="4002447" algn="l"/>
              </a:tabLst>
            </a:pPr>
            <a:r>
              <a:rPr sz="2000" dirty="0">
                <a:latin typeface="Tahoma"/>
                <a:cs typeface="Tahoma"/>
              </a:rPr>
              <a:t>Software</a:t>
            </a:r>
            <a:r>
              <a:rPr sz="2000" spc="-43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that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helps</a:t>
            </a:r>
            <a:r>
              <a:rPr sz="2000" spc="-43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flow</a:t>
            </a:r>
            <a:r>
              <a:rPr sz="2000" spc="-43" dirty="0">
                <a:latin typeface="Tahoma"/>
                <a:cs typeface="Tahoma"/>
              </a:rPr>
              <a:t> </a:t>
            </a:r>
            <a:r>
              <a:rPr sz="2000" spc="-17" dirty="0">
                <a:latin typeface="Tahoma"/>
                <a:cs typeface="Tahoma"/>
              </a:rPr>
              <a:t>of </a:t>
            </a:r>
            <a:r>
              <a:rPr sz="2000" dirty="0">
                <a:latin typeface="Tahoma"/>
                <a:cs typeface="Tahoma"/>
              </a:rPr>
              <a:t>information</a:t>
            </a:r>
            <a:r>
              <a:rPr sz="2000" spc="-37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between</a:t>
            </a:r>
            <a:r>
              <a:rPr sz="2000" spc="-17" dirty="0">
                <a:latin typeface="Tahoma"/>
                <a:cs typeface="Tahoma"/>
              </a:rPr>
              <a:t> the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7" dirty="0">
                <a:latin typeface="Tahoma"/>
                <a:cs typeface="Tahoma"/>
              </a:rPr>
              <a:t>functional </a:t>
            </a:r>
            <a:r>
              <a:rPr sz="2000" dirty="0">
                <a:latin typeface="Tahoma"/>
                <a:cs typeface="Tahoma"/>
              </a:rPr>
              <a:t>areas</a:t>
            </a:r>
            <a:r>
              <a:rPr sz="2000" spc="-27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within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23" dirty="0">
                <a:latin typeface="Tahoma"/>
                <a:cs typeface="Tahoma"/>
              </a:rPr>
              <a:t> </a:t>
            </a:r>
            <a:r>
              <a:rPr sz="2000" spc="-7" dirty="0">
                <a:latin typeface="Tahoma"/>
                <a:cs typeface="Tahoma"/>
              </a:rPr>
              <a:t>organization</a:t>
            </a:r>
            <a:endParaRPr lang="en-US" sz="2000" spc="-7" dirty="0">
              <a:latin typeface="Tahoma"/>
              <a:cs typeface="Tahoma"/>
            </a:endParaRPr>
          </a:p>
          <a:p>
            <a:pPr marL="236083" marR="3373" indent="-227651" algn="just">
              <a:spcBef>
                <a:spcPts val="641"/>
              </a:spcBef>
              <a:buChar char="•"/>
              <a:tabLst>
                <a:tab pos="236083" algn="l"/>
                <a:tab pos="4002447" algn="l"/>
              </a:tabLst>
            </a:pPr>
            <a:r>
              <a:rPr lang="en-US" sz="2000" dirty="0"/>
              <a:t>Centralized Data</a:t>
            </a:r>
          </a:p>
          <a:p>
            <a:pPr marL="236083" marR="3373" indent="-227651" algn="just">
              <a:spcBef>
                <a:spcPts val="641"/>
              </a:spcBef>
              <a:buChar char="•"/>
              <a:tabLst>
                <a:tab pos="236083" algn="l"/>
                <a:tab pos="4002447" algn="l"/>
              </a:tabLst>
            </a:pPr>
            <a:r>
              <a:rPr lang="en-US" sz="2000" dirty="0"/>
              <a:t>Real-Time Access</a:t>
            </a:r>
          </a:p>
          <a:p>
            <a:pPr marL="236083" marR="3373" indent="-227651" algn="just">
              <a:spcBef>
                <a:spcPts val="641"/>
              </a:spcBef>
              <a:buChar char="•"/>
              <a:tabLst>
                <a:tab pos="236083" algn="l"/>
                <a:tab pos="4002447" algn="l"/>
              </a:tabLst>
            </a:pPr>
            <a:r>
              <a:rPr lang="en-US" sz="2000" dirty="0"/>
              <a:t>Customization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17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54628" y="207387"/>
            <a:ext cx="5603923" cy="4120131"/>
          </a:xfrm>
          <a:prstGeom prst="rect">
            <a:avLst/>
          </a:prstGeom>
        </p:spPr>
        <p:txBody>
          <a:bodyPr vert="horz" wrap="square" lIns="0" tIns="74196" rIns="0" bIns="0" rtlCol="0">
            <a:spAutoFit/>
          </a:bodyPr>
          <a:lstStyle/>
          <a:p>
            <a:pPr marL="235661" indent="-227230">
              <a:spcBef>
                <a:spcPts val="584"/>
              </a:spcBef>
              <a:buClr>
                <a:srgbClr val="000000"/>
              </a:buClr>
              <a:buFont typeface="Tahoma"/>
              <a:buChar char="•"/>
              <a:tabLst>
                <a:tab pos="235661" algn="l"/>
              </a:tabLst>
            </a:pPr>
            <a:r>
              <a:rPr sz="2124" b="1" dirty="0">
                <a:solidFill>
                  <a:srgbClr val="FF0000"/>
                </a:solidFill>
                <a:latin typeface="Tahoma"/>
                <a:cs typeface="Tahoma"/>
              </a:rPr>
              <a:t>ERP</a:t>
            </a:r>
            <a:r>
              <a:rPr sz="2124" b="1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b="1" dirty="0">
                <a:solidFill>
                  <a:srgbClr val="FF0000"/>
                </a:solidFill>
                <a:latin typeface="Tahoma"/>
                <a:cs typeface="Tahoma"/>
              </a:rPr>
              <a:t>systems</a:t>
            </a:r>
            <a:r>
              <a:rPr sz="2124" b="1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b="1" spc="-7" dirty="0">
                <a:solidFill>
                  <a:srgbClr val="FF0000"/>
                </a:solidFill>
                <a:latin typeface="Tahoma"/>
                <a:cs typeface="Tahoma"/>
              </a:rPr>
              <a:t>include</a:t>
            </a:r>
            <a:r>
              <a:rPr sz="2124" spc="-7" dirty="0">
                <a:latin typeface="Tahoma"/>
                <a:cs typeface="Tahoma"/>
              </a:rPr>
              <a:t>:</a:t>
            </a:r>
            <a:endParaRPr sz="2124" dirty="0">
              <a:latin typeface="Tahoma"/>
              <a:cs typeface="Tahoma"/>
            </a:endParaRPr>
          </a:p>
          <a:p>
            <a:pPr marL="499147" lvl="1" indent="-189709">
              <a:spcBef>
                <a:spcPts val="448"/>
              </a:spcBef>
              <a:buClr>
                <a:srgbClr val="E11738"/>
              </a:buClr>
              <a:buSzPct val="96428"/>
              <a:buFont typeface="Wingdings"/>
              <a:buChar char=""/>
              <a:tabLst>
                <a:tab pos="499147" algn="l"/>
              </a:tabLst>
            </a:pPr>
            <a:r>
              <a:rPr sz="1859" dirty="0">
                <a:latin typeface="Tahoma"/>
                <a:cs typeface="Tahoma"/>
              </a:rPr>
              <a:t>Manufacturing</a:t>
            </a:r>
            <a:r>
              <a:rPr sz="1859" spc="-96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components</a:t>
            </a:r>
            <a:endParaRPr sz="1859" dirty="0">
              <a:latin typeface="Tahoma"/>
              <a:cs typeface="Tahoma"/>
            </a:endParaRPr>
          </a:p>
          <a:p>
            <a:pPr marL="499147" lvl="1" indent="-189709">
              <a:spcBef>
                <a:spcPts val="448"/>
              </a:spcBef>
              <a:buClr>
                <a:srgbClr val="E11738"/>
              </a:buClr>
              <a:buSzPct val="96428"/>
              <a:buFont typeface="Wingdings"/>
              <a:buChar char=""/>
              <a:tabLst>
                <a:tab pos="499147" algn="l"/>
              </a:tabLst>
            </a:pPr>
            <a:r>
              <a:rPr sz="1859" dirty="0">
                <a:latin typeface="Tahoma"/>
                <a:cs typeface="Tahoma"/>
              </a:rPr>
              <a:t>Sales</a:t>
            </a:r>
            <a:r>
              <a:rPr sz="1859" spc="-6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and</a:t>
            </a:r>
            <a:r>
              <a:rPr sz="1859" spc="-6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operations</a:t>
            </a:r>
            <a:r>
              <a:rPr sz="1859" spc="-40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planning</a:t>
            </a:r>
            <a:endParaRPr sz="1859" dirty="0">
              <a:latin typeface="Tahoma"/>
              <a:cs typeface="Tahoma"/>
            </a:endParaRPr>
          </a:p>
          <a:p>
            <a:pPr marL="499147" lvl="1" indent="-189709">
              <a:spcBef>
                <a:spcPts val="448"/>
              </a:spcBef>
              <a:buClr>
                <a:srgbClr val="E11738"/>
              </a:buClr>
              <a:buSzPct val="96428"/>
              <a:buFont typeface="Wingdings"/>
              <a:buChar char=""/>
              <a:tabLst>
                <a:tab pos="499147" algn="l"/>
              </a:tabLst>
            </a:pPr>
            <a:r>
              <a:rPr sz="1859" spc="-7" dirty="0">
                <a:latin typeface="Tahoma"/>
                <a:cs typeface="Tahoma"/>
              </a:rPr>
              <a:t>Distribution</a:t>
            </a:r>
            <a:endParaRPr sz="1859" dirty="0">
              <a:latin typeface="Tahoma"/>
              <a:cs typeface="Tahoma"/>
            </a:endParaRPr>
          </a:p>
          <a:p>
            <a:pPr marL="499147" lvl="1" indent="-189709">
              <a:spcBef>
                <a:spcPts val="445"/>
              </a:spcBef>
              <a:buClr>
                <a:srgbClr val="E11738"/>
              </a:buClr>
              <a:buSzPct val="96428"/>
              <a:buFont typeface="Wingdings"/>
              <a:buChar char=""/>
              <a:tabLst>
                <a:tab pos="499147" algn="l"/>
              </a:tabLst>
            </a:pPr>
            <a:r>
              <a:rPr sz="1859" dirty="0">
                <a:latin typeface="Tahoma"/>
                <a:cs typeface="Tahoma"/>
              </a:rPr>
              <a:t>Managing</a:t>
            </a:r>
            <a:r>
              <a:rPr sz="1859" spc="-4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the</a:t>
            </a:r>
            <a:r>
              <a:rPr sz="1859" spc="-6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supply</a:t>
            </a:r>
            <a:r>
              <a:rPr sz="1859" spc="-56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train</a:t>
            </a:r>
            <a:endParaRPr sz="1859" dirty="0">
              <a:latin typeface="Tahoma"/>
              <a:cs typeface="Tahoma"/>
            </a:endParaRPr>
          </a:p>
          <a:p>
            <a:pPr marL="235661" indent="-227230">
              <a:spcBef>
                <a:spcPts val="508"/>
              </a:spcBef>
              <a:buFont typeface="Tahoma"/>
              <a:buChar char="•"/>
              <a:tabLst>
                <a:tab pos="235661" algn="l"/>
              </a:tabLst>
            </a:pPr>
            <a:r>
              <a:rPr sz="2124" b="1" dirty="0">
                <a:latin typeface="Tahoma"/>
                <a:cs typeface="Tahoma"/>
              </a:rPr>
              <a:t>Problems</a:t>
            </a:r>
            <a:r>
              <a:rPr sz="2124" b="1" spc="-3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with</a:t>
            </a:r>
            <a:r>
              <a:rPr sz="2124" b="1" spc="-13" dirty="0">
                <a:latin typeface="Tahoma"/>
                <a:cs typeface="Tahoma"/>
              </a:rPr>
              <a:t> </a:t>
            </a:r>
            <a:r>
              <a:rPr sz="2124" b="1" spc="-7" dirty="0">
                <a:latin typeface="Tahoma"/>
                <a:cs typeface="Tahoma"/>
              </a:rPr>
              <a:t>implementation</a:t>
            </a:r>
            <a:r>
              <a:rPr sz="2124" spc="-7" dirty="0">
                <a:latin typeface="Tahoma"/>
                <a:cs typeface="Tahoma"/>
              </a:rPr>
              <a:t>:</a:t>
            </a:r>
            <a:endParaRPr sz="2124" dirty="0">
              <a:latin typeface="Tahoma"/>
              <a:cs typeface="Tahoma"/>
            </a:endParaRPr>
          </a:p>
          <a:p>
            <a:pPr marL="426214" marR="3373" indent="-115090">
              <a:spcBef>
                <a:spcPts val="451"/>
              </a:spcBef>
              <a:buClr>
                <a:srgbClr val="E11738"/>
              </a:buClr>
              <a:buSzPct val="96428"/>
              <a:buFont typeface="Wingdings"/>
              <a:buChar char=""/>
              <a:tabLst>
                <a:tab pos="426214" algn="l"/>
                <a:tab pos="521912" algn="l"/>
              </a:tabLst>
            </a:pPr>
            <a:r>
              <a:rPr sz="1859" dirty="0">
                <a:latin typeface="Tahoma"/>
                <a:cs typeface="Tahoma"/>
              </a:rPr>
              <a:t>	Difficult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to</a:t>
            </a:r>
            <a:r>
              <a:rPr sz="1859" spc="-4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analyze</a:t>
            </a:r>
            <a:r>
              <a:rPr sz="1859" spc="-2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</a:t>
            </a:r>
            <a:r>
              <a:rPr sz="1859" spc="-4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system</a:t>
            </a:r>
            <a:r>
              <a:rPr sz="1859" spc="-4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currently</a:t>
            </a:r>
            <a:r>
              <a:rPr sz="1859" spc="-4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in</a:t>
            </a:r>
            <a:r>
              <a:rPr sz="1859" spc="-4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use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spc="-17" dirty="0">
                <a:latin typeface="Tahoma"/>
                <a:cs typeface="Tahoma"/>
              </a:rPr>
              <a:t>and </a:t>
            </a:r>
            <a:r>
              <a:rPr sz="1859" dirty="0">
                <a:latin typeface="Tahoma"/>
                <a:cs typeface="Tahoma"/>
              </a:rPr>
              <a:t>then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fit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the</a:t>
            </a:r>
            <a:r>
              <a:rPr sz="1859" spc="-2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ERP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model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to</a:t>
            </a:r>
            <a:r>
              <a:rPr sz="1859" spc="-2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that</a:t>
            </a:r>
            <a:r>
              <a:rPr sz="1859" spc="-27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system</a:t>
            </a:r>
            <a:endParaRPr sz="1859" dirty="0">
              <a:latin typeface="Tahoma"/>
              <a:cs typeface="Tahoma"/>
            </a:endParaRPr>
          </a:p>
          <a:p>
            <a:pPr marL="426214" marR="859173" indent="-115090">
              <a:spcBef>
                <a:spcPts val="445"/>
              </a:spcBef>
              <a:buClr>
                <a:srgbClr val="E11738"/>
              </a:buClr>
              <a:buSzPct val="96428"/>
              <a:buFont typeface="Wingdings"/>
              <a:buChar char=""/>
              <a:tabLst>
                <a:tab pos="426214" algn="l"/>
                <a:tab pos="521912" algn="l"/>
              </a:tabLst>
            </a:pPr>
            <a:r>
              <a:rPr sz="1859" dirty="0">
                <a:latin typeface="Tahoma"/>
                <a:cs typeface="Tahoma"/>
              </a:rPr>
              <a:t>	Companies</a:t>
            </a:r>
            <a:r>
              <a:rPr sz="1859" spc="-4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tend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to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design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their</a:t>
            </a:r>
            <a:r>
              <a:rPr sz="1859" spc="-46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business </a:t>
            </a:r>
            <a:r>
              <a:rPr sz="1859" dirty="0">
                <a:latin typeface="Tahoma"/>
                <a:cs typeface="Tahoma"/>
              </a:rPr>
              <a:t>processes</a:t>
            </a:r>
            <a:r>
              <a:rPr sz="1859" spc="-5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before</a:t>
            </a:r>
            <a:r>
              <a:rPr sz="1859" spc="-4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ERP</a:t>
            </a:r>
            <a:r>
              <a:rPr sz="1859" spc="-5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is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implemented</a:t>
            </a:r>
            <a:endParaRPr sz="1859" dirty="0">
              <a:latin typeface="Tahoma"/>
              <a:cs typeface="Tahoma"/>
            </a:endParaRPr>
          </a:p>
          <a:p>
            <a:pPr marL="236083" marR="287515" indent="-227651">
              <a:spcBef>
                <a:spcPts val="508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ERP,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although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growing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use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also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being </a:t>
            </a:r>
            <a:r>
              <a:rPr sz="2124" dirty="0">
                <a:latin typeface="Tahoma"/>
                <a:cs typeface="Tahoma"/>
              </a:rPr>
              <a:t>viewed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with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some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skepticism.</a:t>
            </a:r>
            <a:endParaRPr sz="2124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18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3403177" cy="91688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459940">
              <a:spcBef>
                <a:spcPts val="70"/>
              </a:spcBef>
            </a:pPr>
            <a:r>
              <a:rPr dirty="0"/>
              <a:t>ERP</a:t>
            </a:r>
            <a:r>
              <a:rPr spc="-27" dirty="0"/>
              <a:t> </a:t>
            </a:r>
            <a:r>
              <a:rPr dirty="0"/>
              <a:t>and</a:t>
            </a:r>
            <a:r>
              <a:rPr spc="-3" dirty="0"/>
              <a:t> </a:t>
            </a:r>
            <a:r>
              <a:rPr dirty="0"/>
              <a:t>the</a:t>
            </a:r>
            <a:r>
              <a:rPr spc="-17" dirty="0"/>
              <a:t> </a:t>
            </a:r>
            <a:r>
              <a:rPr spc="-7" dirty="0"/>
              <a:t>Organization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216" y="930455"/>
            <a:ext cx="5404520" cy="3182244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413145" marR="3373" indent="-405135">
              <a:spcBef>
                <a:spcPts val="70"/>
              </a:spcBef>
              <a:buChar char="•"/>
              <a:tabLst>
                <a:tab pos="413145" algn="l"/>
              </a:tabLst>
            </a:pPr>
            <a:r>
              <a:rPr sz="2921" dirty="0">
                <a:latin typeface="Tahoma"/>
                <a:cs typeface="Tahoma"/>
              </a:rPr>
              <a:t>ERP</a:t>
            </a:r>
            <a:r>
              <a:rPr sz="2921" spc="-30" dirty="0">
                <a:latin typeface="Tahoma"/>
                <a:cs typeface="Tahoma"/>
              </a:rPr>
              <a:t> </a:t>
            </a:r>
            <a:r>
              <a:rPr sz="2921" dirty="0">
                <a:latin typeface="Tahoma"/>
                <a:cs typeface="Tahoma"/>
              </a:rPr>
              <a:t>can</a:t>
            </a:r>
            <a:r>
              <a:rPr sz="2921" spc="-23" dirty="0">
                <a:latin typeface="Tahoma"/>
                <a:cs typeface="Tahoma"/>
              </a:rPr>
              <a:t> </a:t>
            </a:r>
            <a:r>
              <a:rPr sz="2921" dirty="0">
                <a:latin typeface="Tahoma"/>
                <a:cs typeface="Tahoma"/>
              </a:rPr>
              <a:t>affect</a:t>
            </a:r>
            <a:r>
              <a:rPr sz="2921" spc="-23" dirty="0">
                <a:latin typeface="Tahoma"/>
                <a:cs typeface="Tahoma"/>
              </a:rPr>
              <a:t> </a:t>
            </a:r>
            <a:r>
              <a:rPr sz="2921" dirty="0">
                <a:latin typeface="Tahoma"/>
                <a:cs typeface="Tahoma"/>
              </a:rPr>
              <a:t>every</a:t>
            </a:r>
            <a:r>
              <a:rPr sz="2921" spc="-27" dirty="0">
                <a:latin typeface="Tahoma"/>
                <a:cs typeface="Tahoma"/>
              </a:rPr>
              <a:t> </a:t>
            </a:r>
            <a:r>
              <a:rPr sz="2921" dirty="0">
                <a:latin typeface="Tahoma"/>
                <a:cs typeface="Tahoma"/>
              </a:rPr>
              <a:t>aspect</a:t>
            </a:r>
            <a:r>
              <a:rPr sz="2921" spc="-23" dirty="0">
                <a:latin typeface="Tahoma"/>
                <a:cs typeface="Tahoma"/>
              </a:rPr>
              <a:t> </a:t>
            </a:r>
            <a:r>
              <a:rPr sz="2921" spc="-17" dirty="0">
                <a:latin typeface="Tahoma"/>
                <a:cs typeface="Tahoma"/>
              </a:rPr>
              <a:t>of </a:t>
            </a:r>
            <a:r>
              <a:rPr sz="2921" dirty="0">
                <a:latin typeface="Tahoma"/>
                <a:cs typeface="Tahoma"/>
              </a:rPr>
              <a:t>the</a:t>
            </a:r>
            <a:r>
              <a:rPr sz="2921" spc="-13" dirty="0">
                <a:latin typeface="Tahoma"/>
                <a:cs typeface="Tahoma"/>
              </a:rPr>
              <a:t> </a:t>
            </a:r>
            <a:r>
              <a:rPr sz="2921" dirty="0">
                <a:latin typeface="Tahoma"/>
                <a:cs typeface="Tahoma"/>
              </a:rPr>
              <a:t>organization,</a:t>
            </a:r>
            <a:r>
              <a:rPr sz="2921" spc="-20" dirty="0">
                <a:latin typeface="Tahoma"/>
                <a:cs typeface="Tahoma"/>
              </a:rPr>
              <a:t> </a:t>
            </a:r>
            <a:r>
              <a:rPr sz="2921" spc="-7" dirty="0">
                <a:latin typeface="Tahoma"/>
                <a:cs typeface="Tahoma"/>
              </a:rPr>
              <a:t>including:</a:t>
            </a:r>
            <a:endParaRPr sz="2921" dirty="0">
              <a:latin typeface="Tahoma"/>
              <a:cs typeface="Tahoma"/>
            </a:endParaRPr>
          </a:p>
          <a:p>
            <a:pPr marL="666091" lvl="1" indent="-354124">
              <a:spcBef>
                <a:spcPts val="641"/>
              </a:spcBef>
              <a:buClr>
                <a:srgbClr val="E11738"/>
              </a:buClr>
              <a:buChar char="•"/>
              <a:tabLst>
                <a:tab pos="666091" algn="l"/>
                <a:tab pos="2175756" algn="l"/>
              </a:tabLst>
            </a:pPr>
            <a:r>
              <a:rPr sz="2656" dirty="0">
                <a:latin typeface="Tahoma"/>
                <a:cs typeface="Tahoma"/>
              </a:rPr>
              <a:t>Design </a:t>
            </a:r>
            <a:r>
              <a:rPr sz="2656" spc="-17" dirty="0">
                <a:latin typeface="Tahoma"/>
                <a:cs typeface="Tahoma"/>
              </a:rPr>
              <a:t>of</a:t>
            </a:r>
            <a:r>
              <a:rPr sz="2656" dirty="0">
                <a:latin typeface="Tahoma"/>
                <a:cs typeface="Tahoma"/>
              </a:rPr>
              <a:t>	employees’ </a:t>
            </a:r>
            <a:r>
              <a:rPr sz="2656" spc="-13" dirty="0">
                <a:latin typeface="Tahoma"/>
                <a:cs typeface="Tahoma"/>
              </a:rPr>
              <a:t>work</a:t>
            </a:r>
            <a:endParaRPr sz="2656" dirty="0">
              <a:latin typeface="Tahoma"/>
              <a:cs typeface="Tahoma"/>
            </a:endParaRPr>
          </a:p>
          <a:p>
            <a:pPr marL="666091" marR="1569951" lvl="1" indent="-354546">
              <a:spcBef>
                <a:spcPts val="641"/>
              </a:spcBef>
              <a:buClr>
                <a:srgbClr val="E11738"/>
              </a:buClr>
              <a:buChar char="•"/>
              <a:tabLst>
                <a:tab pos="666091" algn="l"/>
              </a:tabLst>
            </a:pPr>
            <a:r>
              <a:rPr sz="2656" dirty="0">
                <a:latin typeface="Tahoma"/>
                <a:cs typeface="Tahoma"/>
              </a:rPr>
              <a:t>Skills</a:t>
            </a:r>
            <a:r>
              <a:rPr sz="2656" spc="-27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required</a:t>
            </a:r>
            <a:r>
              <a:rPr sz="2656" spc="-23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for</a:t>
            </a:r>
            <a:r>
              <a:rPr sz="2656" spc="-23" dirty="0">
                <a:latin typeface="Tahoma"/>
                <a:cs typeface="Tahoma"/>
              </a:rPr>
              <a:t> </a:t>
            </a:r>
            <a:r>
              <a:rPr sz="2656" spc="-17" dirty="0">
                <a:latin typeface="Tahoma"/>
                <a:cs typeface="Tahoma"/>
              </a:rPr>
              <a:t>job </a:t>
            </a:r>
            <a:r>
              <a:rPr sz="2656" spc="-7" dirty="0">
                <a:latin typeface="Tahoma"/>
                <a:cs typeface="Tahoma"/>
              </a:rPr>
              <a:t>competency</a:t>
            </a:r>
            <a:endParaRPr sz="2656" dirty="0">
              <a:latin typeface="Tahoma"/>
              <a:cs typeface="Tahoma"/>
            </a:endParaRPr>
          </a:p>
          <a:p>
            <a:pPr marL="666091" marR="733122" lvl="1" indent="-354546">
              <a:spcBef>
                <a:spcPts val="637"/>
              </a:spcBef>
              <a:buClr>
                <a:srgbClr val="E11738"/>
              </a:buClr>
              <a:buChar char="•"/>
              <a:tabLst>
                <a:tab pos="666091" algn="l"/>
              </a:tabLst>
            </a:pPr>
            <a:r>
              <a:rPr sz="2656" dirty="0">
                <a:latin typeface="Tahoma"/>
                <a:cs typeface="Tahoma"/>
              </a:rPr>
              <a:t>Strategic</a:t>
            </a:r>
            <a:r>
              <a:rPr sz="2656" spc="-93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positioning</a:t>
            </a:r>
            <a:r>
              <a:rPr sz="2656" spc="-93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of</a:t>
            </a:r>
            <a:r>
              <a:rPr sz="2656" spc="-100" dirty="0">
                <a:latin typeface="Tahoma"/>
                <a:cs typeface="Tahoma"/>
              </a:rPr>
              <a:t> </a:t>
            </a:r>
            <a:r>
              <a:rPr sz="2656" spc="-17" dirty="0">
                <a:latin typeface="Tahoma"/>
                <a:cs typeface="Tahoma"/>
              </a:rPr>
              <a:t>the </a:t>
            </a:r>
            <a:r>
              <a:rPr sz="2656" spc="-7" dirty="0">
                <a:latin typeface="Tahoma"/>
                <a:cs typeface="Tahoma"/>
              </a:rPr>
              <a:t>company</a:t>
            </a:r>
            <a:endParaRPr sz="2656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19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125" y="274020"/>
            <a:ext cx="4644431" cy="825491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 marR="3373">
              <a:spcBef>
                <a:spcPts val="63"/>
              </a:spcBef>
            </a:pPr>
            <a:r>
              <a:rPr sz="2656" dirty="0"/>
              <a:t>Issues</a:t>
            </a:r>
            <a:r>
              <a:rPr sz="2656" spc="-43" dirty="0"/>
              <a:t> </a:t>
            </a:r>
            <a:r>
              <a:rPr sz="2656" dirty="0"/>
              <a:t>to</a:t>
            </a:r>
            <a:r>
              <a:rPr sz="2656" spc="-40" dirty="0"/>
              <a:t> </a:t>
            </a:r>
            <a:r>
              <a:rPr sz="2656" dirty="0"/>
              <a:t>be</a:t>
            </a:r>
            <a:r>
              <a:rPr sz="2656" spc="-30" dirty="0"/>
              <a:t> </a:t>
            </a:r>
            <a:r>
              <a:rPr sz="2656" dirty="0"/>
              <a:t>Overcome</a:t>
            </a:r>
            <a:r>
              <a:rPr sz="2656" spc="-50" dirty="0"/>
              <a:t> </a:t>
            </a:r>
            <a:r>
              <a:rPr sz="2656" dirty="0"/>
              <a:t>for</a:t>
            </a:r>
            <a:r>
              <a:rPr sz="2656" spc="-33" dirty="0"/>
              <a:t> </a:t>
            </a:r>
            <a:r>
              <a:rPr sz="2656" spc="-17" dirty="0"/>
              <a:t>ERP </a:t>
            </a:r>
            <a:r>
              <a:rPr sz="2656" spc="-7" dirty="0"/>
              <a:t>Success</a:t>
            </a:r>
            <a:endParaRPr sz="2656"/>
          </a:p>
        </p:txBody>
      </p:sp>
      <p:sp>
        <p:nvSpPr>
          <p:cNvPr id="3" name="object 3"/>
          <p:cNvSpPr txBox="1"/>
          <p:nvPr/>
        </p:nvSpPr>
        <p:spPr>
          <a:xfrm>
            <a:off x="507570" y="1118643"/>
            <a:ext cx="5337069" cy="3256136"/>
          </a:xfrm>
          <a:prstGeom prst="rect">
            <a:avLst/>
          </a:prstGeom>
        </p:spPr>
        <p:txBody>
          <a:bodyPr vert="horz" wrap="square" lIns="0" tIns="73775" rIns="0" bIns="0" rtlCol="0">
            <a:spAutoFit/>
          </a:bodyPr>
          <a:lstStyle/>
          <a:p>
            <a:pPr marL="413145" marR="310280" indent="-405135">
              <a:lnSpc>
                <a:spcPct val="80000"/>
              </a:lnSpc>
              <a:spcBef>
                <a:spcPts val="581"/>
              </a:spcBef>
              <a:buChar char="•"/>
              <a:tabLst>
                <a:tab pos="413145" algn="l"/>
              </a:tabLst>
            </a:pPr>
            <a:r>
              <a:rPr sz="2124" dirty="0">
                <a:latin typeface="Tahoma"/>
                <a:cs typeface="Tahoma"/>
              </a:rPr>
              <a:t>Many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issues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must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overcome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for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the </a:t>
            </a:r>
            <a:r>
              <a:rPr sz="2124" dirty="0">
                <a:latin typeface="Tahoma"/>
                <a:cs typeface="Tahoma"/>
              </a:rPr>
              <a:t>ERP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installation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declared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spc="-33" dirty="0">
                <a:latin typeface="Tahoma"/>
                <a:cs typeface="Tahoma"/>
              </a:rPr>
              <a:t>a </a:t>
            </a:r>
            <a:r>
              <a:rPr sz="2124" spc="-7" dirty="0">
                <a:latin typeface="Tahoma"/>
                <a:cs typeface="Tahoma"/>
              </a:rPr>
              <a:t>success:</a:t>
            </a:r>
            <a:endParaRPr sz="2124" dirty="0">
              <a:latin typeface="Tahoma"/>
              <a:cs typeface="Tahoma"/>
            </a:endParaRPr>
          </a:p>
          <a:p>
            <a:pPr marL="666091" lvl="1" indent="-354124">
              <a:buClr>
                <a:srgbClr val="E11738"/>
              </a:buClr>
              <a:buChar char="•"/>
              <a:tabLst>
                <a:tab pos="666091" algn="l"/>
              </a:tabLst>
            </a:pPr>
            <a:r>
              <a:rPr sz="1859" dirty="0">
                <a:latin typeface="Tahoma"/>
                <a:cs typeface="Tahoma"/>
              </a:rPr>
              <a:t>User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acceptance</a:t>
            </a:r>
            <a:endParaRPr sz="1859" dirty="0">
              <a:latin typeface="Tahoma"/>
              <a:cs typeface="Tahoma"/>
            </a:endParaRPr>
          </a:p>
          <a:p>
            <a:pPr marL="666091" marR="483127" lvl="1" indent="-354124">
              <a:lnSpc>
                <a:spcPts val="1786"/>
              </a:lnSpc>
              <a:spcBef>
                <a:spcPts val="432"/>
              </a:spcBef>
              <a:buClr>
                <a:srgbClr val="E11738"/>
              </a:buClr>
              <a:buChar char="•"/>
              <a:tabLst>
                <a:tab pos="666091" algn="l"/>
              </a:tabLst>
            </a:pPr>
            <a:r>
              <a:rPr sz="1859" dirty="0">
                <a:latin typeface="Tahoma"/>
                <a:cs typeface="Tahoma"/>
              </a:rPr>
              <a:t>Integration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with</a:t>
            </a:r>
            <a:r>
              <a:rPr sz="1859" spc="-5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legacy</a:t>
            </a:r>
            <a:r>
              <a:rPr sz="1859" spc="-46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systems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and</a:t>
            </a:r>
            <a:r>
              <a:rPr sz="1859" spc="-53" dirty="0">
                <a:latin typeface="Tahoma"/>
                <a:cs typeface="Tahoma"/>
              </a:rPr>
              <a:t> </a:t>
            </a:r>
            <a:r>
              <a:rPr sz="1859" spc="-17" dirty="0">
                <a:latin typeface="Tahoma"/>
                <a:cs typeface="Tahoma"/>
              </a:rPr>
              <a:t>the </a:t>
            </a:r>
            <a:r>
              <a:rPr sz="1859" dirty="0">
                <a:latin typeface="Tahoma"/>
                <a:cs typeface="Tahoma"/>
              </a:rPr>
              <a:t>supply</a:t>
            </a:r>
            <a:r>
              <a:rPr sz="1859" spc="-63" dirty="0">
                <a:latin typeface="Tahoma"/>
                <a:cs typeface="Tahoma"/>
              </a:rPr>
              <a:t> </a:t>
            </a:r>
            <a:r>
              <a:rPr sz="1859" spc="-13" dirty="0">
                <a:latin typeface="Tahoma"/>
                <a:cs typeface="Tahoma"/>
              </a:rPr>
              <a:t>chain</a:t>
            </a:r>
            <a:endParaRPr sz="1859" dirty="0">
              <a:latin typeface="Tahoma"/>
              <a:cs typeface="Tahoma"/>
            </a:endParaRPr>
          </a:p>
          <a:p>
            <a:pPr marL="666091" marR="145865" lvl="1" indent="-354124">
              <a:lnSpc>
                <a:spcPts val="1786"/>
              </a:lnSpc>
              <a:spcBef>
                <a:spcPts val="445"/>
              </a:spcBef>
              <a:buClr>
                <a:srgbClr val="E11738"/>
              </a:buClr>
              <a:buChar char="•"/>
              <a:tabLst>
                <a:tab pos="666091" algn="l"/>
              </a:tabLst>
            </a:pPr>
            <a:r>
              <a:rPr sz="1859" dirty="0">
                <a:latin typeface="Tahoma"/>
                <a:cs typeface="Tahoma"/>
              </a:rPr>
              <a:t>Upgrading</a:t>
            </a:r>
            <a:r>
              <a:rPr sz="1859" spc="-66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functionality</a:t>
            </a:r>
            <a:r>
              <a:rPr sz="1859" spc="-6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(and</a:t>
            </a:r>
            <a:r>
              <a:rPr sz="1859" spc="-7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complexity)</a:t>
            </a:r>
            <a:r>
              <a:rPr sz="1859" spc="-66" dirty="0">
                <a:latin typeface="Tahoma"/>
                <a:cs typeface="Tahoma"/>
              </a:rPr>
              <a:t> </a:t>
            </a:r>
            <a:r>
              <a:rPr sz="1859" spc="-17" dirty="0">
                <a:latin typeface="Tahoma"/>
                <a:cs typeface="Tahoma"/>
              </a:rPr>
              <a:t>of </a:t>
            </a:r>
            <a:r>
              <a:rPr sz="1859" dirty="0">
                <a:latin typeface="Tahoma"/>
                <a:cs typeface="Tahoma"/>
              </a:rPr>
              <a:t>ERP</a:t>
            </a:r>
            <a:r>
              <a:rPr sz="1859" spc="-43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modules</a:t>
            </a:r>
            <a:endParaRPr sz="1859" dirty="0">
              <a:latin typeface="Tahoma"/>
              <a:cs typeface="Tahoma"/>
            </a:endParaRPr>
          </a:p>
          <a:p>
            <a:pPr marL="666091" marR="83893" lvl="1" indent="-354124">
              <a:lnSpc>
                <a:spcPts val="1786"/>
              </a:lnSpc>
              <a:spcBef>
                <a:spcPts val="445"/>
              </a:spcBef>
              <a:buClr>
                <a:srgbClr val="E11738"/>
              </a:buClr>
              <a:buChar char="•"/>
              <a:tabLst>
                <a:tab pos="666091" algn="l"/>
              </a:tabLst>
            </a:pPr>
            <a:r>
              <a:rPr sz="1859" dirty="0">
                <a:latin typeface="Tahoma"/>
                <a:cs typeface="Tahoma"/>
              </a:rPr>
              <a:t>Reorganizing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work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life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of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users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and</a:t>
            </a:r>
            <a:r>
              <a:rPr sz="1859" spc="-46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decision makers</a:t>
            </a:r>
            <a:endParaRPr sz="1859" dirty="0">
              <a:latin typeface="Tahoma"/>
              <a:cs typeface="Tahoma"/>
            </a:endParaRPr>
          </a:p>
          <a:p>
            <a:pPr marL="666091" lvl="1" indent="-354124">
              <a:spcBef>
                <a:spcPts val="13"/>
              </a:spcBef>
              <a:buClr>
                <a:srgbClr val="E11738"/>
              </a:buClr>
              <a:buChar char="•"/>
              <a:tabLst>
                <a:tab pos="666091" algn="l"/>
              </a:tabLst>
            </a:pPr>
            <a:r>
              <a:rPr sz="1859" dirty="0">
                <a:latin typeface="Tahoma"/>
                <a:cs typeface="Tahoma"/>
              </a:rPr>
              <a:t>Expanded</a:t>
            </a:r>
            <a:r>
              <a:rPr sz="1859" spc="-46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reach</a:t>
            </a:r>
            <a:r>
              <a:rPr sz="1859" spc="-56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across</a:t>
            </a:r>
            <a:r>
              <a:rPr sz="1859" spc="-56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several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organizations</a:t>
            </a:r>
            <a:endParaRPr sz="1859" dirty="0">
              <a:latin typeface="Tahoma"/>
              <a:cs typeface="Tahoma"/>
            </a:endParaRPr>
          </a:p>
          <a:p>
            <a:pPr marL="666091" lvl="1" indent="-354124">
              <a:buClr>
                <a:srgbClr val="E11738"/>
              </a:buClr>
              <a:buChar char="•"/>
              <a:tabLst>
                <a:tab pos="666091" algn="l"/>
              </a:tabLst>
            </a:pPr>
            <a:r>
              <a:rPr sz="1859" dirty="0">
                <a:latin typeface="Tahoma"/>
                <a:cs typeface="Tahoma"/>
              </a:rPr>
              <a:t>Strategic</a:t>
            </a:r>
            <a:r>
              <a:rPr sz="1859" spc="-56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repositioning</a:t>
            </a:r>
            <a:r>
              <a:rPr sz="1859" spc="-46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of</a:t>
            </a:r>
            <a:r>
              <a:rPr sz="1859" spc="-66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the</a:t>
            </a:r>
            <a:r>
              <a:rPr sz="1859" spc="-56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company</a:t>
            </a:r>
            <a:endParaRPr sz="1859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solidFill>
                  <a:srgbClr val="DB2D4D"/>
                </a:solidFill>
              </a:rPr>
              <a:t>Depicting</a:t>
            </a:r>
            <a:r>
              <a:rPr sz="2900" spc="105" dirty="0">
                <a:solidFill>
                  <a:srgbClr val="DB2D4D"/>
                </a:solidFill>
              </a:rPr>
              <a:t> </a:t>
            </a:r>
            <a:r>
              <a:rPr sz="2900" dirty="0">
                <a:solidFill>
                  <a:srgbClr val="C11331"/>
                </a:solidFill>
              </a:rPr>
              <a:t>Systems</a:t>
            </a:r>
            <a:r>
              <a:rPr sz="2900" spc="-30" dirty="0">
                <a:solidFill>
                  <a:srgbClr val="C11331"/>
                </a:solidFill>
              </a:rPr>
              <a:t> </a:t>
            </a:r>
            <a:r>
              <a:rPr sz="2900" spc="-10" dirty="0">
                <a:solidFill>
                  <a:srgbClr val="C3132F"/>
                </a:solidFill>
              </a:rPr>
              <a:t>Graphically</a:t>
            </a:r>
            <a:endParaRPr sz="2900"/>
          </a:p>
        </p:txBody>
      </p:sp>
      <p:sp>
        <p:nvSpPr>
          <p:cNvPr id="6" name="object 6"/>
          <p:cNvSpPr txBox="1"/>
          <p:nvPr/>
        </p:nvSpPr>
        <p:spPr>
          <a:xfrm>
            <a:off x="830018" y="1289685"/>
            <a:ext cx="4147185" cy="120205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595"/>
              </a:spcBef>
              <a:buChar char="•"/>
              <a:tabLst>
                <a:tab pos="241935" algn="l"/>
              </a:tabLst>
            </a:pPr>
            <a:r>
              <a:rPr sz="2150" spc="-45" dirty="0">
                <a:latin typeface="Arial MT"/>
                <a:cs typeface="Arial MT"/>
              </a:rPr>
              <a:t>Context-</a:t>
            </a:r>
            <a:r>
              <a:rPr sz="2150" dirty="0">
                <a:latin typeface="Arial MT"/>
                <a:cs typeface="Arial MT"/>
              </a:rPr>
              <a:t>level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data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flow</a:t>
            </a:r>
            <a:r>
              <a:rPr sz="2150" spc="-3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diagrams</a:t>
            </a:r>
            <a:endParaRPr sz="215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495"/>
              </a:spcBef>
              <a:buChar char="•"/>
              <a:tabLst>
                <a:tab pos="243204" algn="l"/>
              </a:tabLst>
            </a:pPr>
            <a:r>
              <a:rPr sz="2150" spc="-30" dirty="0">
                <a:latin typeface="Arial MT"/>
                <a:cs typeface="Arial MT"/>
              </a:rPr>
              <a:t>Entity-</a:t>
            </a:r>
            <a:r>
              <a:rPr sz="2150" spc="-20" dirty="0">
                <a:latin typeface="Arial MT"/>
                <a:cs typeface="Arial MT"/>
              </a:rPr>
              <a:t>relationship</a:t>
            </a:r>
            <a:r>
              <a:rPr sz="215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model</a:t>
            </a:r>
            <a:endParaRPr sz="215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530"/>
              </a:spcBef>
              <a:buChar char="•"/>
              <a:tabLst>
                <a:tab pos="243204" algn="l"/>
              </a:tabLst>
            </a:pPr>
            <a:r>
              <a:rPr sz="2150" dirty="0">
                <a:latin typeface="Arial MT"/>
                <a:cs typeface="Arial MT"/>
              </a:rPr>
              <a:t>Use</a:t>
            </a:r>
            <a:r>
              <a:rPr sz="2150" spc="-10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case</a:t>
            </a:r>
            <a:r>
              <a:rPr sz="2150" spc="-9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modeling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7741" y="4341812"/>
            <a:ext cx="1701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45" dirty="0">
                <a:solidFill>
                  <a:srgbClr val="262626"/>
                </a:solidFill>
                <a:latin typeface="Arial MT"/>
                <a:cs typeface="Arial MT"/>
              </a:rPr>
              <a:t>2-</a:t>
            </a:r>
            <a:r>
              <a:rPr sz="700" spc="-9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700" spc="-75" dirty="0">
                <a:solidFill>
                  <a:srgbClr val="7E7E7E"/>
                </a:solidFill>
                <a:latin typeface="Arial MT"/>
                <a:cs typeface="Arial MT"/>
              </a:rPr>
              <a:t>r</a:t>
            </a:r>
            <a:r>
              <a:rPr sz="7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757575"/>
                </a:solidFill>
                <a:latin typeface="Arial MT"/>
                <a:cs typeface="Arial MT"/>
              </a:rPr>
              <a:t>•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452" y="273009"/>
            <a:ext cx="5313883" cy="376306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2390" b="1" spc="-20" dirty="0">
                <a:solidFill>
                  <a:srgbClr val="FF0000"/>
                </a:solidFill>
                <a:latin typeface="Tahoma"/>
                <a:cs typeface="Tahoma"/>
              </a:rPr>
              <a:t>Context-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Level</a:t>
            </a:r>
            <a:r>
              <a:rPr sz="2390" b="1" spc="-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sz="2390" b="1" spc="-1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Flow</a:t>
            </a:r>
            <a:r>
              <a:rPr sz="2390" b="1" spc="-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spc="-7" dirty="0">
                <a:solidFill>
                  <a:srgbClr val="FF0000"/>
                </a:solidFill>
                <a:latin typeface="Tahoma"/>
                <a:cs typeface="Tahoma"/>
              </a:rPr>
              <a:t>Diagrams</a:t>
            </a:r>
            <a:endParaRPr sz="239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628" y="981043"/>
            <a:ext cx="5169706" cy="3406023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6083" marR="176219" indent="-227651">
              <a:spcBef>
                <a:spcPts val="70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The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first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model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context-</a:t>
            </a:r>
            <a:r>
              <a:rPr sz="2124" dirty="0">
                <a:latin typeface="Tahoma"/>
                <a:cs typeface="Tahoma"/>
              </a:rPr>
              <a:t>level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spc="-13" dirty="0">
                <a:latin typeface="Tahoma"/>
                <a:cs typeface="Tahoma"/>
              </a:rPr>
              <a:t>data </a:t>
            </a:r>
            <a:r>
              <a:rPr sz="2124" dirty="0">
                <a:latin typeface="Tahoma"/>
                <a:cs typeface="Tahoma"/>
              </a:rPr>
              <a:t>flow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diagram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(also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called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an </a:t>
            </a:r>
            <a:r>
              <a:rPr sz="2124" dirty="0">
                <a:latin typeface="Tahoma"/>
                <a:cs typeface="Tahoma"/>
              </a:rPr>
              <a:t>environmental</a:t>
            </a:r>
            <a:r>
              <a:rPr sz="2124" spc="-146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model).</a:t>
            </a:r>
            <a:endParaRPr sz="2124">
              <a:latin typeface="Tahoma"/>
              <a:cs typeface="Tahoma"/>
            </a:endParaRPr>
          </a:p>
          <a:p>
            <a:pPr marL="236083" marR="150924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Data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flow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diagrams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focus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on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b="1" spc="-13" dirty="0">
                <a:latin typeface="Tahoma"/>
                <a:cs typeface="Tahoma"/>
              </a:rPr>
              <a:t>data </a:t>
            </a:r>
            <a:r>
              <a:rPr sz="2124" b="1" dirty="0">
                <a:latin typeface="Tahoma"/>
                <a:cs typeface="Tahoma"/>
              </a:rPr>
              <a:t>flowing</a:t>
            </a:r>
            <a:r>
              <a:rPr sz="2124" b="1" spc="-7" dirty="0"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into</a:t>
            </a:r>
            <a:r>
              <a:rPr sz="2124" spc="-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and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out</a:t>
            </a:r>
            <a:r>
              <a:rPr sz="2124" spc="-1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system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and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processing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data.</a:t>
            </a:r>
            <a:endParaRPr sz="2124">
              <a:latin typeface="Tahoma"/>
              <a:cs typeface="Tahoma"/>
            </a:endParaRPr>
          </a:p>
          <a:p>
            <a:pPr marL="236083" marR="3373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These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basic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components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every </a:t>
            </a:r>
            <a:r>
              <a:rPr sz="2124" dirty="0">
                <a:latin typeface="Tahoma"/>
                <a:cs typeface="Tahoma"/>
              </a:rPr>
              <a:t>computer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program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can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described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in </a:t>
            </a:r>
            <a:r>
              <a:rPr sz="2124" dirty="0">
                <a:latin typeface="Tahoma"/>
                <a:cs typeface="Tahoma"/>
              </a:rPr>
              <a:t>detail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and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used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analyze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system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for </a:t>
            </a:r>
            <a:r>
              <a:rPr sz="2124" dirty="0">
                <a:latin typeface="Tahoma"/>
                <a:cs typeface="Tahoma"/>
              </a:rPr>
              <a:t>accuracy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and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completeness.</a:t>
            </a:r>
            <a:endParaRPr sz="2124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23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452" y="70284"/>
            <a:ext cx="5315569" cy="376306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2390" b="1" spc="-7" dirty="0">
                <a:solidFill>
                  <a:srgbClr val="FF0000"/>
                </a:solidFill>
                <a:latin typeface="Tahoma"/>
                <a:cs typeface="Tahoma"/>
              </a:rPr>
              <a:t>Context-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Level</a:t>
            </a:r>
            <a:r>
              <a:rPr sz="2390" b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sz="2390" b="1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Flow</a:t>
            </a:r>
            <a:r>
              <a:rPr sz="2390" b="1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spc="-7" dirty="0">
                <a:solidFill>
                  <a:srgbClr val="FF0000"/>
                </a:solidFill>
                <a:latin typeface="Tahoma"/>
                <a:cs typeface="Tahoma"/>
              </a:rPr>
              <a:t>Diagrams</a:t>
            </a:r>
            <a:endParaRPr sz="239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628" y="547265"/>
            <a:ext cx="5595913" cy="3587384"/>
          </a:xfrm>
          <a:prstGeom prst="rect">
            <a:avLst/>
          </a:prstGeom>
        </p:spPr>
        <p:txBody>
          <a:bodyPr vert="horz" wrap="square" lIns="0" tIns="189285" rIns="0" bIns="0" rtlCol="0">
            <a:spAutoFit/>
          </a:bodyPr>
          <a:lstStyle/>
          <a:p>
            <a:pPr marL="235661" indent="-227230">
              <a:spcBef>
                <a:spcPts val="1490"/>
              </a:spcBef>
              <a:buChar char="•"/>
              <a:tabLst>
                <a:tab pos="235661" algn="l"/>
              </a:tabLst>
            </a:pPr>
            <a:r>
              <a:rPr sz="2390" dirty="0">
                <a:latin typeface="Tahoma"/>
                <a:cs typeface="Tahoma"/>
              </a:rPr>
              <a:t>Shows</a:t>
            </a:r>
            <a:r>
              <a:rPr sz="2390" spc="-30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the</a:t>
            </a:r>
            <a:r>
              <a:rPr sz="2390" spc="-30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scope</a:t>
            </a:r>
            <a:r>
              <a:rPr sz="2390" spc="-33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of</a:t>
            </a:r>
            <a:r>
              <a:rPr sz="2390" spc="-30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the</a:t>
            </a:r>
            <a:r>
              <a:rPr sz="2390" spc="-30" dirty="0">
                <a:latin typeface="Tahoma"/>
                <a:cs typeface="Tahoma"/>
              </a:rPr>
              <a:t> </a:t>
            </a:r>
            <a:r>
              <a:rPr sz="2390" spc="-7" dirty="0">
                <a:latin typeface="Tahoma"/>
                <a:cs typeface="Tahoma"/>
              </a:rPr>
              <a:t>system:</a:t>
            </a:r>
            <a:endParaRPr sz="2390">
              <a:latin typeface="Tahoma"/>
              <a:cs typeface="Tahoma"/>
            </a:endParaRPr>
          </a:p>
          <a:p>
            <a:pPr marL="502098" lvl="1" indent="-190131">
              <a:spcBef>
                <a:spcPts val="1271"/>
              </a:spcBef>
              <a:buClr>
                <a:srgbClr val="E11738"/>
              </a:buClr>
              <a:buChar char="•"/>
              <a:tabLst>
                <a:tab pos="502098" algn="l"/>
              </a:tabLst>
            </a:pPr>
            <a:r>
              <a:rPr sz="2124" dirty="0">
                <a:latin typeface="Tahoma"/>
                <a:cs typeface="Tahoma"/>
              </a:rPr>
              <a:t>What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included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system</a:t>
            </a:r>
            <a:endParaRPr sz="2124">
              <a:latin typeface="Tahoma"/>
              <a:cs typeface="Tahoma"/>
            </a:endParaRPr>
          </a:p>
          <a:p>
            <a:pPr marL="502098" marR="3373" lvl="1" indent="-190553">
              <a:lnSpc>
                <a:spcPct val="150100"/>
              </a:lnSpc>
              <a:spcBef>
                <a:spcPts val="508"/>
              </a:spcBef>
              <a:buClr>
                <a:srgbClr val="E11738"/>
              </a:buClr>
              <a:buChar char="•"/>
              <a:tabLst>
                <a:tab pos="502098" algn="l"/>
              </a:tabLst>
            </a:pPr>
            <a:r>
              <a:rPr sz="2124" dirty="0">
                <a:latin typeface="Tahoma"/>
                <a:cs typeface="Tahoma"/>
              </a:rPr>
              <a:t>The</a:t>
            </a:r>
            <a:r>
              <a:rPr sz="2124" spc="-5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external</a:t>
            </a:r>
            <a:r>
              <a:rPr sz="2124" spc="-6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entities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are</a:t>
            </a:r>
            <a:r>
              <a:rPr sz="2124" spc="-6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outside</a:t>
            </a:r>
            <a:r>
              <a:rPr sz="2124" spc="-4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5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scope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system</a:t>
            </a:r>
            <a:endParaRPr sz="2124">
              <a:latin typeface="Tahoma"/>
              <a:cs typeface="Tahoma"/>
            </a:endParaRPr>
          </a:p>
          <a:p>
            <a:pPr>
              <a:spcBef>
                <a:spcPts val="1544"/>
              </a:spcBef>
            </a:pPr>
            <a:endParaRPr sz="2124">
              <a:latin typeface="Tahoma"/>
              <a:cs typeface="Tahoma"/>
            </a:endParaRPr>
          </a:p>
          <a:p>
            <a:pPr marL="236083" marR="99070" indent="-227651">
              <a:lnSpc>
                <a:spcPct val="99100"/>
              </a:lnSpc>
              <a:spcBef>
                <a:spcPts val="3"/>
              </a:spcBef>
            </a:pPr>
            <a:r>
              <a:rPr sz="2124" dirty="0">
                <a:latin typeface="Tahoma"/>
                <a:cs typeface="Tahoma"/>
              </a:rPr>
              <a:t>The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13" dirty="0">
                <a:latin typeface="Tahoma"/>
                <a:cs typeface="Tahoma"/>
              </a:rPr>
              <a:t>context-</a:t>
            </a:r>
            <a:r>
              <a:rPr sz="2124" dirty="0">
                <a:latin typeface="Tahoma"/>
                <a:cs typeface="Tahoma"/>
              </a:rPr>
              <a:t>level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data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flow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diagram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serves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as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good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starting</a:t>
            </a:r>
            <a:r>
              <a:rPr sz="2124" u="sng" spc="-27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124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point</a:t>
            </a:r>
            <a:r>
              <a:rPr sz="2124" u="sng" spc="-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124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for</a:t>
            </a:r>
            <a:r>
              <a:rPr sz="2124" u="sng" spc="-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124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drawing</a:t>
            </a:r>
            <a:r>
              <a:rPr sz="2124" u="sng" spc="-33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124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the</a:t>
            </a:r>
            <a:r>
              <a:rPr sz="2124" u="sng" spc="-27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124" u="sng" spc="-17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use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case</a:t>
            </a:r>
            <a:r>
              <a:rPr sz="2124" u="sng" spc="-33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124" u="sng" spc="-7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diagram</a:t>
            </a:r>
            <a:endParaRPr sz="2124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452" y="70284"/>
            <a:ext cx="5315569" cy="376306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2390" b="1" spc="-7" dirty="0">
                <a:solidFill>
                  <a:srgbClr val="FF0000"/>
                </a:solidFill>
                <a:latin typeface="Tahoma"/>
                <a:cs typeface="Tahoma"/>
              </a:rPr>
              <a:t>Context-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Level</a:t>
            </a:r>
            <a:r>
              <a:rPr sz="2390" b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sz="2390" b="1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Flow</a:t>
            </a:r>
            <a:r>
              <a:rPr sz="2390" b="1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spc="-7" dirty="0">
                <a:solidFill>
                  <a:srgbClr val="FF0000"/>
                </a:solidFill>
                <a:latin typeface="Tahoma"/>
                <a:cs typeface="Tahoma"/>
              </a:rPr>
              <a:t>Diagrams</a:t>
            </a:r>
            <a:endParaRPr sz="239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628" y="721221"/>
            <a:ext cx="5609403" cy="2271738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5661" indent="-227230">
              <a:spcBef>
                <a:spcPts val="70"/>
              </a:spcBef>
              <a:buClr>
                <a:srgbClr val="FF0000"/>
              </a:buClr>
              <a:buFont typeface="Wingdings"/>
              <a:buChar char=""/>
              <a:tabLst>
                <a:tab pos="235661" algn="l"/>
              </a:tabLst>
            </a:pPr>
            <a:r>
              <a:rPr sz="2124" dirty="0">
                <a:latin typeface="Times New Roman"/>
                <a:cs typeface="Times New Roman"/>
              </a:rPr>
              <a:t>the</a:t>
            </a:r>
            <a:r>
              <a:rPr sz="2124" spc="-10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context-level</a:t>
            </a:r>
            <a:r>
              <a:rPr sz="2124" spc="-37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data</a:t>
            </a:r>
            <a:r>
              <a:rPr sz="2124" spc="-10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flow</a:t>
            </a:r>
            <a:r>
              <a:rPr sz="2124" spc="-27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diagram</a:t>
            </a:r>
            <a:r>
              <a:rPr sz="2124" spc="-37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employs</a:t>
            </a:r>
            <a:r>
              <a:rPr sz="2124" spc="-33" dirty="0">
                <a:latin typeface="Times New Roman"/>
                <a:cs typeface="Times New Roman"/>
              </a:rPr>
              <a:t> </a:t>
            </a:r>
            <a:r>
              <a:rPr sz="2124" spc="-13" dirty="0">
                <a:latin typeface="Times New Roman"/>
                <a:cs typeface="Times New Roman"/>
              </a:rPr>
              <a:t>only</a:t>
            </a:r>
            <a:endParaRPr sz="2124">
              <a:latin typeface="Times New Roman"/>
              <a:cs typeface="Times New Roman"/>
            </a:endParaRPr>
          </a:p>
          <a:p>
            <a:pPr marL="236083"/>
            <a:r>
              <a:rPr sz="2124" b="1" dirty="0">
                <a:solidFill>
                  <a:srgbClr val="FF0000"/>
                </a:solidFill>
                <a:latin typeface="Times New Roman"/>
                <a:cs typeface="Times New Roman"/>
              </a:rPr>
              <a:t>three</a:t>
            </a:r>
            <a:r>
              <a:rPr sz="2124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24" b="1" spc="-7" dirty="0">
                <a:solidFill>
                  <a:srgbClr val="FF0000"/>
                </a:solidFill>
                <a:latin typeface="Times New Roman"/>
                <a:cs typeface="Times New Roman"/>
              </a:rPr>
              <a:t>symbols</a:t>
            </a:r>
            <a:r>
              <a:rPr sz="2124" spc="-7" dirty="0">
                <a:latin typeface="Times New Roman"/>
                <a:cs typeface="Times New Roman"/>
              </a:rPr>
              <a:t>:</a:t>
            </a:r>
            <a:endParaRPr sz="2124">
              <a:latin typeface="Times New Roman"/>
              <a:cs typeface="Times New Roman"/>
            </a:endParaRPr>
          </a:p>
          <a:p>
            <a:pPr marL="389537" indent="-381105">
              <a:spcBef>
                <a:spcPts val="1324"/>
              </a:spcBef>
              <a:buAutoNum type="arabicParenBoth"/>
              <a:tabLst>
                <a:tab pos="389537" algn="l"/>
              </a:tabLst>
            </a:pPr>
            <a:r>
              <a:rPr sz="2124" dirty="0">
                <a:latin typeface="Times New Roman"/>
                <a:cs typeface="Times New Roman"/>
              </a:rPr>
              <a:t>a</a:t>
            </a:r>
            <a:r>
              <a:rPr sz="2124" spc="-17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rectangle</a:t>
            </a:r>
            <a:r>
              <a:rPr sz="2124" spc="-37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with</a:t>
            </a:r>
            <a:r>
              <a:rPr sz="2124" spc="-17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rounded</a:t>
            </a:r>
            <a:r>
              <a:rPr sz="2124" spc="-37" dirty="0">
                <a:latin typeface="Times New Roman"/>
                <a:cs typeface="Times New Roman"/>
              </a:rPr>
              <a:t> </a:t>
            </a:r>
            <a:r>
              <a:rPr sz="2124" spc="-7" dirty="0">
                <a:latin typeface="Times New Roman"/>
                <a:cs typeface="Times New Roman"/>
              </a:rPr>
              <a:t>corners,</a:t>
            </a:r>
            <a:endParaRPr sz="2124">
              <a:latin typeface="Times New Roman"/>
              <a:cs typeface="Times New Roman"/>
            </a:endParaRPr>
          </a:p>
          <a:p>
            <a:pPr marL="388694" indent="-380262">
              <a:spcBef>
                <a:spcPts val="1783"/>
              </a:spcBef>
              <a:buAutoNum type="arabicParenBoth"/>
              <a:tabLst>
                <a:tab pos="388694" algn="l"/>
              </a:tabLst>
            </a:pPr>
            <a:r>
              <a:rPr sz="2124" dirty="0">
                <a:latin typeface="Times New Roman"/>
                <a:cs typeface="Times New Roman"/>
              </a:rPr>
              <a:t>a</a:t>
            </a:r>
            <a:r>
              <a:rPr sz="2124" spc="-7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square</a:t>
            </a:r>
            <a:r>
              <a:rPr sz="2124" spc="-13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with</a:t>
            </a:r>
            <a:r>
              <a:rPr sz="2124" spc="-3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two</a:t>
            </a:r>
            <a:r>
              <a:rPr sz="2124" spc="-20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shaded</a:t>
            </a:r>
            <a:r>
              <a:rPr sz="2124" spc="-13" dirty="0">
                <a:latin typeface="Times New Roman"/>
                <a:cs typeface="Times New Roman"/>
              </a:rPr>
              <a:t> </a:t>
            </a:r>
            <a:r>
              <a:rPr sz="2124" dirty="0">
                <a:latin typeface="Times New Roman"/>
                <a:cs typeface="Times New Roman"/>
              </a:rPr>
              <a:t>edges,</a:t>
            </a:r>
            <a:r>
              <a:rPr sz="2124" spc="-27" dirty="0">
                <a:latin typeface="Times New Roman"/>
                <a:cs typeface="Times New Roman"/>
              </a:rPr>
              <a:t> </a:t>
            </a:r>
            <a:r>
              <a:rPr sz="2124" spc="-17" dirty="0">
                <a:latin typeface="Times New Roman"/>
                <a:cs typeface="Times New Roman"/>
              </a:rPr>
              <a:t>and</a:t>
            </a:r>
            <a:endParaRPr sz="2124">
              <a:latin typeface="Times New Roman"/>
              <a:cs typeface="Times New Roman"/>
            </a:endParaRPr>
          </a:p>
          <a:p>
            <a:pPr marL="389537" indent="-381105">
              <a:spcBef>
                <a:spcPts val="1786"/>
              </a:spcBef>
              <a:buAutoNum type="arabicParenBoth"/>
              <a:tabLst>
                <a:tab pos="389537" algn="l"/>
              </a:tabLst>
            </a:pPr>
            <a:r>
              <a:rPr sz="2124" dirty="0">
                <a:latin typeface="Times New Roman"/>
                <a:cs typeface="Times New Roman"/>
              </a:rPr>
              <a:t>an</a:t>
            </a:r>
            <a:r>
              <a:rPr sz="2124" spc="-17" dirty="0">
                <a:latin typeface="Times New Roman"/>
                <a:cs typeface="Times New Roman"/>
              </a:rPr>
              <a:t> </a:t>
            </a:r>
            <a:r>
              <a:rPr sz="2124" spc="-7" dirty="0">
                <a:latin typeface="Times New Roman"/>
                <a:cs typeface="Times New Roman"/>
              </a:rPr>
              <a:t>arrow</a:t>
            </a:r>
            <a:endParaRPr sz="212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3"/>
            <a:ext cx="3403177" cy="580296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459940">
              <a:spcBef>
                <a:spcPts val="63"/>
              </a:spcBef>
            </a:pPr>
            <a:r>
              <a:rPr sz="1859" dirty="0"/>
              <a:t>The</a:t>
            </a:r>
            <a:r>
              <a:rPr sz="1859" spc="-40" dirty="0"/>
              <a:t> </a:t>
            </a:r>
            <a:r>
              <a:rPr sz="1859" dirty="0"/>
              <a:t>Basic</a:t>
            </a:r>
            <a:r>
              <a:rPr sz="1859" spc="-30" dirty="0"/>
              <a:t> </a:t>
            </a:r>
            <a:r>
              <a:rPr sz="1859" dirty="0"/>
              <a:t>Symbols</a:t>
            </a:r>
            <a:r>
              <a:rPr sz="1859" spc="-23" dirty="0"/>
              <a:t> </a:t>
            </a:r>
            <a:r>
              <a:rPr sz="1859" dirty="0"/>
              <a:t>of</a:t>
            </a:r>
            <a:r>
              <a:rPr sz="1859" spc="-40" dirty="0"/>
              <a:t> </a:t>
            </a:r>
            <a:r>
              <a:rPr sz="1859" dirty="0"/>
              <a:t>a</a:t>
            </a:r>
            <a:r>
              <a:rPr sz="1859" spc="-33" dirty="0"/>
              <a:t> </a:t>
            </a:r>
            <a:r>
              <a:rPr sz="1859" dirty="0"/>
              <a:t>Data</a:t>
            </a:r>
            <a:r>
              <a:rPr sz="1859" spc="-17" dirty="0"/>
              <a:t> </a:t>
            </a:r>
            <a:r>
              <a:rPr sz="1859" dirty="0"/>
              <a:t>Flow</a:t>
            </a:r>
            <a:r>
              <a:rPr sz="1859" spc="-40" dirty="0"/>
              <a:t> </a:t>
            </a:r>
            <a:r>
              <a:rPr sz="1859" spc="-7" dirty="0"/>
              <a:t>Diagram</a:t>
            </a:r>
            <a:endParaRPr sz="1859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029" y="705165"/>
            <a:ext cx="4311527" cy="38309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451" y="424774"/>
            <a:ext cx="5729972" cy="3894362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6083" marR="165679" indent="-227651">
              <a:spcBef>
                <a:spcPts val="70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Processes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transform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incoming</a:t>
            </a:r>
            <a:r>
              <a:rPr sz="2124" b="1" spc="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data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spc="-13" dirty="0">
                <a:latin typeface="Tahoma"/>
                <a:cs typeface="Tahoma"/>
              </a:rPr>
              <a:t>into </a:t>
            </a:r>
            <a:r>
              <a:rPr sz="2124" b="1" dirty="0">
                <a:latin typeface="Tahoma"/>
                <a:cs typeface="Tahoma"/>
              </a:rPr>
              <a:t>outgoing</a:t>
            </a:r>
            <a:r>
              <a:rPr sz="2124" b="1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information,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and</a:t>
            </a:r>
            <a:r>
              <a:rPr sz="2124" spc="-5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4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context</a:t>
            </a:r>
            <a:r>
              <a:rPr sz="2124" spc="-5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level </a:t>
            </a:r>
            <a:r>
              <a:rPr sz="2124" dirty="0">
                <a:latin typeface="Tahoma"/>
                <a:cs typeface="Tahoma"/>
              </a:rPr>
              <a:t>has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only</a:t>
            </a:r>
            <a:r>
              <a:rPr sz="2124" b="1" spc="-1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one</a:t>
            </a:r>
            <a:r>
              <a:rPr sz="2124" b="1" spc="-20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process</a:t>
            </a:r>
            <a:r>
              <a:rPr sz="2124" dirty="0">
                <a:latin typeface="Tahoma"/>
                <a:cs typeface="Tahoma"/>
              </a:rPr>
              <a:t>,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representing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the </a:t>
            </a:r>
            <a:r>
              <a:rPr sz="2124" dirty="0">
                <a:latin typeface="Tahoma"/>
                <a:cs typeface="Tahoma"/>
              </a:rPr>
              <a:t>entire</a:t>
            </a:r>
            <a:r>
              <a:rPr sz="2124" spc="-7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system.</a:t>
            </a:r>
            <a:endParaRPr sz="2124">
              <a:latin typeface="Tahoma"/>
              <a:cs typeface="Tahoma"/>
            </a:endParaRPr>
          </a:p>
          <a:p>
            <a:pPr marL="236083" marR="43844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The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external</a:t>
            </a:r>
            <a:r>
              <a:rPr sz="2124" b="1" spc="-30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entity</a:t>
            </a:r>
            <a:r>
              <a:rPr sz="2124" b="1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represents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any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entity </a:t>
            </a:r>
            <a:r>
              <a:rPr sz="2124" dirty="0">
                <a:latin typeface="Tahoma"/>
                <a:cs typeface="Tahoma"/>
              </a:rPr>
              <a:t>that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supplies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or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receives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information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from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the </a:t>
            </a:r>
            <a:r>
              <a:rPr sz="2124" dirty="0">
                <a:latin typeface="Tahoma"/>
                <a:cs typeface="Tahoma"/>
              </a:rPr>
              <a:t>system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but</a:t>
            </a:r>
            <a:r>
              <a:rPr sz="2124" spc="-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not</a:t>
            </a:r>
            <a:r>
              <a:rPr sz="2124" b="1" spc="-1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a</a:t>
            </a:r>
            <a:r>
              <a:rPr sz="2124" b="1" spc="-1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part</a:t>
            </a:r>
            <a:r>
              <a:rPr sz="2124" b="1" spc="-2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of</a:t>
            </a:r>
            <a:r>
              <a:rPr sz="2124" b="1" spc="-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the</a:t>
            </a:r>
            <a:r>
              <a:rPr sz="2124" b="1" spc="-7" dirty="0">
                <a:latin typeface="Tahoma"/>
                <a:cs typeface="Tahoma"/>
              </a:rPr>
              <a:t> system</a:t>
            </a:r>
            <a:r>
              <a:rPr sz="2124" spc="-7" dirty="0">
                <a:latin typeface="Tahoma"/>
                <a:cs typeface="Tahoma"/>
              </a:rPr>
              <a:t>.</a:t>
            </a:r>
            <a:endParaRPr sz="2124">
              <a:latin typeface="Tahoma"/>
              <a:cs typeface="Tahoma"/>
            </a:endParaRPr>
          </a:p>
          <a:p>
            <a:pPr marL="236083" marR="3373" indent="-227651">
              <a:spcBef>
                <a:spcPts val="448"/>
              </a:spcBef>
              <a:buChar char="•"/>
              <a:tabLst>
                <a:tab pos="236083" algn="l"/>
              </a:tabLst>
            </a:pPr>
            <a:r>
              <a:rPr sz="1859" dirty="0">
                <a:latin typeface="Tahoma"/>
                <a:cs typeface="Tahoma"/>
              </a:rPr>
              <a:t>This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entity</a:t>
            </a:r>
            <a:r>
              <a:rPr sz="1859" b="1" spc="-23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may</a:t>
            </a:r>
            <a:r>
              <a:rPr sz="1859" b="1" spc="-20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be</a:t>
            </a:r>
            <a:r>
              <a:rPr sz="1859" b="1" spc="-2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person</a:t>
            </a:r>
            <a:r>
              <a:rPr sz="1859" dirty="0">
                <a:latin typeface="Tahoma"/>
                <a:cs typeface="Tahoma"/>
              </a:rPr>
              <a:t>,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group</a:t>
            </a:r>
            <a:r>
              <a:rPr sz="1859" b="1" spc="-27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of</a:t>
            </a:r>
            <a:r>
              <a:rPr sz="1859" b="1" spc="-30" dirty="0">
                <a:latin typeface="Tahoma"/>
                <a:cs typeface="Tahoma"/>
              </a:rPr>
              <a:t> </a:t>
            </a:r>
            <a:r>
              <a:rPr sz="1859" b="1" spc="-7" dirty="0">
                <a:latin typeface="Tahoma"/>
                <a:cs typeface="Tahoma"/>
              </a:rPr>
              <a:t>people</a:t>
            </a:r>
            <a:r>
              <a:rPr sz="1859" spc="-7" dirty="0">
                <a:latin typeface="Tahoma"/>
                <a:cs typeface="Tahoma"/>
              </a:rPr>
              <a:t>, </a:t>
            </a:r>
            <a:r>
              <a:rPr sz="1859" dirty="0">
                <a:latin typeface="Tahoma"/>
                <a:cs typeface="Tahoma"/>
              </a:rPr>
              <a:t>a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corporate</a:t>
            </a:r>
            <a:r>
              <a:rPr sz="1859" spc="-4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position</a:t>
            </a:r>
            <a:r>
              <a:rPr sz="1859" spc="-4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or</a:t>
            </a:r>
            <a:r>
              <a:rPr sz="1859" spc="-46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department,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or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b="1" spc="-13" dirty="0">
                <a:latin typeface="Tahoma"/>
                <a:cs typeface="Tahoma"/>
              </a:rPr>
              <a:t>other </a:t>
            </a:r>
            <a:r>
              <a:rPr sz="1859" b="1" spc="-7" dirty="0">
                <a:latin typeface="Tahoma"/>
                <a:cs typeface="Tahoma"/>
              </a:rPr>
              <a:t>systems.</a:t>
            </a:r>
            <a:endParaRPr sz="1859">
              <a:latin typeface="Tahoma"/>
              <a:cs typeface="Tahoma"/>
            </a:endParaRPr>
          </a:p>
          <a:p>
            <a:pPr marL="236083" marR="342742" indent="-227651">
              <a:spcBef>
                <a:spcPts val="448"/>
              </a:spcBef>
              <a:buChar char="•"/>
              <a:tabLst>
                <a:tab pos="236083" algn="l"/>
              </a:tabLst>
            </a:pPr>
            <a:r>
              <a:rPr sz="1859" dirty="0">
                <a:latin typeface="Tahoma"/>
                <a:cs typeface="Tahoma"/>
              </a:rPr>
              <a:t>The</a:t>
            </a:r>
            <a:r>
              <a:rPr sz="1859" spc="-5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lines</a:t>
            </a:r>
            <a:r>
              <a:rPr sz="1859" spc="-4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that</a:t>
            </a:r>
            <a:r>
              <a:rPr sz="1859" spc="-4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connect</a:t>
            </a:r>
            <a:r>
              <a:rPr sz="1859" spc="-5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the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external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entities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to</a:t>
            </a:r>
            <a:r>
              <a:rPr sz="1859" spc="-50" dirty="0">
                <a:latin typeface="Tahoma"/>
                <a:cs typeface="Tahoma"/>
              </a:rPr>
              <a:t> </a:t>
            </a:r>
            <a:r>
              <a:rPr sz="1859" spc="-17" dirty="0">
                <a:latin typeface="Tahoma"/>
                <a:cs typeface="Tahoma"/>
              </a:rPr>
              <a:t>the </a:t>
            </a:r>
            <a:r>
              <a:rPr sz="1859" dirty="0">
                <a:latin typeface="Tahoma"/>
                <a:cs typeface="Tahoma"/>
              </a:rPr>
              <a:t>process</a:t>
            </a:r>
            <a:r>
              <a:rPr sz="1859" spc="-5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are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called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data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flows,</a:t>
            </a:r>
            <a:r>
              <a:rPr sz="1859" spc="-4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and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they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represent</a:t>
            </a:r>
            <a:endParaRPr sz="1859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99" y="4287125"/>
            <a:ext cx="545089" cy="294192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z="1859" spc="-7" dirty="0">
                <a:latin typeface="Tahoma"/>
                <a:cs typeface="Tahoma"/>
              </a:rPr>
              <a:t>data.</a:t>
            </a:r>
            <a:endParaRPr sz="1859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30822" y="4363209"/>
            <a:ext cx="183804" cy="110296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z="664" spc="-13" dirty="0">
                <a:latin typeface="Tahoma"/>
                <a:cs typeface="Tahoma"/>
              </a:rPr>
              <a:t>2-</a:t>
            </a:r>
            <a:r>
              <a:rPr sz="664" spc="-23" dirty="0">
                <a:latin typeface="Tahoma"/>
                <a:cs typeface="Tahoma"/>
              </a:rPr>
              <a:t>27</a:t>
            </a:r>
            <a:endParaRPr sz="664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4781678" cy="468893"/>
          </a:xfrm>
          <a:prstGeom prst="rect">
            <a:avLst/>
          </a:prstGeom>
        </p:spPr>
        <p:txBody>
          <a:bodyPr vert="horz" wrap="square" lIns="0" tIns="59609" rIns="0" bIns="0" rtlCol="0">
            <a:spAutoFit/>
          </a:bodyPr>
          <a:lstStyle/>
          <a:p>
            <a:pPr marL="643326">
              <a:spcBef>
                <a:spcPts val="63"/>
              </a:spcBef>
            </a:pPr>
            <a:r>
              <a:rPr sz="2656" dirty="0"/>
              <a:t>Airline</a:t>
            </a:r>
            <a:r>
              <a:rPr sz="2656" spc="-96" dirty="0"/>
              <a:t> </a:t>
            </a:r>
            <a:r>
              <a:rPr sz="2656" dirty="0"/>
              <a:t>Reservation</a:t>
            </a:r>
            <a:r>
              <a:rPr sz="2656" spc="-73" dirty="0"/>
              <a:t> </a:t>
            </a:r>
            <a:r>
              <a:rPr sz="2656" spc="-7" dirty="0"/>
              <a:t>System</a:t>
            </a:r>
            <a:endParaRPr sz="2656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3635"/>
            <a:ext cx="5819682" cy="35411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03461" y="3154941"/>
            <a:ext cx="1340591" cy="744099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1195" dirty="0">
                <a:latin typeface="Arial MT"/>
                <a:cs typeface="Arial MT"/>
              </a:rPr>
              <a:t>A</a:t>
            </a:r>
            <a:r>
              <a:rPr sz="1195" spc="-70" dirty="0">
                <a:latin typeface="Arial MT"/>
                <a:cs typeface="Arial MT"/>
              </a:rPr>
              <a:t> </a:t>
            </a:r>
            <a:r>
              <a:rPr sz="1195" spc="-7" dirty="0">
                <a:latin typeface="Arial MT"/>
                <a:cs typeface="Arial MT"/>
              </a:rPr>
              <a:t>context-</a:t>
            </a:r>
            <a:r>
              <a:rPr sz="1195" dirty="0">
                <a:latin typeface="Arial MT"/>
                <a:cs typeface="Arial MT"/>
              </a:rPr>
              <a:t>level</a:t>
            </a:r>
            <a:r>
              <a:rPr sz="1195" spc="23" dirty="0">
                <a:latin typeface="Arial MT"/>
                <a:cs typeface="Arial MT"/>
              </a:rPr>
              <a:t> </a:t>
            </a:r>
            <a:r>
              <a:rPr sz="1195" spc="-13" dirty="0">
                <a:latin typeface="Arial MT"/>
                <a:cs typeface="Arial MT"/>
              </a:rPr>
              <a:t>data</a:t>
            </a:r>
            <a:endParaRPr sz="1195">
              <a:latin typeface="Arial MT"/>
              <a:cs typeface="Arial MT"/>
            </a:endParaRPr>
          </a:p>
          <a:p>
            <a:pPr marL="8432"/>
            <a:r>
              <a:rPr sz="1195" dirty="0">
                <a:latin typeface="Arial MT"/>
                <a:cs typeface="Arial MT"/>
              </a:rPr>
              <a:t>flow</a:t>
            </a:r>
            <a:r>
              <a:rPr sz="1195" spc="-17" dirty="0">
                <a:latin typeface="Arial MT"/>
                <a:cs typeface="Arial MT"/>
              </a:rPr>
              <a:t> </a:t>
            </a:r>
            <a:r>
              <a:rPr sz="1195" spc="-7" dirty="0">
                <a:latin typeface="Arial MT"/>
                <a:cs typeface="Arial MT"/>
              </a:rPr>
              <a:t>diagram</a:t>
            </a:r>
            <a:endParaRPr sz="1195">
              <a:latin typeface="Arial MT"/>
              <a:cs typeface="Arial MT"/>
            </a:endParaRPr>
          </a:p>
          <a:p>
            <a:pPr marL="8432" marR="56070"/>
            <a:r>
              <a:rPr sz="1195" dirty="0">
                <a:latin typeface="Arial MT"/>
                <a:cs typeface="Arial MT"/>
              </a:rPr>
              <a:t>for</a:t>
            </a:r>
            <a:r>
              <a:rPr sz="1195" spc="-3" dirty="0">
                <a:latin typeface="Arial MT"/>
                <a:cs typeface="Arial MT"/>
              </a:rPr>
              <a:t> </a:t>
            </a:r>
            <a:r>
              <a:rPr sz="1195" dirty="0">
                <a:latin typeface="Arial MT"/>
                <a:cs typeface="Arial MT"/>
              </a:rPr>
              <a:t>an</a:t>
            </a:r>
            <a:r>
              <a:rPr sz="1195" spc="-7" dirty="0">
                <a:latin typeface="Arial MT"/>
                <a:cs typeface="Arial MT"/>
              </a:rPr>
              <a:t> airline </a:t>
            </a:r>
            <a:r>
              <a:rPr sz="1195" dirty="0">
                <a:latin typeface="Arial MT"/>
                <a:cs typeface="Arial MT"/>
              </a:rPr>
              <a:t>reservation</a:t>
            </a:r>
            <a:r>
              <a:rPr sz="1195" spc="-37" dirty="0">
                <a:latin typeface="Arial MT"/>
                <a:cs typeface="Arial MT"/>
              </a:rPr>
              <a:t> </a:t>
            </a:r>
            <a:r>
              <a:rPr sz="1195" spc="-7" dirty="0">
                <a:latin typeface="Arial MT"/>
                <a:cs typeface="Arial MT"/>
              </a:rPr>
              <a:t>system</a:t>
            </a:r>
            <a:endParaRPr sz="1195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26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6982" y="2902000"/>
            <a:ext cx="1525660" cy="560203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 marR="3373">
              <a:spcBef>
                <a:spcPts val="66"/>
              </a:spcBef>
            </a:pPr>
            <a:r>
              <a:rPr sz="1195" dirty="0">
                <a:latin typeface="Arial MT"/>
                <a:cs typeface="Arial MT"/>
              </a:rPr>
              <a:t>The</a:t>
            </a:r>
            <a:r>
              <a:rPr sz="1195" spc="-37" dirty="0">
                <a:latin typeface="Arial MT"/>
                <a:cs typeface="Arial MT"/>
              </a:rPr>
              <a:t> </a:t>
            </a:r>
            <a:r>
              <a:rPr sz="1195" dirty="0">
                <a:latin typeface="Arial MT"/>
                <a:cs typeface="Arial MT"/>
              </a:rPr>
              <a:t>passenger</a:t>
            </a:r>
            <a:r>
              <a:rPr sz="1195" spc="-7" dirty="0">
                <a:latin typeface="Arial MT"/>
                <a:cs typeface="Arial MT"/>
              </a:rPr>
              <a:t> </a:t>
            </a:r>
            <a:r>
              <a:rPr sz="1195" spc="-17" dirty="0">
                <a:latin typeface="Arial MT"/>
                <a:cs typeface="Arial MT"/>
              </a:rPr>
              <a:t>(an </a:t>
            </a:r>
            <a:r>
              <a:rPr sz="1195" dirty="0">
                <a:latin typeface="Arial MT"/>
                <a:cs typeface="Arial MT"/>
              </a:rPr>
              <a:t>entity)</a:t>
            </a:r>
            <a:r>
              <a:rPr sz="1195" spc="-3" dirty="0">
                <a:latin typeface="Arial MT"/>
                <a:cs typeface="Arial MT"/>
              </a:rPr>
              <a:t> </a:t>
            </a:r>
            <a:r>
              <a:rPr sz="1195" dirty="0">
                <a:latin typeface="Arial MT"/>
                <a:cs typeface="Arial MT"/>
              </a:rPr>
              <a:t>initiates</a:t>
            </a:r>
            <a:r>
              <a:rPr sz="1195" spc="-10" dirty="0">
                <a:latin typeface="Arial MT"/>
                <a:cs typeface="Arial MT"/>
              </a:rPr>
              <a:t> </a:t>
            </a:r>
            <a:r>
              <a:rPr sz="1195" dirty="0">
                <a:latin typeface="Arial MT"/>
                <a:cs typeface="Arial MT"/>
              </a:rPr>
              <a:t>a</a:t>
            </a:r>
            <a:r>
              <a:rPr sz="1195" spc="-20" dirty="0">
                <a:latin typeface="Arial MT"/>
                <a:cs typeface="Arial MT"/>
              </a:rPr>
              <a:t> </a:t>
            </a:r>
            <a:r>
              <a:rPr sz="1195" spc="-7" dirty="0">
                <a:latin typeface="Arial MT"/>
                <a:cs typeface="Arial MT"/>
              </a:rPr>
              <a:t>travel </a:t>
            </a:r>
            <a:r>
              <a:rPr sz="1195" dirty="0">
                <a:latin typeface="Arial MT"/>
                <a:cs typeface="Arial MT"/>
              </a:rPr>
              <a:t>request</a:t>
            </a:r>
            <a:r>
              <a:rPr sz="1195" spc="-13" dirty="0">
                <a:latin typeface="Arial MT"/>
                <a:cs typeface="Arial MT"/>
              </a:rPr>
              <a:t> </a:t>
            </a:r>
            <a:r>
              <a:rPr sz="1195" dirty="0">
                <a:latin typeface="Arial MT"/>
                <a:cs typeface="Arial MT"/>
              </a:rPr>
              <a:t>(data</a:t>
            </a:r>
            <a:r>
              <a:rPr sz="1195" spc="-17" dirty="0">
                <a:latin typeface="Arial MT"/>
                <a:cs typeface="Arial MT"/>
              </a:rPr>
              <a:t> </a:t>
            </a:r>
            <a:r>
              <a:rPr sz="1195" spc="-7" dirty="0">
                <a:latin typeface="Arial MT"/>
                <a:cs typeface="Arial MT"/>
              </a:rPr>
              <a:t>flow).</a:t>
            </a:r>
            <a:endParaRPr sz="119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805" y="171832"/>
            <a:ext cx="5587650" cy="462484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b="1" spc="-7" dirty="0">
                <a:latin typeface="Tahoma"/>
                <a:cs typeface="Tahoma"/>
              </a:rPr>
              <a:t>Entity-</a:t>
            </a:r>
            <a:r>
              <a:rPr b="1" dirty="0">
                <a:latin typeface="Tahoma"/>
                <a:cs typeface="Tahoma"/>
              </a:rPr>
              <a:t>Relationship</a:t>
            </a:r>
            <a:r>
              <a:rPr b="1" spc="-50" dirty="0">
                <a:latin typeface="Tahoma"/>
                <a:cs typeface="Tahoma"/>
              </a:rPr>
              <a:t> </a:t>
            </a:r>
            <a:r>
              <a:rPr b="1" spc="-7" dirty="0">
                <a:latin typeface="Tahoma"/>
                <a:cs typeface="Tahoma"/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145" y="627127"/>
            <a:ext cx="5822717" cy="3822932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6083" marR="222171" indent="-227651">
              <a:spcBef>
                <a:spcPts val="70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Another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way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systems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analyst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can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show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the </a:t>
            </a:r>
            <a:r>
              <a:rPr sz="2124" b="1" dirty="0">
                <a:latin typeface="Tahoma"/>
                <a:cs typeface="Tahoma"/>
              </a:rPr>
              <a:t>scope</a:t>
            </a:r>
            <a:r>
              <a:rPr sz="2124" b="1" spc="-1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of</a:t>
            </a:r>
            <a:r>
              <a:rPr sz="2124" b="1" spc="-1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the</a:t>
            </a:r>
            <a:r>
              <a:rPr sz="2124" b="1" spc="-3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system</a:t>
            </a:r>
            <a:r>
              <a:rPr sz="2124" b="1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and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define</a:t>
            </a:r>
            <a:r>
              <a:rPr sz="2124" spc="-7" dirty="0">
                <a:latin typeface="Tahoma"/>
                <a:cs typeface="Tahoma"/>
              </a:rPr>
              <a:t> proper </a:t>
            </a:r>
            <a:r>
              <a:rPr sz="2124" b="1" dirty="0">
                <a:latin typeface="Tahoma"/>
                <a:cs typeface="Tahoma"/>
              </a:rPr>
              <a:t>system</a:t>
            </a:r>
            <a:r>
              <a:rPr sz="2124" b="1" spc="-2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boundaries</a:t>
            </a:r>
            <a:r>
              <a:rPr sz="2124" b="1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use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entity- </a:t>
            </a:r>
            <a:r>
              <a:rPr sz="2124" dirty="0">
                <a:latin typeface="Tahoma"/>
                <a:cs typeface="Tahoma"/>
              </a:rPr>
              <a:t>relationship</a:t>
            </a:r>
            <a:r>
              <a:rPr sz="2124" spc="-11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model.</a:t>
            </a:r>
            <a:endParaRPr sz="2124">
              <a:latin typeface="Tahoma"/>
              <a:cs typeface="Tahoma"/>
            </a:endParaRPr>
          </a:p>
          <a:p>
            <a:pPr marL="236083" marR="3373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The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elements</a:t>
            </a:r>
            <a:r>
              <a:rPr sz="2124" b="1" spc="-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that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make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up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organizational </a:t>
            </a:r>
            <a:r>
              <a:rPr sz="2124" dirty="0">
                <a:latin typeface="Tahoma"/>
                <a:cs typeface="Tahoma"/>
              </a:rPr>
              <a:t>system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can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referred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as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b="1" spc="-7" dirty="0">
                <a:solidFill>
                  <a:srgbClr val="FF0000"/>
                </a:solidFill>
                <a:latin typeface="Tahoma"/>
                <a:cs typeface="Tahoma"/>
              </a:rPr>
              <a:t>entities</a:t>
            </a:r>
            <a:r>
              <a:rPr sz="2124" spc="-7" dirty="0">
                <a:latin typeface="Tahoma"/>
                <a:cs typeface="Tahoma"/>
              </a:rPr>
              <a:t>.</a:t>
            </a:r>
            <a:endParaRPr sz="2124">
              <a:latin typeface="Tahoma"/>
              <a:cs typeface="Tahoma"/>
            </a:endParaRPr>
          </a:p>
          <a:p>
            <a:pPr marL="236083" marR="583883" indent="-227651">
              <a:spcBef>
                <a:spcPts val="448"/>
              </a:spcBef>
              <a:buChar char="•"/>
              <a:tabLst>
                <a:tab pos="236083" algn="l"/>
              </a:tabLst>
            </a:pPr>
            <a:r>
              <a:rPr sz="1859" dirty="0">
                <a:latin typeface="Tahoma"/>
                <a:cs typeface="Tahoma"/>
              </a:rPr>
              <a:t>An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entity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may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be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person,</a:t>
            </a:r>
            <a:r>
              <a:rPr sz="1859" spc="-2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place,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thing,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or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spc="-17" dirty="0">
                <a:latin typeface="Tahoma"/>
                <a:cs typeface="Tahoma"/>
              </a:rPr>
              <a:t>an </a:t>
            </a:r>
            <a:r>
              <a:rPr sz="1859" spc="-7" dirty="0">
                <a:latin typeface="Tahoma"/>
                <a:cs typeface="Tahoma"/>
              </a:rPr>
              <a:t>event.</a:t>
            </a:r>
            <a:endParaRPr sz="1859">
              <a:latin typeface="Tahoma"/>
              <a:cs typeface="Tahoma"/>
            </a:endParaRPr>
          </a:p>
          <a:p>
            <a:pPr marL="235661" indent="-227230">
              <a:spcBef>
                <a:spcPts val="448"/>
              </a:spcBef>
              <a:buChar char="•"/>
              <a:tabLst>
                <a:tab pos="235661" algn="l"/>
              </a:tabLst>
            </a:pPr>
            <a:r>
              <a:rPr sz="1859" dirty="0">
                <a:latin typeface="Tahoma"/>
                <a:cs typeface="Tahoma"/>
              </a:rPr>
              <a:t>Focus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is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on</a:t>
            </a:r>
            <a:r>
              <a:rPr sz="1859" spc="-3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the</a:t>
            </a:r>
            <a:r>
              <a:rPr sz="1859" spc="-23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entities</a:t>
            </a:r>
            <a:r>
              <a:rPr sz="1859" b="1" spc="2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and</a:t>
            </a:r>
            <a:r>
              <a:rPr sz="1859" spc="-2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their</a:t>
            </a:r>
            <a:r>
              <a:rPr sz="1859" spc="-27" dirty="0">
                <a:latin typeface="Tahoma"/>
                <a:cs typeface="Tahoma"/>
              </a:rPr>
              <a:t> </a:t>
            </a:r>
            <a:r>
              <a:rPr sz="1859" b="1" spc="-7" dirty="0">
                <a:latin typeface="Tahoma"/>
                <a:cs typeface="Tahoma"/>
              </a:rPr>
              <a:t>relationships</a:t>
            </a:r>
            <a:endParaRPr sz="1859">
              <a:latin typeface="Tahoma"/>
              <a:cs typeface="Tahoma"/>
            </a:endParaRPr>
          </a:p>
          <a:p>
            <a:pPr marL="236083"/>
            <a:r>
              <a:rPr sz="1859" dirty="0">
                <a:latin typeface="Tahoma"/>
                <a:cs typeface="Tahoma"/>
              </a:rPr>
              <a:t>within</a:t>
            </a:r>
            <a:r>
              <a:rPr sz="1859" spc="-6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the</a:t>
            </a:r>
            <a:r>
              <a:rPr sz="1859" spc="-66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organizational</a:t>
            </a:r>
            <a:r>
              <a:rPr sz="1859" spc="-40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system</a:t>
            </a:r>
            <a:endParaRPr sz="1859">
              <a:latin typeface="Tahoma"/>
              <a:cs typeface="Tahoma"/>
            </a:endParaRPr>
          </a:p>
          <a:p>
            <a:pPr marL="236083" marR="109188" indent="-227651">
              <a:spcBef>
                <a:spcPts val="385"/>
              </a:spcBef>
              <a:buChar char="•"/>
              <a:tabLst>
                <a:tab pos="236083" algn="l"/>
              </a:tabLst>
            </a:pPr>
            <a:r>
              <a:rPr sz="1593" dirty="0">
                <a:latin typeface="Tahoma"/>
                <a:cs typeface="Tahoma"/>
              </a:rPr>
              <a:t>A</a:t>
            </a:r>
            <a:r>
              <a:rPr sz="1593" spc="-30" dirty="0">
                <a:latin typeface="Tahoma"/>
                <a:cs typeface="Tahoma"/>
              </a:rPr>
              <a:t> </a:t>
            </a:r>
            <a:r>
              <a:rPr sz="1593" dirty="0">
                <a:latin typeface="Tahoma"/>
                <a:cs typeface="Tahoma"/>
              </a:rPr>
              <a:t>relationship</a:t>
            </a:r>
            <a:r>
              <a:rPr sz="1593" spc="-37" dirty="0">
                <a:latin typeface="Tahoma"/>
                <a:cs typeface="Tahoma"/>
              </a:rPr>
              <a:t> </a:t>
            </a:r>
            <a:r>
              <a:rPr sz="1593" dirty="0">
                <a:latin typeface="Tahoma"/>
                <a:cs typeface="Tahoma"/>
              </a:rPr>
              <a:t>is</a:t>
            </a:r>
            <a:r>
              <a:rPr sz="1593" spc="-37" dirty="0">
                <a:latin typeface="Tahoma"/>
                <a:cs typeface="Tahoma"/>
              </a:rPr>
              <a:t> </a:t>
            </a:r>
            <a:r>
              <a:rPr sz="1593" dirty="0">
                <a:latin typeface="Tahoma"/>
                <a:cs typeface="Tahoma"/>
              </a:rPr>
              <a:t>the</a:t>
            </a:r>
            <a:r>
              <a:rPr sz="1593" spc="-27" dirty="0">
                <a:latin typeface="Tahoma"/>
                <a:cs typeface="Tahoma"/>
              </a:rPr>
              <a:t> </a:t>
            </a:r>
            <a:r>
              <a:rPr sz="1593" dirty="0">
                <a:latin typeface="Tahoma"/>
                <a:cs typeface="Tahoma"/>
              </a:rPr>
              <a:t>association</a:t>
            </a:r>
            <a:r>
              <a:rPr sz="1593" spc="-27" dirty="0">
                <a:latin typeface="Tahoma"/>
                <a:cs typeface="Tahoma"/>
              </a:rPr>
              <a:t> </a:t>
            </a:r>
            <a:r>
              <a:rPr sz="1593" dirty="0">
                <a:latin typeface="Tahoma"/>
                <a:cs typeface="Tahoma"/>
              </a:rPr>
              <a:t>that</a:t>
            </a:r>
            <a:r>
              <a:rPr sz="1593" spc="-37" dirty="0">
                <a:latin typeface="Tahoma"/>
                <a:cs typeface="Tahoma"/>
              </a:rPr>
              <a:t> </a:t>
            </a:r>
            <a:r>
              <a:rPr sz="1593" dirty="0">
                <a:latin typeface="Tahoma"/>
                <a:cs typeface="Tahoma"/>
              </a:rPr>
              <a:t>describes</a:t>
            </a:r>
            <a:r>
              <a:rPr sz="1593" spc="-27" dirty="0">
                <a:latin typeface="Tahoma"/>
                <a:cs typeface="Tahoma"/>
              </a:rPr>
              <a:t> </a:t>
            </a:r>
            <a:r>
              <a:rPr sz="1593" dirty="0">
                <a:latin typeface="Tahoma"/>
                <a:cs typeface="Tahoma"/>
              </a:rPr>
              <a:t>the</a:t>
            </a:r>
            <a:r>
              <a:rPr sz="1593" spc="-37" dirty="0">
                <a:latin typeface="Tahoma"/>
                <a:cs typeface="Tahoma"/>
              </a:rPr>
              <a:t> </a:t>
            </a:r>
            <a:r>
              <a:rPr sz="1593" spc="-7" dirty="0">
                <a:latin typeface="Tahoma"/>
                <a:cs typeface="Tahoma"/>
              </a:rPr>
              <a:t>interaction </a:t>
            </a:r>
            <a:r>
              <a:rPr sz="1593" dirty="0">
                <a:latin typeface="Tahoma"/>
                <a:cs typeface="Tahoma"/>
              </a:rPr>
              <a:t>among</a:t>
            </a:r>
            <a:r>
              <a:rPr sz="1593" spc="-13" dirty="0">
                <a:latin typeface="Tahoma"/>
                <a:cs typeface="Tahoma"/>
              </a:rPr>
              <a:t> </a:t>
            </a:r>
            <a:r>
              <a:rPr sz="1593" dirty="0">
                <a:latin typeface="Tahoma"/>
                <a:cs typeface="Tahoma"/>
              </a:rPr>
              <a:t>the</a:t>
            </a:r>
            <a:r>
              <a:rPr sz="1593" spc="-10" dirty="0">
                <a:latin typeface="Tahoma"/>
                <a:cs typeface="Tahoma"/>
              </a:rPr>
              <a:t> </a:t>
            </a:r>
            <a:r>
              <a:rPr sz="1593" spc="-7" dirty="0">
                <a:latin typeface="Tahoma"/>
                <a:cs typeface="Tahoma"/>
              </a:rPr>
              <a:t>entities.</a:t>
            </a:r>
            <a:endParaRPr sz="1593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29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3403177" cy="46291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459940">
              <a:spcBef>
                <a:spcPts val="70"/>
              </a:spcBef>
            </a:pPr>
            <a:r>
              <a:rPr b="1" spc="-7" dirty="0">
                <a:latin typeface="Tahoma"/>
                <a:cs typeface="Tahoma"/>
              </a:rPr>
              <a:t>Relationships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217" y="879866"/>
            <a:ext cx="4926039" cy="2904091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6083" marR="127316" indent="-227651">
              <a:spcBef>
                <a:spcPts val="70"/>
              </a:spcBef>
              <a:buChar char="•"/>
              <a:tabLst>
                <a:tab pos="236083" algn="l"/>
              </a:tabLst>
            </a:pPr>
            <a:r>
              <a:rPr sz="2921" dirty="0">
                <a:latin typeface="Tahoma"/>
                <a:cs typeface="Tahoma"/>
              </a:rPr>
              <a:t>Relationships</a:t>
            </a:r>
            <a:r>
              <a:rPr sz="2921" spc="-30" dirty="0">
                <a:latin typeface="Tahoma"/>
                <a:cs typeface="Tahoma"/>
              </a:rPr>
              <a:t> </a:t>
            </a:r>
            <a:r>
              <a:rPr sz="2921" dirty="0">
                <a:latin typeface="Tahoma"/>
                <a:cs typeface="Tahoma"/>
              </a:rPr>
              <a:t>show</a:t>
            </a:r>
            <a:r>
              <a:rPr sz="2921" spc="-23" dirty="0">
                <a:latin typeface="Tahoma"/>
                <a:cs typeface="Tahoma"/>
              </a:rPr>
              <a:t> </a:t>
            </a:r>
            <a:r>
              <a:rPr sz="2921" dirty="0">
                <a:latin typeface="Tahoma"/>
                <a:cs typeface="Tahoma"/>
              </a:rPr>
              <a:t>how</a:t>
            </a:r>
            <a:r>
              <a:rPr sz="2921" spc="-27" dirty="0">
                <a:latin typeface="Tahoma"/>
                <a:cs typeface="Tahoma"/>
              </a:rPr>
              <a:t> </a:t>
            </a:r>
            <a:r>
              <a:rPr sz="2921" spc="-17" dirty="0">
                <a:latin typeface="Tahoma"/>
                <a:cs typeface="Tahoma"/>
              </a:rPr>
              <a:t>the </a:t>
            </a:r>
            <a:r>
              <a:rPr sz="2921" dirty="0">
                <a:latin typeface="Tahoma"/>
                <a:cs typeface="Tahoma"/>
              </a:rPr>
              <a:t>entities</a:t>
            </a:r>
            <a:r>
              <a:rPr sz="2921" spc="-43" dirty="0">
                <a:latin typeface="Tahoma"/>
                <a:cs typeface="Tahoma"/>
              </a:rPr>
              <a:t> </a:t>
            </a:r>
            <a:r>
              <a:rPr sz="2921" dirty="0">
                <a:latin typeface="Tahoma"/>
                <a:cs typeface="Tahoma"/>
              </a:rPr>
              <a:t>are</a:t>
            </a:r>
            <a:r>
              <a:rPr sz="2921" spc="-10" dirty="0">
                <a:latin typeface="Tahoma"/>
                <a:cs typeface="Tahoma"/>
              </a:rPr>
              <a:t> </a:t>
            </a:r>
            <a:r>
              <a:rPr sz="2921" spc="-7" dirty="0">
                <a:latin typeface="Tahoma"/>
                <a:cs typeface="Tahoma"/>
              </a:rPr>
              <a:t>connected</a:t>
            </a:r>
            <a:endParaRPr sz="2921">
              <a:latin typeface="Tahoma"/>
              <a:cs typeface="Tahoma"/>
            </a:endParaRPr>
          </a:p>
          <a:p>
            <a:pPr marL="235661" indent="-227230">
              <a:spcBef>
                <a:spcPts val="704"/>
              </a:spcBef>
              <a:buChar char="•"/>
              <a:tabLst>
                <a:tab pos="235661" algn="l"/>
              </a:tabLst>
            </a:pPr>
            <a:r>
              <a:rPr sz="2921" dirty="0">
                <a:latin typeface="Tahoma"/>
                <a:cs typeface="Tahoma"/>
              </a:rPr>
              <a:t>Three</a:t>
            </a:r>
            <a:r>
              <a:rPr sz="2921" spc="-13" dirty="0">
                <a:latin typeface="Tahoma"/>
                <a:cs typeface="Tahoma"/>
              </a:rPr>
              <a:t> </a:t>
            </a:r>
            <a:r>
              <a:rPr sz="2921" dirty="0">
                <a:latin typeface="Tahoma"/>
                <a:cs typeface="Tahoma"/>
              </a:rPr>
              <a:t>types</a:t>
            </a:r>
            <a:r>
              <a:rPr sz="2921" spc="-17" dirty="0">
                <a:latin typeface="Tahoma"/>
                <a:cs typeface="Tahoma"/>
              </a:rPr>
              <a:t> </a:t>
            </a:r>
            <a:r>
              <a:rPr sz="2921" dirty="0">
                <a:latin typeface="Tahoma"/>
                <a:cs typeface="Tahoma"/>
              </a:rPr>
              <a:t>of</a:t>
            </a:r>
            <a:r>
              <a:rPr sz="2921" spc="-10" dirty="0">
                <a:latin typeface="Tahoma"/>
                <a:cs typeface="Tahoma"/>
              </a:rPr>
              <a:t> </a:t>
            </a:r>
            <a:r>
              <a:rPr sz="2921" spc="-7" dirty="0">
                <a:latin typeface="Tahoma"/>
                <a:cs typeface="Tahoma"/>
              </a:rPr>
              <a:t>relationships:</a:t>
            </a:r>
            <a:endParaRPr sz="2921">
              <a:latin typeface="Tahoma"/>
              <a:cs typeface="Tahoma"/>
            </a:endParaRPr>
          </a:p>
          <a:p>
            <a:pPr marL="502098" lvl="1" indent="-190131">
              <a:spcBef>
                <a:spcPts val="641"/>
              </a:spcBef>
              <a:buClr>
                <a:srgbClr val="E11738"/>
              </a:buClr>
              <a:buChar char="•"/>
              <a:tabLst>
                <a:tab pos="502098" algn="l"/>
              </a:tabLst>
            </a:pPr>
            <a:r>
              <a:rPr sz="2656" dirty="0">
                <a:latin typeface="Tahoma"/>
                <a:cs typeface="Tahoma"/>
              </a:rPr>
              <a:t>One-</a:t>
            </a:r>
            <a:r>
              <a:rPr sz="2656" spc="-13" dirty="0">
                <a:latin typeface="Tahoma"/>
                <a:cs typeface="Tahoma"/>
              </a:rPr>
              <a:t>to-</a:t>
            </a:r>
            <a:r>
              <a:rPr sz="2656" spc="-17" dirty="0">
                <a:latin typeface="Tahoma"/>
                <a:cs typeface="Tahoma"/>
              </a:rPr>
              <a:t>one</a:t>
            </a:r>
            <a:endParaRPr sz="2656">
              <a:latin typeface="Tahoma"/>
              <a:cs typeface="Tahoma"/>
            </a:endParaRPr>
          </a:p>
          <a:p>
            <a:pPr marL="502098" lvl="1" indent="-190131">
              <a:spcBef>
                <a:spcPts val="637"/>
              </a:spcBef>
              <a:buClr>
                <a:srgbClr val="E11738"/>
              </a:buClr>
              <a:buChar char="•"/>
              <a:tabLst>
                <a:tab pos="502098" algn="l"/>
              </a:tabLst>
            </a:pPr>
            <a:r>
              <a:rPr sz="2656" dirty="0">
                <a:latin typeface="Tahoma"/>
                <a:cs typeface="Tahoma"/>
              </a:rPr>
              <a:t>One-</a:t>
            </a:r>
            <a:r>
              <a:rPr sz="2656" spc="-13" dirty="0">
                <a:latin typeface="Tahoma"/>
                <a:cs typeface="Tahoma"/>
              </a:rPr>
              <a:t>to-many</a:t>
            </a:r>
            <a:endParaRPr sz="2656">
              <a:latin typeface="Tahoma"/>
              <a:cs typeface="Tahoma"/>
            </a:endParaRPr>
          </a:p>
          <a:p>
            <a:pPr marL="502098" lvl="1" indent="-190131">
              <a:spcBef>
                <a:spcPts val="641"/>
              </a:spcBef>
              <a:buClr>
                <a:srgbClr val="E11738"/>
              </a:buClr>
              <a:buChar char="•"/>
              <a:tabLst>
                <a:tab pos="502098" algn="l"/>
              </a:tabLst>
            </a:pPr>
            <a:r>
              <a:rPr sz="2656" spc="-17" dirty="0">
                <a:latin typeface="Tahoma"/>
                <a:cs typeface="Tahoma"/>
              </a:rPr>
              <a:t>Many-</a:t>
            </a:r>
            <a:r>
              <a:rPr sz="2656" spc="-13" dirty="0">
                <a:latin typeface="Tahoma"/>
                <a:cs typeface="Tahoma"/>
              </a:rPr>
              <a:t>to-many</a:t>
            </a:r>
            <a:endParaRPr sz="2656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30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217" y="214356"/>
            <a:ext cx="5059676" cy="1390779"/>
          </a:xfrm>
          <a:prstGeom prst="rect">
            <a:avLst/>
          </a:prstGeom>
        </p:spPr>
        <p:txBody>
          <a:bodyPr vert="horz" wrap="square" lIns="0" tIns="67451" rIns="0" bIns="0" rtlCol="0">
            <a:spAutoFit/>
          </a:bodyPr>
          <a:lstStyle/>
          <a:p>
            <a:pPr marL="413145">
              <a:spcBef>
                <a:spcPts val="531"/>
              </a:spcBef>
            </a:pPr>
            <a:r>
              <a:rPr b="1" spc="-7" dirty="0">
                <a:latin typeface="Tahoma"/>
                <a:cs typeface="Tahoma"/>
              </a:rPr>
              <a:t>Relationships</a:t>
            </a:r>
          </a:p>
          <a:p>
            <a:pPr marL="8432" marR="3373">
              <a:spcBef>
                <a:spcPts val="415"/>
              </a:spcBef>
            </a:pPr>
            <a:r>
              <a:rPr sz="2656" b="1" spc="-23" dirty="0">
                <a:solidFill>
                  <a:srgbClr val="FF0000"/>
                </a:solidFill>
                <a:latin typeface="Arial"/>
                <a:cs typeface="Arial"/>
              </a:rPr>
              <a:t>One-</a:t>
            </a:r>
            <a:r>
              <a:rPr sz="2656" b="1" spc="-20" dirty="0">
                <a:solidFill>
                  <a:srgbClr val="FF0000"/>
                </a:solidFill>
                <a:latin typeface="Arial"/>
                <a:cs typeface="Arial"/>
              </a:rPr>
              <a:t>to-</a:t>
            </a:r>
            <a:r>
              <a:rPr sz="2656" b="1" dirty="0">
                <a:solidFill>
                  <a:srgbClr val="FF0000"/>
                </a:solidFill>
                <a:latin typeface="Arial"/>
                <a:cs typeface="Arial"/>
              </a:rPr>
              <a:t>one</a:t>
            </a:r>
            <a:r>
              <a:rPr sz="2656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6" spc="-27" dirty="0">
                <a:solidFill>
                  <a:srgbClr val="000000"/>
                </a:solidFill>
              </a:rPr>
              <a:t>—</a:t>
            </a:r>
            <a:r>
              <a:rPr sz="2656" dirty="0">
                <a:solidFill>
                  <a:srgbClr val="000000"/>
                </a:solidFill>
              </a:rPr>
              <a:t>one</a:t>
            </a:r>
            <a:r>
              <a:rPr sz="2656" spc="-56" dirty="0">
                <a:solidFill>
                  <a:srgbClr val="000000"/>
                </a:solidFill>
              </a:rPr>
              <a:t> </a:t>
            </a:r>
            <a:r>
              <a:rPr sz="2656" dirty="0">
                <a:solidFill>
                  <a:srgbClr val="000000"/>
                </a:solidFill>
              </a:rPr>
              <a:t>employee</a:t>
            </a:r>
            <a:r>
              <a:rPr sz="2656" spc="-27" dirty="0">
                <a:solidFill>
                  <a:srgbClr val="000000"/>
                </a:solidFill>
              </a:rPr>
              <a:t> </a:t>
            </a:r>
            <a:r>
              <a:rPr sz="2656" spc="-17" dirty="0">
                <a:solidFill>
                  <a:srgbClr val="000000"/>
                </a:solidFill>
              </a:rPr>
              <a:t>is </a:t>
            </a:r>
            <a:r>
              <a:rPr sz="2656" dirty="0">
                <a:solidFill>
                  <a:srgbClr val="000000"/>
                </a:solidFill>
              </a:rPr>
              <a:t>assigned</a:t>
            </a:r>
            <a:r>
              <a:rPr sz="2656" spc="-70" dirty="0">
                <a:solidFill>
                  <a:srgbClr val="000000"/>
                </a:solidFill>
              </a:rPr>
              <a:t> </a:t>
            </a:r>
            <a:r>
              <a:rPr sz="2656" dirty="0">
                <a:solidFill>
                  <a:srgbClr val="000000"/>
                </a:solidFill>
              </a:rPr>
              <a:t>to</a:t>
            </a:r>
            <a:r>
              <a:rPr sz="2656" spc="-73" dirty="0">
                <a:solidFill>
                  <a:srgbClr val="000000"/>
                </a:solidFill>
              </a:rPr>
              <a:t> </a:t>
            </a:r>
            <a:r>
              <a:rPr sz="2656" dirty="0">
                <a:solidFill>
                  <a:srgbClr val="000000"/>
                </a:solidFill>
              </a:rPr>
              <a:t>one</a:t>
            </a:r>
            <a:r>
              <a:rPr sz="2656" spc="-70" dirty="0">
                <a:solidFill>
                  <a:srgbClr val="000000"/>
                </a:solidFill>
              </a:rPr>
              <a:t> </a:t>
            </a:r>
            <a:r>
              <a:rPr sz="2656" dirty="0">
                <a:solidFill>
                  <a:srgbClr val="000000"/>
                </a:solidFill>
              </a:rPr>
              <a:t>phone</a:t>
            </a:r>
            <a:r>
              <a:rPr sz="2656" spc="-66" dirty="0">
                <a:solidFill>
                  <a:srgbClr val="000000"/>
                </a:solidFill>
              </a:rPr>
              <a:t> </a:t>
            </a:r>
            <a:r>
              <a:rPr sz="2656" spc="-7" dirty="0">
                <a:solidFill>
                  <a:srgbClr val="000000"/>
                </a:solidFill>
              </a:rPr>
              <a:t>extension.</a:t>
            </a:r>
            <a:endParaRPr sz="2656"/>
          </a:p>
        </p:txBody>
      </p:sp>
      <p:sp>
        <p:nvSpPr>
          <p:cNvPr id="3" name="object 3"/>
          <p:cNvSpPr txBox="1"/>
          <p:nvPr/>
        </p:nvSpPr>
        <p:spPr>
          <a:xfrm>
            <a:off x="305216" y="1985980"/>
            <a:ext cx="5397354" cy="2064420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 marR="323349">
              <a:spcBef>
                <a:spcPts val="63"/>
              </a:spcBef>
            </a:pPr>
            <a:r>
              <a:rPr sz="2656" b="1" spc="-7" dirty="0">
                <a:solidFill>
                  <a:srgbClr val="FF0000"/>
                </a:solidFill>
                <a:latin typeface="Arial"/>
                <a:cs typeface="Arial"/>
              </a:rPr>
              <a:t>One-</a:t>
            </a:r>
            <a:r>
              <a:rPr sz="2656" b="1" spc="-20" dirty="0">
                <a:solidFill>
                  <a:srgbClr val="FF0000"/>
                </a:solidFill>
                <a:latin typeface="Arial"/>
                <a:cs typeface="Arial"/>
              </a:rPr>
              <a:t>to-</a:t>
            </a:r>
            <a:r>
              <a:rPr sz="2656" b="1" dirty="0">
                <a:solidFill>
                  <a:srgbClr val="FF0000"/>
                </a:solidFill>
                <a:latin typeface="Arial"/>
                <a:cs typeface="Arial"/>
              </a:rPr>
              <a:t>many</a:t>
            </a:r>
            <a:r>
              <a:rPr sz="2656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6" spc="-30" dirty="0">
                <a:latin typeface="Arial MT"/>
                <a:cs typeface="Arial MT"/>
              </a:rPr>
              <a:t>—</a:t>
            </a:r>
            <a:r>
              <a:rPr sz="2656" dirty="0">
                <a:latin typeface="Arial MT"/>
                <a:cs typeface="Arial MT"/>
              </a:rPr>
              <a:t>many</a:t>
            </a:r>
            <a:r>
              <a:rPr sz="2656" spc="-53" dirty="0">
                <a:latin typeface="Arial MT"/>
                <a:cs typeface="Arial MT"/>
              </a:rPr>
              <a:t> </a:t>
            </a:r>
            <a:r>
              <a:rPr sz="2656" spc="-7" dirty="0">
                <a:latin typeface="Arial MT"/>
                <a:cs typeface="Arial MT"/>
              </a:rPr>
              <a:t>employees </a:t>
            </a:r>
            <a:r>
              <a:rPr sz="2656" dirty="0">
                <a:latin typeface="Arial MT"/>
                <a:cs typeface="Arial MT"/>
              </a:rPr>
              <a:t>are</a:t>
            </a:r>
            <a:r>
              <a:rPr sz="2656" spc="-50" dirty="0">
                <a:latin typeface="Arial MT"/>
                <a:cs typeface="Arial MT"/>
              </a:rPr>
              <a:t> </a:t>
            </a:r>
            <a:r>
              <a:rPr sz="2656" dirty="0">
                <a:latin typeface="Arial MT"/>
                <a:cs typeface="Arial MT"/>
              </a:rPr>
              <a:t>assigned</a:t>
            </a:r>
            <a:r>
              <a:rPr sz="2656" spc="-46" dirty="0">
                <a:latin typeface="Arial MT"/>
                <a:cs typeface="Arial MT"/>
              </a:rPr>
              <a:t> </a:t>
            </a:r>
            <a:r>
              <a:rPr sz="2656" dirty="0">
                <a:latin typeface="Arial MT"/>
                <a:cs typeface="Arial MT"/>
              </a:rPr>
              <a:t>to</a:t>
            </a:r>
            <a:r>
              <a:rPr sz="2656" spc="-56" dirty="0">
                <a:latin typeface="Arial MT"/>
                <a:cs typeface="Arial MT"/>
              </a:rPr>
              <a:t> </a:t>
            </a:r>
            <a:r>
              <a:rPr sz="2656" dirty="0">
                <a:latin typeface="Arial MT"/>
                <a:cs typeface="Arial MT"/>
              </a:rPr>
              <a:t>a</a:t>
            </a:r>
            <a:r>
              <a:rPr sz="2656" spc="-56" dirty="0">
                <a:latin typeface="Arial MT"/>
                <a:cs typeface="Arial MT"/>
              </a:rPr>
              <a:t> </a:t>
            </a:r>
            <a:r>
              <a:rPr sz="2656" spc="-7" dirty="0">
                <a:latin typeface="Arial MT"/>
                <a:cs typeface="Arial MT"/>
              </a:rPr>
              <a:t>department.</a:t>
            </a:r>
            <a:endParaRPr sz="2656">
              <a:latin typeface="Arial MT"/>
              <a:cs typeface="Arial MT"/>
            </a:endParaRPr>
          </a:p>
          <a:p>
            <a:pPr>
              <a:spcBef>
                <a:spcPts val="135"/>
              </a:spcBef>
            </a:pPr>
            <a:endParaRPr sz="2656">
              <a:latin typeface="Arial MT"/>
              <a:cs typeface="Arial MT"/>
            </a:endParaRPr>
          </a:p>
          <a:p>
            <a:pPr marL="8432" marR="3373"/>
            <a:r>
              <a:rPr sz="2656" b="1" spc="-23" dirty="0">
                <a:solidFill>
                  <a:srgbClr val="FF0000"/>
                </a:solidFill>
                <a:latin typeface="Arial"/>
                <a:cs typeface="Arial"/>
              </a:rPr>
              <a:t>Many-</a:t>
            </a:r>
            <a:r>
              <a:rPr sz="2656" b="1" spc="-20" dirty="0">
                <a:solidFill>
                  <a:srgbClr val="FF0000"/>
                </a:solidFill>
                <a:latin typeface="Arial"/>
                <a:cs typeface="Arial"/>
              </a:rPr>
              <a:t>to-</a:t>
            </a:r>
            <a:r>
              <a:rPr sz="2656" b="1" dirty="0">
                <a:solidFill>
                  <a:srgbClr val="FF0000"/>
                </a:solidFill>
                <a:latin typeface="Arial"/>
                <a:cs typeface="Arial"/>
              </a:rPr>
              <a:t>many</a:t>
            </a:r>
            <a:r>
              <a:rPr sz="2656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6" spc="-30" dirty="0">
                <a:latin typeface="Arial MT"/>
                <a:cs typeface="Arial MT"/>
              </a:rPr>
              <a:t>—</a:t>
            </a:r>
            <a:r>
              <a:rPr sz="2656" dirty="0">
                <a:latin typeface="Arial MT"/>
                <a:cs typeface="Arial MT"/>
              </a:rPr>
              <a:t>many</a:t>
            </a:r>
            <a:r>
              <a:rPr sz="2656" spc="-40" dirty="0">
                <a:latin typeface="Arial MT"/>
                <a:cs typeface="Arial MT"/>
              </a:rPr>
              <a:t> </a:t>
            </a:r>
            <a:r>
              <a:rPr sz="2656" spc="-7" dirty="0">
                <a:latin typeface="Arial MT"/>
                <a:cs typeface="Arial MT"/>
              </a:rPr>
              <a:t>passengers </a:t>
            </a:r>
            <a:r>
              <a:rPr sz="2656" dirty="0">
                <a:latin typeface="Arial MT"/>
                <a:cs typeface="Arial MT"/>
              </a:rPr>
              <a:t>fly</a:t>
            </a:r>
            <a:r>
              <a:rPr sz="2656" spc="-37" dirty="0">
                <a:latin typeface="Arial MT"/>
                <a:cs typeface="Arial MT"/>
              </a:rPr>
              <a:t> </a:t>
            </a:r>
            <a:r>
              <a:rPr sz="2656" dirty="0">
                <a:latin typeface="Arial MT"/>
                <a:cs typeface="Arial MT"/>
              </a:rPr>
              <a:t>to</a:t>
            </a:r>
            <a:r>
              <a:rPr sz="2656" spc="-43" dirty="0">
                <a:latin typeface="Arial MT"/>
                <a:cs typeface="Arial MT"/>
              </a:rPr>
              <a:t> </a:t>
            </a:r>
            <a:r>
              <a:rPr sz="2656" dirty="0">
                <a:latin typeface="Arial MT"/>
                <a:cs typeface="Arial MT"/>
              </a:rPr>
              <a:t>many</a:t>
            </a:r>
            <a:r>
              <a:rPr sz="2656" spc="-33" dirty="0">
                <a:latin typeface="Arial MT"/>
                <a:cs typeface="Arial MT"/>
              </a:rPr>
              <a:t> </a:t>
            </a:r>
            <a:r>
              <a:rPr sz="2656" spc="-7" dirty="0">
                <a:latin typeface="Arial MT"/>
                <a:cs typeface="Arial MT"/>
              </a:rPr>
              <a:t>destinations.</a:t>
            </a:r>
            <a:endParaRPr sz="2656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125" y="274019"/>
            <a:ext cx="4151194" cy="969890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lnSpc>
                <a:spcPts val="2934"/>
              </a:lnSpc>
              <a:spcBef>
                <a:spcPts val="63"/>
              </a:spcBef>
            </a:pPr>
            <a:r>
              <a:rPr sz="2656" spc="-17" dirty="0"/>
              <a:t>Entity-</a:t>
            </a:r>
            <a:r>
              <a:rPr sz="2656" dirty="0"/>
              <a:t>Relationship</a:t>
            </a:r>
            <a:r>
              <a:rPr sz="2656" spc="-113" dirty="0"/>
              <a:t> </a:t>
            </a:r>
            <a:r>
              <a:rPr sz="2656" spc="-7" dirty="0"/>
              <a:t>Example</a:t>
            </a:r>
            <a:endParaRPr sz="2656"/>
          </a:p>
          <a:p>
            <a:pPr marR="170738" algn="ctr">
              <a:lnSpc>
                <a:spcPts val="1660"/>
              </a:lnSpc>
            </a:pPr>
            <a:r>
              <a:rPr sz="1593" dirty="0">
                <a:solidFill>
                  <a:srgbClr val="000000"/>
                </a:solidFill>
              </a:rPr>
              <a:t>a</a:t>
            </a:r>
            <a:r>
              <a:rPr sz="1593" spc="-3" dirty="0">
                <a:solidFill>
                  <a:srgbClr val="000000"/>
                </a:solidFill>
              </a:rPr>
              <a:t> </a:t>
            </a:r>
            <a:r>
              <a:rPr sz="1593" spc="-17" dirty="0">
                <a:solidFill>
                  <a:srgbClr val="000000"/>
                </a:solidFill>
              </a:rPr>
              <a:t>one-</a:t>
            </a:r>
            <a:r>
              <a:rPr sz="1593" spc="-7" dirty="0">
                <a:solidFill>
                  <a:srgbClr val="000000"/>
                </a:solidFill>
              </a:rPr>
              <a:t>to-</a:t>
            </a:r>
            <a:r>
              <a:rPr sz="1593" dirty="0">
                <a:solidFill>
                  <a:srgbClr val="000000"/>
                </a:solidFill>
              </a:rPr>
              <a:t>one </a:t>
            </a:r>
            <a:r>
              <a:rPr sz="1593" spc="-7" dirty="0">
                <a:solidFill>
                  <a:srgbClr val="000000"/>
                </a:solidFill>
              </a:rPr>
              <a:t>relationship</a:t>
            </a:r>
            <a:endParaRPr sz="1593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777" y="1410666"/>
            <a:ext cx="5418010" cy="30858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125" y="274020"/>
            <a:ext cx="4004488" cy="416790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  <a:tabLst>
                <a:tab pos="290466" algn="l"/>
              </a:tabLst>
            </a:pPr>
            <a:r>
              <a:rPr sz="2656" spc="-33" dirty="0"/>
              <a:t>a</a:t>
            </a:r>
            <a:r>
              <a:rPr sz="2656" dirty="0"/>
              <a:t>	</a:t>
            </a:r>
            <a:r>
              <a:rPr sz="2656" b="1" spc="-20" dirty="0">
                <a:latin typeface="Tahoma"/>
                <a:cs typeface="Tahoma"/>
              </a:rPr>
              <a:t>one-</a:t>
            </a:r>
            <a:r>
              <a:rPr sz="2656" b="1" spc="-17" dirty="0">
                <a:latin typeface="Tahoma"/>
                <a:cs typeface="Tahoma"/>
              </a:rPr>
              <a:t>to-</a:t>
            </a:r>
            <a:r>
              <a:rPr sz="2656" b="1" dirty="0">
                <a:latin typeface="Tahoma"/>
                <a:cs typeface="Tahoma"/>
              </a:rPr>
              <a:t>one</a:t>
            </a:r>
            <a:r>
              <a:rPr sz="2656" b="1" spc="10" dirty="0">
                <a:latin typeface="Tahoma"/>
                <a:cs typeface="Tahoma"/>
              </a:rPr>
              <a:t> </a:t>
            </a:r>
            <a:r>
              <a:rPr sz="2656" spc="-7" dirty="0"/>
              <a:t>relationship</a:t>
            </a:r>
            <a:endParaRPr sz="2656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805" y="815467"/>
            <a:ext cx="5489677" cy="3558548"/>
          </a:xfrm>
          <a:prstGeom prst="rect">
            <a:avLst/>
          </a:prstGeom>
        </p:spPr>
        <p:txBody>
          <a:bodyPr vert="horz" wrap="square" lIns="0" tIns="73352" rIns="0" bIns="0" rtlCol="0">
            <a:spAutoFit/>
          </a:bodyPr>
          <a:lstStyle/>
          <a:p>
            <a:pPr marL="235661" indent="-227230">
              <a:spcBef>
                <a:spcPts val="577"/>
              </a:spcBef>
              <a:buChar char="•"/>
              <a:tabLst>
                <a:tab pos="235661" algn="l"/>
              </a:tabLst>
            </a:pPr>
            <a:r>
              <a:rPr sz="2124" dirty="0">
                <a:latin typeface="Tahoma"/>
                <a:cs typeface="Tahoma"/>
              </a:rPr>
              <a:t>Two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entities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are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linked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together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by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line.</a:t>
            </a:r>
            <a:endParaRPr sz="2124" dirty="0">
              <a:latin typeface="Tahoma"/>
              <a:cs typeface="Tahoma"/>
            </a:endParaRPr>
          </a:p>
          <a:p>
            <a:pPr marL="236083" marR="3373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the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end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line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marked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with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two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short </a:t>
            </a:r>
            <a:r>
              <a:rPr sz="2124" dirty="0">
                <a:latin typeface="Tahoma"/>
                <a:cs typeface="Tahoma"/>
              </a:rPr>
              <a:t>parallel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marks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(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|</a:t>
            </a:r>
            <a:r>
              <a:rPr sz="2124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|</a:t>
            </a:r>
            <a:r>
              <a:rPr sz="2124" dirty="0">
                <a:latin typeface="Tahoma"/>
                <a:cs typeface="Tahoma"/>
              </a:rPr>
              <a:t>),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signifying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13" dirty="0">
                <a:latin typeface="Tahoma"/>
                <a:cs typeface="Tahoma"/>
              </a:rPr>
              <a:t>that</a:t>
            </a:r>
            <a:endParaRPr sz="2124" dirty="0">
              <a:latin typeface="Tahoma"/>
              <a:cs typeface="Tahoma"/>
            </a:endParaRPr>
          </a:p>
          <a:p>
            <a:pPr marL="235661" indent="-227230">
              <a:spcBef>
                <a:spcPts val="511"/>
              </a:spcBef>
              <a:buChar char="•"/>
              <a:tabLst>
                <a:tab pos="235661" algn="l"/>
              </a:tabLst>
            </a:pPr>
            <a:r>
              <a:rPr sz="2124" dirty="0">
                <a:latin typeface="Tahoma"/>
                <a:cs typeface="Tahoma"/>
              </a:rPr>
              <a:t>this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relationship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one-</a:t>
            </a:r>
            <a:r>
              <a:rPr sz="2124" spc="-13" dirty="0">
                <a:latin typeface="Tahoma"/>
                <a:cs typeface="Tahoma"/>
              </a:rPr>
              <a:t>to-one.</a:t>
            </a:r>
            <a:endParaRPr sz="2124" dirty="0">
              <a:latin typeface="Tahoma"/>
              <a:cs typeface="Tahoma"/>
            </a:endParaRPr>
          </a:p>
          <a:p>
            <a:pPr marL="236083" marR="299740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The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red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arrows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are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not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part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entity- </a:t>
            </a:r>
            <a:r>
              <a:rPr sz="2124" dirty="0">
                <a:latin typeface="Tahoma"/>
                <a:cs typeface="Tahoma"/>
              </a:rPr>
              <a:t>relationship</a:t>
            </a:r>
            <a:r>
              <a:rPr sz="2124" spc="-76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diagram.</a:t>
            </a:r>
            <a:endParaRPr sz="2124" dirty="0">
              <a:latin typeface="Tahoma"/>
              <a:cs typeface="Tahoma"/>
            </a:endParaRPr>
          </a:p>
          <a:p>
            <a:pPr marL="236083" marR="311545" indent="-227651">
              <a:spcBef>
                <a:spcPts val="508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The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phrase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on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right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side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line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is </a:t>
            </a:r>
            <a:r>
              <a:rPr sz="2124" dirty="0">
                <a:latin typeface="Tahoma"/>
                <a:cs typeface="Tahoma"/>
              </a:rPr>
              <a:t>read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from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top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bottom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as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follows:</a:t>
            </a:r>
            <a:endParaRPr sz="2124" dirty="0">
              <a:latin typeface="Tahoma"/>
              <a:cs typeface="Tahoma"/>
            </a:endParaRPr>
          </a:p>
          <a:p>
            <a:pPr marL="236083" marR="957400" indent="-227651">
              <a:lnSpc>
                <a:spcPct val="100699"/>
              </a:lnSpc>
              <a:spcBef>
                <a:spcPts val="378"/>
              </a:spcBef>
              <a:buChar char="•"/>
              <a:tabLst>
                <a:tab pos="236083" algn="l"/>
              </a:tabLst>
            </a:pPr>
            <a:r>
              <a:rPr sz="1859" dirty="0">
                <a:latin typeface="Times New Roman"/>
                <a:cs typeface="Times New Roman"/>
              </a:rPr>
              <a:t>One</a:t>
            </a:r>
            <a:r>
              <a:rPr sz="1859" spc="-23" dirty="0">
                <a:latin typeface="Times New Roman"/>
                <a:cs typeface="Times New Roman"/>
              </a:rPr>
              <a:t> </a:t>
            </a:r>
            <a:r>
              <a:rPr sz="1859" dirty="0">
                <a:latin typeface="Times New Roman"/>
                <a:cs typeface="Times New Roman"/>
              </a:rPr>
              <a:t>EMPLOYEE</a:t>
            </a:r>
            <a:r>
              <a:rPr sz="1859" spc="10" dirty="0">
                <a:latin typeface="Times New Roman"/>
                <a:cs typeface="Times New Roman"/>
              </a:rPr>
              <a:t> </a:t>
            </a:r>
            <a:r>
              <a:rPr sz="1859" dirty="0">
                <a:latin typeface="Times New Roman"/>
                <a:cs typeface="Times New Roman"/>
              </a:rPr>
              <a:t>is</a:t>
            </a:r>
            <a:r>
              <a:rPr sz="1859" spc="-27" dirty="0">
                <a:latin typeface="Times New Roman"/>
                <a:cs typeface="Times New Roman"/>
              </a:rPr>
              <a:t> </a:t>
            </a:r>
            <a:r>
              <a:rPr sz="1859" dirty="0">
                <a:latin typeface="Times New Roman"/>
                <a:cs typeface="Times New Roman"/>
              </a:rPr>
              <a:t>assigned</a:t>
            </a:r>
            <a:r>
              <a:rPr sz="1859" spc="-40" dirty="0">
                <a:latin typeface="Times New Roman"/>
                <a:cs typeface="Times New Roman"/>
              </a:rPr>
              <a:t> </a:t>
            </a:r>
            <a:r>
              <a:rPr sz="1859" dirty="0">
                <a:latin typeface="Times New Roman"/>
                <a:cs typeface="Times New Roman"/>
              </a:rPr>
              <a:t>to</a:t>
            </a:r>
            <a:r>
              <a:rPr sz="1859" spc="-23" dirty="0">
                <a:latin typeface="Times New Roman"/>
                <a:cs typeface="Times New Roman"/>
              </a:rPr>
              <a:t> </a:t>
            </a:r>
            <a:r>
              <a:rPr sz="1859" dirty="0">
                <a:latin typeface="Times New Roman"/>
                <a:cs typeface="Times New Roman"/>
              </a:rPr>
              <a:t>one</a:t>
            </a:r>
            <a:r>
              <a:rPr sz="1859" spc="-37" dirty="0">
                <a:latin typeface="Times New Roman"/>
                <a:cs typeface="Times New Roman"/>
              </a:rPr>
              <a:t> </a:t>
            </a:r>
            <a:r>
              <a:rPr sz="1859" spc="-7" dirty="0">
                <a:latin typeface="Times New Roman"/>
                <a:cs typeface="Times New Roman"/>
              </a:rPr>
              <a:t>PHONE EXTENSION</a:t>
            </a:r>
            <a:endParaRPr sz="1859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6500" y="3717231"/>
            <a:ext cx="1467062" cy="8357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750" y="751078"/>
            <a:ext cx="4121298" cy="36486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4040" y="274020"/>
            <a:ext cx="4657078" cy="1046834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514323">
              <a:lnSpc>
                <a:spcPts val="3134"/>
              </a:lnSpc>
              <a:spcBef>
                <a:spcPts val="63"/>
              </a:spcBef>
            </a:pPr>
            <a:r>
              <a:rPr sz="2656" spc="-17" dirty="0"/>
              <a:t>Entity-</a:t>
            </a:r>
            <a:r>
              <a:rPr sz="2656" dirty="0"/>
              <a:t>Relationship</a:t>
            </a:r>
            <a:r>
              <a:rPr sz="2656" spc="-113" dirty="0"/>
              <a:t> </a:t>
            </a:r>
            <a:r>
              <a:rPr sz="2656" spc="-7" dirty="0"/>
              <a:t>Example</a:t>
            </a:r>
            <a:endParaRPr sz="2656"/>
          </a:p>
          <a:p>
            <a:pPr marL="8432">
              <a:lnSpc>
                <a:spcPts val="1859"/>
              </a:lnSpc>
            </a:pPr>
            <a:r>
              <a:rPr sz="1593" dirty="0">
                <a:solidFill>
                  <a:srgbClr val="000000"/>
                </a:solidFill>
              </a:rPr>
              <a:t>a</a:t>
            </a:r>
            <a:r>
              <a:rPr sz="1593" spc="-7" dirty="0">
                <a:solidFill>
                  <a:srgbClr val="000000"/>
                </a:solidFill>
              </a:rPr>
              <a:t> </a:t>
            </a:r>
            <a:r>
              <a:rPr sz="1593" spc="-13" dirty="0">
                <a:solidFill>
                  <a:srgbClr val="000000"/>
                </a:solidFill>
              </a:rPr>
              <a:t>many-</a:t>
            </a:r>
            <a:r>
              <a:rPr sz="1593" spc="-7" dirty="0">
                <a:solidFill>
                  <a:srgbClr val="000000"/>
                </a:solidFill>
              </a:rPr>
              <a:t>to-</a:t>
            </a:r>
            <a:r>
              <a:rPr sz="1593" dirty="0">
                <a:solidFill>
                  <a:srgbClr val="000000"/>
                </a:solidFill>
              </a:rPr>
              <a:t>one</a:t>
            </a:r>
            <a:r>
              <a:rPr sz="1593" spc="-13" dirty="0">
                <a:solidFill>
                  <a:srgbClr val="000000"/>
                </a:solidFill>
              </a:rPr>
              <a:t> </a:t>
            </a:r>
            <a:r>
              <a:rPr sz="1593" spc="-7" dirty="0">
                <a:solidFill>
                  <a:srgbClr val="000000"/>
                </a:solidFill>
              </a:rPr>
              <a:t>relationship</a:t>
            </a:r>
            <a:endParaRPr sz="1593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3403177" cy="882958"/>
          </a:xfrm>
          <a:prstGeom prst="rect">
            <a:avLst/>
          </a:prstGeom>
        </p:spPr>
        <p:txBody>
          <a:bodyPr vert="horz" wrap="square" lIns="0" tIns="64921" rIns="0" bIns="0" rtlCol="0">
            <a:spAutoFit/>
          </a:bodyPr>
          <a:lstStyle/>
          <a:p>
            <a:pPr marL="876458">
              <a:spcBef>
                <a:spcPts val="63"/>
              </a:spcBef>
            </a:pPr>
            <a:r>
              <a:rPr sz="2656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56" b="1" spc="-2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56" b="1" spc="-23" dirty="0">
                <a:solidFill>
                  <a:srgbClr val="FF0000"/>
                </a:solidFill>
                <a:latin typeface="Calibri"/>
                <a:cs typeface="Calibri"/>
              </a:rPr>
              <a:t>many-</a:t>
            </a:r>
            <a:r>
              <a:rPr sz="2656" b="1" spc="-27" dirty="0">
                <a:solidFill>
                  <a:srgbClr val="FF0000"/>
                </a:solidFill>
                <a:latin typeface="Calibri"/>
                <a:cs typeface="Calibri"/>
              </a:rPr>
              <a:t>to-</a:t>
            </a:r>
            <a:r>
              <a:rPr sz="2656" b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656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56" b="1" spc="-7" dirty="0">
                <a:solidFill>
                  <a:srgbClr val="FF0000"/>
                </a:solidFill>
                <a:latin typeface="Calibri"/>
                <a:cs typeface="Calibri"/>
              </a:rPr>
              <a:t>relationship</a:t>
            </a:r>
            <a:endParaRPr sz="2656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5089" y="2753583"/>
            <a:ext cx="1743517" cy="17716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94398" y="4269520"/>
            <a:ext cx="220481" cy="131176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797" spc="-7" dirty="0">
                <a:solidFill>
                  <a:srgbClr val="888888"/>
                </a:solidFill>
                <a:latin typeface="Arial MT"/>
                <a:cs typeface="Arial MT"/>
              </a:rPr>
              <a:t>2-</a:t>
            </a:r>
            <a:r>
              <a:rPr sz="797" spc="-17" dirty="0">
                <a:solidFill>
                  <a:srgbClr val="888888"/>
                </a:solidFill>
                <a:latin typeface="Arial MT"/>
                <a:cs typeface="Arial MT"/>
              </a:rPr>
              <a:t>34</a:t>
            </a:r>
            <a:endParaRPr sz="797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628" y="1337639"/>
            <a:ext cx="3751125" cy="2950857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 marR="450665" indent="-843">
              <a:spcBef>
                <a:spcPts val="66"/>
              </a:spcBef>
              <a:buSzPct val="97222"/>
              <a:buFont typeface="Wingdings"/>
              <a:buChar char=""/>
              <a:tabLst>
                <a:tab pos="249995" algn="l"/>
              </a:tabLst>
            </a:pPr>
            <a:r>
              <a:rPr sz="2390" dirty="0">
                <a:latin typeface="Times New Roman"/>
                <a:cs typeface="Times New Roman"/>
              </a:rPr>
              <a:t>	The</a:t>
            </a:r>
            <a:r>
              <a:rPr sz="2390" spc="-53" dirty="0">
                <a:latin typeface="Times New Roman"/>
                <a:cs typeface="Times New Roman"/>
              </a:rPr>
              <a:t> </a:t>
            </a:r>
            <a:r>
              <a:rPr sz="2390" spc="-13" dirty="0">
                <a:latin typeface="Times New Roman"/>
                <a:cs typeface="Times New Roman"/>
              </a:rPr>
              <a:t>crow’s</a:t>
            </a:r>
            <a:r>
              <a:rPr sz="2390" spc="-60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foot</a:t>
            </a:r>
            <a:r>
              <a:rPr sz="2390" spc="-56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and</a:t>
            </a:r>
            <a:r>
              <a:rPr sz="2390" spc="-56" dirty="0">
                <a:latin typeface="Times New Roman"/>
                <a:cs typeface="Times New Roman"/>
              </a:rPr>
              <a:t> </a:t>
            </a:r>
            <a:r>
              <a:rPr sz="2390" spc="-17" dirty="0">
                <a:latin typeface="Times New Roman"/>
                <a:cs typeface="Times New Roman"/>
              </a:rPr>
              <a:t>the </a:t>
            </a:r>
            <a:r>
              <a:rPr sz="2390" dirty="0">
                <a:latin typeface="Times New Roman"/>
                <a:cs typeface="Times New Roman"/>
              </a:rPr>
              <a:t>single</a:t>
            </a:r>
            <a:r>
              <a:rPr sz="2390" spc="-33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mark</a:t>
            </a:r>
            <a:r>
              <a:rPr sz="2390" spc="-27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do</a:t>
            </a:r>
            <a:r>
              <a:rPr sz="2390" spc="-27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not</a:t>
            </a:r>
            <a:r>
              <a:rPr sz="2390" spc="-27" dirty="0">
                <a:latin typeface="Times New Roman"/>
                <a:cs typeface="Times New Roman"/>
              </a:rPr>
              <a:t> </a:t>
            </a:r>
            <a:r>
              <a:rPr sz="2390" spc="-7" dirty="0">
                <a:latin typeface="Times New Roman"/>
                <a:cs typeface="Times New Roman"/>
              </a:rPr>
              <a:t>literally </a:t>
            </a:r>
            <a:r>
              <a:rPr sz="2390" dirty="0">
                <a:latin typeface="Times New Roman"/>
                <a:cs typeface="Times New Roman"/>
              </a:rPr>
              <a:t>mean</a:t>
            </a:r>
            <a:r>
              <a:rPr sz="2390" spc="-7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that</a:t>
            </a:r>
            <a:r>
              <a:rPr sz="2390" spc="-3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this</a:t>
            </a:r>
            <a:r>
              <a:rPr sz="2390" spc="-3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end</a:t>
            </a:r>
            <a:r>
              <a:rPr sz="2390" spc="-3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of</a:t>
            </a:r>
            <a:r>
              <a:rPr sz="2390" spc="-3" dirty="0">
                <a:latin typeface="Times New Roman"/>
                <a:cs typeface="Times New Roman"/>
              </a:rPr>
              <a:t> </a:t>
            </a:r>
            <a:r>
              <a:rPr sz="2390" spc="-17" dirty="0">
                <a:latin typeface="Times New Roman"/>
                <a:cs typeface="Times New Roman"/>
              </a:rPr>
              <a:t>the </a:t>
            </a:r>
            <a:r>
              <a:rPr sz="2390" dirty="0">
                <a:latin typeface="Times New Roman"/>
                <a:cs typeface="Times New Roman"/>
              </a:rPr>
              <a:t>relationship</a:t>
            </a:r>
            <a:r>
              <a:rPr sz="2390" spc="-20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must</a:t>
            </a:r>
            <a:r>
              <a:rPr sz="2390" spc="-27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be</a:t>
            </a:r>
            <a:r>
              <a:rPr sz="2390" spc="-23" dirty="0">
                <a:latin typeface="Times New Roman"/>
                <a:cs typeface="Times New Roman"/>
              </a:rPr>
              <a:t> </a:t>
            </a:r>
            <a:r>
              <a:rPr sz="2390" spc="-33" dirty="0">
                <a:latin typeface="Times New Roman"/>
                <a:cs typeface="Times New Roman"/>
              </a:rPr>
              <a:t>a</a:t>
            </a:r>
            <a:endParaRPr sz="2390" dirty="0">
              <a:latin typeface="Times New Roman"/>
              <a:cs typeface="Times New Roman"/>
            </a:endParaRPr>
          </a:p>
          <a:p>
            <a:pPr marL="8432"/>
            <a:r>
              <a:rPr sz="2390" dirty="0">
                <a:latin typeface="Times New Roman"/>
                <a:cs typeface="Times New Roman"/>
              </a:rPr>
              <a:t>mandatory</a:t>
            </a:r>
            <a:r>
              <a:rPr sz="2390" spc="-106" dirty="0">
                <a:latin typeface="Times New Roman"/>
                <a:cs typeface="Times New Roman"/>
              </a:rPr>
              <a:t> </a:t>
            </a:r>
            <a:r>
              <a:rPr sz="2390" spc="-7" dirty="0">
                <a:latin typeface="Times New Roman"/>
                <a:cs typeface="Times New Roman"/>
              </a:rPr>
              <a:t>“many.”</a:t>
            </a:r>
            <a:endParaRPr sz="2390" dirty="0">
              <a:latin typeface="Times New Roman"/>
              <a:cs typeface="Times New Roman"/>
            </a:endParaRPr>
          </a:p>
          <a:p>
            <a:pPr marL="249995" indent="-242406">
              <a:buSzPct val="97222"/>
              <a:buFont typeface="Wingdings"/>
              <a:buChar char=""/>
              <a:tabLst>
                <a:tab pos="249995" algn="l"/>
              </a:tabLst>
            </a:pPr>
            <a:r>
              <a:rPr sz="2390" dirty="0">
                <a:latin typeface="Times New Roman"/>
                <a:cs typeface="Times New Roman"/>
              </a:rPr>
              <a:t>Instead, they </a:t>
            </a:r>
            <a:r>
              <a:rPr sz="2390" spc="-7" dirty="0">
                <a:latin typeface="Times New Roman"/>
                <a:cs typeface="Times New Roman"/>
              </a:rPr>
              <a:t>imply</a:t>
            </a:r>
            <a:endParaRPr sz="2390" dirty="0">
              <a:latin typeface="Times New Roman"/>
              <a:cs typeface="Times New Roman"/>
            </a:endParaRPr>
          </a:p>
          <a:p>
            <a:pPr marL="8432" marR="3373">
              <a:spcBef>
                <a:spcPts val="3"/>
              </a:spcBef>
            </a:pPr>
            <a:r>
              <a:rPr sz="2390" dirty="0">
                <a:latin typeface="Times New Roman"/>
                <a:cs typeface="Times New Roman"/>
              </a:rPr>
              <a:t>that</a:t>
            </a:r>
            <a:r>
              <a:rPr sz="2390" spc="-37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this</a:t>
            </a:r>
            <a:r>
              <a:rPr sz="2390" spc="-33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end</a:t>
            </a:r>
            <a:r>
              <a:rPr sz="2390" spc="-33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could</a:t>
            </a:r>
            <a:r>
              <a:rPr sz="2390" spc="-30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be</a:t>
            </a:r>
            <a:r>
              <a:rPr sz="2390" spc="-30" dirty="0">
                <a:latin typeface="Times New Roman"/>
                <a:cs typeface="Times New Roman"/>
              </a:rPr>
              <a:t> </a:t>
            </a:r>
            <a:r>
              <a:rPr sz="2390" spc="-7" dirty="0">
                <a:latin typeface="Times New Roman"/>
                <a:cs typeface="Times New Roman"/>
              </a:rPr>
              <a:t>anything </a:t>
            </a:r>
            <a:r>
              <a:rPr sz="2390" dirty="0">
                <a:latin typeface="Times New Roman"/>
                <a:cs typeface="Times New Roman"/>
              </a:rPr>
              <a:t>from</a:t>
            </a:r>
            <a:r>
              <a:rPr sz="2390" spc="-30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one</a:t>
            </a:r>
            <a:r>
              <a:rPr sz="2390" spc="-27" dirty="0">
                <a:latin typeface="Times New Roman"/>
                <a:cs typeface="Times New Roman"/>
              </a:rPr>
              <a:t> </a:t>
            </a:r>
            <a:r>
              <a:rPr sz="2390" dirty="0">
                <a:latin typeface="Times New Roman"/>
                <a:cs typeface="Times New Roman"/>
              </a:rPr>
              <a:t>to</a:t>
            </a:r>
            <a:r>
              <a:rPr sz="2390" spc="-27" dirty="0">
                <a:latin typeface="Times New Roman"/>
                <a:cs typeface="Times New Roman"/>
              </a:rPr>
              <a:t> </a:t>
            </a:r>
            <a:r>
              <a:rPr sz="2390" spc="-7" dirty="0">
                <a:latin typeface="Times New Roman"/>
                <a:cs typeface="Times New Roman"/>
              </a:rPr>
              <a:t>many.</a:t>
            </a:r>
            <a:endParaRPr sz="239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125" y="273649"/>
            <a:ext cx="4364508" cy="417641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8432">
              <a:spcBef>
                <a:spcPts val="70"/>
              </a:spcBef>
            </a:pPr>
            <a:r>
              <a:rPr sz="1328" b="1" dirty="0">
                <a:solidFill>
                  <a:srgbClr val="DF1738"/>
                </a:solidFill>
                <a:latin typeface="Tahoma"/>
                <a:cs typeface="Tahoma"/>
              </a:rPr>
              <a:t>Examples</a:t>
            </a:r>
            <a:r>
              <a:rPr sz="1328" b="1" spc="-27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328" b="1" dirty="0">
                <a:solidFill>
                  <a:srgbClr val="DF1738"/>
                </a:solidFill>
                <a:latin typeface="Tahoma"/>
                <a:cs typeface="Tahoma"/>
              </a:rPr>
              <a:t>of</a:t>
            </a:r>
            <a:r>
              <a:rPr sz="1328" b="1" spc="-13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328" b="1" dirty="0">
                <a:solidFill>
                  <a:srgbClr val="DF1738"/>
                </a:solidFill>
                <a:latin typeface="Tahoma"/>
                <a:cs typeface="Tahoma"/>
              </a:rPr>
              <a:t>Different</a:t>
            </a:r>
            <a:r>
              <a:rPr sz="1328" b="1" spc="-37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328" b="1" dirty="0">
                <a:solidFill>
                  <a:srgbClr val="DF1738"/>
                </a:solidFill>
                <a:latin typeface="Tahoma"/>
                <a:cs typeface="Tahoma"/>
              </a:rPr>
              <a:t>Types</a:t>
            </a:r>
            <a:r>
              <a:rPr sz="1328" b="1" spc="-27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328" b="1" dirty="0">
                <a:solidFill>
                  <a:srgbClr val="DF1738"/>
                </a:solidFill>
                <a:latin typeface="Tahoma"/>
                <a:cs typeface="Tahoma"/>
              </a:rPr>
              <a:t>of</a:t>
            </a:r>
            <a:r>
              <a:rPr sz="1328" b="1" spc="-13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328" b="1" dirty="0">
                <a:solidFill>
                  <a:srgbClr val="DF1738"/>
                </a:solidFill>
                <a:latin typeface="Tahoma"/>
                <a:cs typeface="Tahoma"/>
              </a:rPr>
              <a:t>Relationships</a:t>
            </a:r>
            <a:r>
              <a:rPr sz="1328" b="1" spc="-4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328" b="1" dirty="0">
                <a:solidFill>
                  <a:srgbClr val="DF1738"/>
                </a:solidFill>
                <a:latin typeface="Tahoma"/>
                <a:cs typeface="Tahoma"/>
              </a:rPr>
              <a:t>in</a:t>
            </a:r>
            <a:r>
              <a:rPr sz="1328" b="1" spc="-27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328" b="1" dirty="0">
                <a:solidFill>
                  <a:srgbClr val="DF1738"/>
                </a:solidFill>
                <a:latin typeface="Tahoma"/>
                <a:cs typeface="Tahoma"/>
              </a:rPr>
              <a:t>E-</a:t>
            </a:r>
            <a:r>
              <a:rPr sz="1328" b="1" spc="-33" dirty="0">
                <a:solidFill>
                  <a:srgbClr val="DF1738"/>
                </a:solidFill>
                <a:latin typeface="Tahoma"/>
                <a:cs typeface="Tahoma"/>
              </a:rPr>
              <a:t>R</a:t>
            </a:r>
            <a:endParaRPr sz="1328">
              <a:latin typeface="Tahoma"/>
              <a:cs typeface="Tahoma"/>
            </a:endParaRPr>
          </a:p>
          <a:p>
            <a:pPr marL="8432"/>
            <a:r>
              <a:rPr sz="1328" b="1" dirty="0">
                <a:solidFill>
                  <a:srgbClr val="DF1738"/>
                </a:solidFill>
                <a:latin typeface="Tahoma"/>
                <a:cs typeface="Tahoma"/>
              </a:rPr>
              <a:t>Diagrams</a:t>
            </a:r>
            <a:r>
              <a:rPr sz="1328" b="1" spc="-13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328" b="1" dirty="0">
                <a:solidFill>
                  <a:srgbClr val="DF1738"/>
                </a:solidFill>
                <a:latin typeface="Tahoma"/>
                <a:cs typeface="Tahoma"/>
              </a:rPr>
              <a:t>(Figure</a:t>
            </a:r>
            <a:r>
              <a:rPr sz="1328" b="1" spc="-2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328" b="1" spc="-13" dirty="0">
                <a:solidFill>
                  <a:srgbClr val="DF1738"/>
                </a:solidFill>
                <a:latin typeface="Tahoma"/>
                <a:cs typeface="Tahoma"/>
              </a:rPr>
              <a:t>2.8)</a:t>
            </a:r>
            <a:endParaRPr sz="1328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1905" y="773479"/>
            <a:ext cx="2109396" cy="37600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886" y="121884"/>
            <a:ext cx="2694672" cy="253645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1593" dirty="0">
                <a:solidFill>
                  <a:srgbClr val="DF1738"/>
                </a:solidFill>
                <a:latin typeface="Tahoma"/>
                <a:cs typeface="Tahoma"/>
              </a:rPr>
              <a:t>Relationships</a:t>
            </a:r>
            <a:r>
              <a:rPr sz="1593" spc="-2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593" dirty="0">
                <a:solidFill>
                  <a:srgbClr val="DF1738"/>
                </a:solidFill>
                <a:latin typeface="Tahoma"/>
                <a:cs typeface="Tahoma"/>
              </a:rPr>
              <a:t>in </a:t>
            </a:r>
            <a:r>
              <a:rPr sz="1593" spc="-13" dirty="0">
                <a:solidFill>
                  <a:srgbClr val="DF1738"/>
                </a:solidFill>
                <a:latin typeface="Tahoma"/>
                <a:cs typeface="Tahoma"/>
              </a:rPr>
              <a:t>E-</a:t>
            </a:r>
            <a:r>
              <a:rPr sz="1593" dirty="0">
                <a:solidFill>
                  <a:srgbClr val="DF1738"/>
                </a:solidFill>
                <a:latin typeface="Tahoma"/>
                <a:cs typeface="Tahoma"/>
              </a:rPr>
              <a:t>R </a:t>
            </a:r>
            <a:r>
              <a:rPr sz="1593" spc="-7" dirty="0">
                <a:solidFill>
                  <a:srgbClr val="DF1738"/>
                </a:solidFill>
                <a:latin typeface="Tahoma"/>
                <a:cs typeface="Tahoma"/>
              </a:rPr>
              <a:t>Diagrams</a:t>
            </a:r>
            <a:endParaRPr sz="1593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5216" y="1321856"/>
            <a:ext cx="5028480" cy="2881079"/>
          </a:xfrm>
          <a:prstGeom prst="rect">
            <a:avLst/>
          </a:prstGeom>
        </p:spPr>
        <p:txBody>
          <a:bodyPr vert="horz" wrap="square" lIns="0" tIns="72932" rIns="0" bIns="0" rtlCol="0">
            <a:spAutoFit/>
          </a:bodyPr>
          <a:lstStyle/>
          <a:p>
            <a:pPr marL="235661" indent="-227230">
              <a:spcBef>
                <a:spcPts val="574"/>
              </a:spcBef>
              <a:buChar char="•"/>
              <a:tabLst>
                <a:tab pos="235661" algn="l"/>
              </a:tabLst>
            </a:pPr>
            <a:r>
              <a:rPr sz="2124" dirty="0">
                <a:latin typeface="Tahoma"/>
                <a:cs typeface="Tahoma"/>
              </a:rPr>
              <a:t>The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third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has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circle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at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one</a:t>
            </a:r>
            <a:r>
              <a:rPr sz="2124" spc="-17" dirty="0">
                <a:latin typeface="Tahoma"/>
                <a:cs typeface="Tahoma"/>
              </a:rPr>
              <a:t> end</a:t>
            </a:r>
            <a:endParaRPr sz="2124">
              <a:latin typeface="Tahoma"/>
              <a:cs typeface="Tahoma"/>
            </a:endParaRPr>
          </a:p>
          <a:p>
            <a:pPr marL="236083" marR="3373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It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can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read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as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“A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SYSTEMS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ANALYST </a:t>
            </a:r>
            <a:r>
              <a:rPr sz="2124" dirty="0">
                <a:latin typeface="Tahoma"/>
                <a:cs typeface="Tahoma"/>
              </a:rPr>
              <a:t>may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assigned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MANY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PROJECTS,”</a:t>
            </a:r>
            <a:endParaRPr sz="2124">
              <a:latin typeface="Tahoma"/>
              <a:cs typeface="Tahoma"/>
            </a:endParaRPr>
          </a:p>
          <a:p>
            <a:pPr marL="236083" marR="71246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meaning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that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analyst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can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be </a:t>
            </a:r>
            <a:r>
              <a:rPr sz="2124" dirty="0">
                <a:latin typeface="Tahoma"/>
                <a:cs typeface="Tahoma"/>
              </a:rPr>
              <a:t>assigned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7" dirty="0">
                <a:latin typeface="Tahoma"/>
                <a:cs typeface="Tahoma"/>
              </a:rPr>
              <a:t> </a:t>
            </a:r>
            <a:r>
              <a:rPr sz="2124" b="1" dirty="0">
                <a:solidFill>
                  <a:srgbClr val="FF0000"/>
                </a:solidFill>
                <a:latin typeface="Tahoma"/>
                <a:cs typeface="Tahoma"/>
              </a:rPr>
              <a:t>no</a:t>
            </a:r>
            <a:r>
              <a:rPr sz="2124" b="1" spc="-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projects,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b="1" dirty="0">
                <a:solidFill>
                  <a:srgbClr val="FF0000"/>
                </a:solidFill>
                <a:latin typeface="Tahoma"/>
                <a:cs typeface="Tahoma"/>
              </a:rPr>
              <a:t>one</a:t>
            </a:r>
            <a:r>
              <a:rPr sz="2124" dirty="0">
                <a:latin typeface="Tahoma"/>
                <a:cs typeface="Tahoma"/>
              </a:rPr>
              <a:t>,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or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b="1" spc="-13" dirty="0">
                <a:solidFill>
                  <a:srgbClr val="FF0000"/>
                </a:solidFill>
                <a:latin typeface="Tahoma"/>
                <a:cs typeface="Tahoma"/>
              </a:rPr>
              <a:t>many </a:t>
            </a:r>
            <a:r>
              <a:rPr sz="2124" spc="-7" dirty="0">
                <a:latin typeface="Tahoma"/>
                <a:cs typeface="Tahoma"/>
              </a:rPr>
              <a:t>projects.</a:t>
            </a:r>
            <a:endParaRPr sz="2124">
              <a:latin typeface="Tahoma"/>
              <a:cs typeface="Tahoma"/>
            </a:endParaRPr>
          </a:p>
          <a:p>
            <a:pPr marL="236083" marR="238191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no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projects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that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what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circle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13" dirty="0">
                <a:latin typeface="Tahoma"/>
                <a:cs typeface="Tahoma"/>
              </a:rPr>
              <a:t>(O), </a:t>
            </a:r>
            <a:r>
              <a:rPr sz="2124" dirty="0">
                <a:latin typeface="Tahoma"/>
                <a:cs typeface="Tahoma"/>
              </a:rPr>
              <a:t>for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zero,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13" dirty="0">
                <a:latin typeface="Tahoma"/>
                <a:cs typeface="Tahoma"/>
              </a:rPr>
              <a:t> for.</a:t>
            </a:r>
            <a:endParaRPr sz="2124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1768" y="455295"/>
            <a:ext cx="3383348" cy="8407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886" y="121884"/>
            <a:ext cx="2694672" cy="253645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1593" dirty="0">
                <a:solidFill>
                  <a:srgbClr val="DF1738"/>
                </a:solidFill>
                <a:latin typeface="Tahoma"/>
                <a:cs typeface="Tahoma"/>
              </a:rPr>
              <a:t>Relationships</a:t>
            </a:r>
            <a:r>
              <a:rPr sz="1593" spc="-2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1593" dirty="0">
                <a:solidFill>
                  <a:srgbClr val="DF1738"/>
                </a:solidFill>
                <a:latin typeface="Tahoma"/>
                <a:cs typeface="Tahoma"/>
              </a:rPr>
              <a:t>in </a:t>
            </a:r>
            <a:r>
              <a:rPr sz="1593" spc="-13" dirty="0">
                <a:solidFill>
                  <a:srgbClr val="DF1738"/>
                </a:solidFill>
                <a:latin typeface="Tahoma"/>
                <a:cs typeface="Tahoma"/>
              </a:rPr>
              <a:t>E-</a:t>
            </a:r>
            <a:r>
              <a:rPr sz="1593" dirty="0">
                <a:solidFill>
                  <a:srgbClr val="DF1738"/>
                </a:solidFill>
                <a:latin typeface="Tahoma"/>
                <a:cs typeface="Tahoma"/>
              </a:rPr>
              <a:t>R </a:t>
            </a:r>
            <a:r>
              <a:rPr sz="1593" spc="-7" dirty="0">
                <a:solidFill>
                  <a:srgbClr val="DF1738"/>
                </a:solidFill>
                <a:latin typeface="Tahoma"/>
                <a:cs typeface="Tahoma"/>
              </a:rPr>
              <a:t>Diagrams</a:t>
            </a:r>
            <a:endParaRPr sz="1593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5216" y="1387216"/>
            <a:ext cx="4574449" cy="2900162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236083" marR="197298" indent="-227651">
              <a:spcBef>
                <a:spcPts val="63"/>
              </a:spcBef>
              <a:buChar char="•"/>
              <a:tabLst>
                <a:tab pos="236083" algn="l"/>
              </a:tabLst>
            </a:pPr>
            <a:r>
              <a:rPr sz="2656" dirty="0">
                <a:latin typeface="Tahoma"/>
                <a:cs typeface="Tahoma"/>
              </a:rPr>
              <a:t>The</a:t>
            </a:r>
            <a:r>
              <a:rPr sz="2656" spc="-60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circle</a:t>
            </a:r>
            <a:r>
              <a:rPr sz="2656" spc="-60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(O)</a:t>
            </a:r>
            <a:r>
              <a:rPr sz="2656" spc="-43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indicates</a:t>
            </a:r>
            <a:r>
              <a:rPr sz="2656" spc="-50" dirty="0">
                <a:latin typeface="Tahoma"/>
                <a:cs typeface="Tahoma"/>
              </a:rPr>
              <a:t> </a:t>
            </a:r>
            <a:r>
              <a:rPr sz="2656" spc="-13" dirty="0">
                <a:latin typeface="Tahoma"/>
                <a:cs typeface="Tahoma"/>
              </a:rPr>
              <a:t>that </a:t>
            </a:r>
            <a:r>
              <a:rPr sz="2656" dirty="0">
                <a:latin typeface="Tahoma"/>
                <a:cs typeface="Tahoma"/>
              </a:rPr>
              <a:t>none</a:t>
            </a:r>
            <a:r>
              <a:rPr sz="2656" spc="-46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is</a:t>
            </a:r>
            <a:r>
              <a:rPr sz="2656" spc="-33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possible</a:t>
            </a:r>
            <a:r>
              <a:rPr sz="2656" spc="-23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in</a:t>
            </a:r>
            <a:r>
              <a:rPr sz="2656" spc="-37" dirty="0">
                <a:latin typeface="Tahoma"/>
                <a:cs typeface="Tahoma"/>
              </a:rPr>
              <a:t> </a:t>
            </a:r>
            <a:r>
              <a:rPr sz="2656" spc="-17" dirty="0">
                <a:latin typeface="Tahoma"/>
                <a:cs typeface="Tahoma"/>
              </a:rPr>
              <a:t>the </a:t>
            </a:r>
            <a:r>
              <a:rPr sz="2656" spc="-7" dirty="0">
                <a:latin typeface="Tahoma"/>
                <a:cs typeface="Tahoma"/>
              </a:rPr>
              <a:t>relationship.</a:t>
            </a:r>
            <a:endParaRPr sz="2656">
              <a:latin typeface="Tahoma"/>
              <a:cs typeface="Tahoma"/>
            </a:endParaRPr>
          </a:p>
          <a:p>
            <a:pPr marL="235661" indent="-227230">
              <a:spcBef>
                <a:spcPts val="637"/>
              </a:spcBef>
              <a:buChar char="•"/>
              <a:tabLst>
                <a:tab pos="235661" algn="l"/>
              </a:tabLst>
            </a:pPr>
            <a:r>
              <a:rPr sz="2656" dirty="0">
                <a:latin typeface="Tahoma"/>
                <a:cs typeface="Tahoma"/>
              </a:rPr>
              <a:t>Short</a:t>
            </a:r>
            <a:r>
              <a:rPr sz="2656" spc="-66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mark</a:t>
            </a:r>
            <a:r>
              <a:rPr sz="2656" spc="-60" dirty="0">
                <a:latin typeface="Tahoma"/>
                <a:cs typeface="Tahoma"/>
              </a:rPr>
              <a:t> </a:t>
            </a:r>
            <a:r>
              <a:rPr sz="2656" dirty="0">
                <a:latin typeface="Tahoma"/>
                <a:cs typeface="Tahoma"/>
              </a:rPr>
              <a:t>means</a:t>
            </a:r>
            <a:r>
              <a:rPr sz="2656" spc="-56" dirty="0">
                <a:latin typeface="Tahoma"/>
                <a:cs typeface="Tahoma"/>
              </a:rPr>
              <a:t> </a:t>
            </a:r>
            <a:r>
              <a:rPr sz="2656" spc="-17" dirty="0">
                <a:latin typeface="Tahoma"/>
                <a:cs typeface="Tahoma"/>
              </a:rPr>
              <a:t>one</a:t>
            </a:r>
            <a:endParaRPr sz="2656">
              <a:latin typeface="Tahoma"/>
              <a:cs typeface="Tahoma"/>
            </a:endParaRPr>
          </a:p>
          <a:p>
            <a:pPr marL="236083" marR="3373" indent="-227651">
              <a:spcBef>
                <a:spcPts val="571"/>
              </a:spcBef>
              <a:buChar char="•"/>
              <a:tabLst>
                <a:tab pos="236083" algn="l"/>
              </a:tabLst>
            </a:pPr>
            <a:r>
              <a:rPr sz="2390" dirty="0">
                <a:latin typeface="Tahoma"/>
                <a:cs typeface="Tahoma"/>
              </a:rPr>
              <a:t>“A</a:t>
            </a:r>
            <a:r>
              <a:rPr sz="2390" spc="-13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MACHINE</a:t>
            </a:r>
            <a:r>
              <a:rPr sz="2390" spc="-13" dirty="0">
                <a:latin typeface="Tahoma"/>
                <a:cs typeface="Tahoma"/>
              </a:rPr>
              <a:t> </a:t>
            </a:r>
            <a:r>
              <a:rPr sz="2390" dirty="0">
                <a:solidFill>
                  <a:srgbClr val="FF0000"/>
                </a:solidFill>
                <a:latin typeface="Tahoma"/>
                <a:cs typeface="Tahoma"/>
              </a:rPr>
              <a:t>may</a:t>
            </a:r>
            <a:r>
              <a:rPr sz="239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dirty="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sz="2390" spc="-1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dirty="0">
                <a:solidFill>
                  <a:srgbClr val="FF0000"/>
                </a:solidFill>
                <a:latin typeface="Tahoma"/>
                <a:cs typeface="Tahoma"/>
              </a:rPr>
              <a:t>may</a:t>
            </a:r>
            <a:r>
              <a:rPr sz="239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dirty="0">
                <a:solidFill>
                  <a:srgbClr val="FF0000"/>
                </a:solidFill>
                <a:latin typeface="Tahoma"/>
                <a:cs typeface="Tahoma"/>
              </a:rPr>
              <a:t>not</a:t>
            </a:r>
            <a:r>
              <a:rPr sz="239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spc="-17" dirty="0">
                <a:solidFill>
                  <a:srgbClr val="FF0000"/>
                </a:solidFill>
                <a:latin typeface="Tahoma"/>
                <a:cs typeface="Tahoma"/>
              </a:rPr>
              <a:t>be </a:t>
            </a:r>
            <a:r>
              <a:rPr sz="2390" dirty="0">
                <a:latin typeface="Tahoma"/>
                <a:cs typeface="Tahoma"/>
              </a:rPr>
              <a:t>undergoing</a:t>
            </a:r>
            <a:r>
              <a:rPr sz="2390" spc="-106" dirty="0">
                <a:latin typeface="Tahoma"/>
                <a:cs typeface="Tahoma"/>
              </a:rPr>
              <a:t> </a:t>
            </a:r>
            <a:r>
              <a:rPr sz="2390" spc="-7" dirty="0">
                <a:latin typeface="Tahoma"/>
                <a:cs typeface="Tahoma"/>
              </a:rPr>
              <a:t>SCHEDULED MAINTENANCE.”</a:t>
            </a:r>
            <a:endParaRPr sz="239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1180" y="404707"/>
            <a:ext cx="3643372" cy="7082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3403177" cy="46291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459940">
              <a:spcBef>
                <a:spcPts val="70"/>
              </a:spcBef>
            </a:pPr>
            <a:r>
              <a:rPr dirty="0"/>
              <a:t>Many</a:t>
            </a:r>
            <a:r>
              <a:rPr spc="-23" dirty="0"/>
              <a:t> </a:t>
            </a:r>
            <a:r>
              <a:rPr dirty="0"/>
              <a:t>to</a:t>
            </a:r>
            <a:r>
              <a:rPr spc="-3" dirty="0"/>
              <a:t> </a:t>
            </a:r>
            <a:r>
              <a:rPr spc="-13" dirty="0"/>
              <a:t>Many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1302" y="2163039"/>
            <a:ext cx="4845519" cy="989593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5661" marR="3373" indent="-227651" algn="just">
              <a:spcBef>
                <a:spcPts val="70"/>
              </a:spcBef>
              <a:buChar char="•"/>
              <a:tabLst>
                <a:tab pos="235661" algn="l"/>
              </a:tabLst>
            </a:pPr>
            <a:r>
              <a:rPr sz="2124" dirty="0">
                <a:latin typeface="Tahoma"/>
                <a:cs typeface="Tahoma"/>
              </a:rPr>
              <a:t>“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One</a:t>
            </a:r>
            <a:r>
              <a:rPr sz="2124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sz="2124" spc="-2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many</a:t>
            </a:r>
            <a:r>
              <a:rPr sz="2124" spc="-1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SALESPEOPLE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(plural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of </a:t>
            </a:r>
            <a:r>
              <a:rPr sz="2124" dirty="0">
                <a:latin typeface="Tahoma"/>
                <a:cs typeface="Tahoma"/>
              </a:rPr>
              <a:t>SALESPERSON)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are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assigned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one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or </a:t>
            </a:r>
            <a:r>
              <a:rPr sz="2124" dirty="0">
                <a:latin typeface="Tahoma"/>
                <a:cs typeface="Tahoma"/>
              </a:rPr>
              <a:t>more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CUSTOMERs</a:t>
            </a:r>
            <a:endParaRPr sz="2124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552" y="1051022"/>
            <a:ext cx="3689913" cy="7082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7574" y="1359443"/>
            <a:ext cx="4930676" cy="2816375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6083" marR="332624" indent="-227651">
              <a:spcBef>
                <a:spcPts val="70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“The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HOME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OFFICE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can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have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one</a:t>
            </a:r>
            <a:r>
              <a:rPr sz="2124" spc="-2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spc="-23" dirty="0">
                <a:solidFill>
                  <a:srgbClr val="FF0000"/>
                </a:solidFill>
                <a:latin typeface="Tahoma"/>
                <a:cs typeface="Tahoma"/>
              </a:rPr>
              <a:t>or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many</a:t>
            </a:r>
            <a:r>
              <a:rPr sz="2124" spc="-1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EMPLOYEEs,”</a:t>
            </a:r>
            <a:endParaRPr sz="2124">
              <a:latin typeface="Tahoma"/>
              <a:cs typeface="Tahoma"/>
            </a:endParaRPr>
          </a:p>
          <a:p>
            <a:pPr marL="236083" marR="247887" indent="-227651">
              <a:spcBef>
                <a:spcPts val="511"/>
              </a:spcBef>
              <a:buChar char="•"/>
              <a:tabLst>
                <a:tab pos="236083" algn="l"/>
                <a:tab pos="3846464" algn="l"/>
              </a:tabLst>
            </a:pPr>
            <a:r>
              <a:rPr sz="2124" dirty="0">
                <a:latin typeface="Tahoma"/>
                <a:cs typeface="Tahoma"/>
              </a:rPr>
              <a:t>or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“One</a:t>
            </a:r>
            <a:r>
              <a:rPr sz="2124" spc="-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or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more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EMPLOYEEs</a:t>
            </a:r>
            <a:r>
              <a:rPr sz="2124" dirty="0">
                <a:latin typeface="Tahoma"/>
                <a:cs typeface="Tahoma"/>
              </a:rPr>
              <a:t>	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may</a:t>
            </a:r>
            <a:r>
              <a:rPr sz="2124" spc="-17" dirty="0">
                <a:solidFill>
                  <a:srgbClr val="FF0000"/>
                </a:solidFill>
                <a:latin typeface="Tahoma"/>
                <a:cs typeface="Tahoma"/>
              </a:rPr>
              <a:t> or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may</a:t>
            </a:r>
            <a:r>
              <a:rPr sz="2124" spc="-2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not</a:t>
            </a:r>
            <a:r>
              <a:rPr sz="2124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assigned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13" dirty="0">
                <a:latin typeface="Tahoma"/>
                <a:cs typeface="Tahoma"/>
              </a:rPr>
              <a:t> HOME </a:t>
            </a:r>
            <a:r>
              <a:rPr sz="2124" spc="-7" dirty="0">
                <a:latin typeface="Tahoma"/>
                <a:cs typeface="Tahoma"/>
              </a:rPr>
              <a:t>OFFICE.”</a:t>
            </a:r>
            <a:endParaRPr sz="2124">
              <a:latin typeface="Tahoma"/>
              <a:cs typeface="Tahoma"/>
            </a:endParaRPr>
          </a:p>
          <a:p>
            <a:pPr marL="236083" marR="3373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Once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again,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I</a:t>
            </a:r>
            <a:r>
              <a:rPr sz="2124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and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O</a:t>
            </a:r>
            <a:r>
              <a:rPr sz="2124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together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imply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Boolean</a:t>
            </a:r>
            <a:r>
              <a:rPr sz="2124" spc="-1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situation;</a:t>
            </a:r>
            <a:endParaRPr sz="2124">
              <a:latin typeface="Tahoma"/>
              <a:cs typeface="Tahoma"/>
            </a:endParaRPr>
          </a:p>
          <a:p>
            <a:pPr marL="585991" lvl="1" indent="-274025">
              <a:spcBef>
                <a:spcPts val="511"/>
              </a:spcBef>
              <a:buClr>
                <a:srgbClr val="E11738"/>
              </a:buClr>
              <a:buChar char="•"/>
              <a:tabLst>
                <a:tab pos="585991" algn="l"/>
              </a:tabLst>
            </a:pPr>
            <a:r>
              <a:rPr sz="2124" dirty="0">
                <a:latin typeface="Tahoma"/>
                <a:cs typeface="Tahoma"/>
              </a:rPr>
              <a:t>in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other</a:t>
            </a:r>
            <a:r>
              <a:rPr sz="2124" spc="-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words,</a:t>
            </a:r>
            <a:r>
              <a:rPr sz="2124" spc="-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one</a:t>
            </a:r>
            <a:r>
              <a:rPr sz="2124" b="1" spc="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or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b="1" spc="-7" dirty="0">
                <a:latin typeface="Tahoma"/>
                <a:cs typeface="Tahoma"/>
              </a:rPr>
              <a:t>zero</a:t>
            </a:r>
            <a:r>
              <a:rPr sz="2124" spc="-7" dirty="0">
                <a:latin typeface="Tahoma"/>
                <a:cs typeface="Tahoma"/>
              </a:rPr>
              <a:t>.</a:t>
            </a:r>
            <a:endParaRPr sz="2124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240" y="354118"/>
            <a:ext cx="3167841" cy="63235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3"/>
            <a:ext cx="3403177" cy="744099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459940">
              <a:spcBef>
                <a:spcPts val="66"/>
              </a:spcBef>
            </a:pPr>
            <a:r>
              <a:rPr sz="2390" dirty="0"/>
              <a:t>Relationships</a:t>
            </a:r>
            <a:r>
              <a:rPr sz="2390" spc="-66" dirty="0"/>
              <a:t> </a:t>
            </a:r>
            <a:r>
              <a:rPr sz="2390" dirty="0"/>
              <a:t>in</a:t>
            </a:r>
            <a:r>
              <a:rPr sz="2390" spc="-63" dirty="0"/>
              <a:t> </a:t>
            </a:r>
            <a:r>
              <a:rPr sz="2390" spc="-7" dirty="0"/>
              <a:t>E-</a:t>
            </a:r>
            <a:r>
              <a:rPr sz="2390" dirty="0"/>
              <a:t>R</a:t>
            </a:r>
            <a:r>
              <a:rPr sz="2390" spc="-66" dirty="0"/>
              <a:t> </a:t>
            </a:r>
            <a:r>
              <a:rPr sz="2390" spc="-7" dirty="0"/>
              <a:t>Diagrams</a:t>
            </a:r>
            <a:endParaRPr sz="2390"/>
          </a:p>
        </p:txBody>
      </p:sp>
      <p:sp>
        <p:nvSpPr>
          <p:cNvPr id="3" name="object 3"/>
          <p:cNvSpPr txBox="1"/>
          <p:nvPr/>
        </p:nvSpPr>
        <p:spPr>
          <a:xfrm>
            <a:off x="837573" y="2072419"/>
            <a:ext cx="4890206" cy="750536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 marR="3373" indent="227230">
              <a:lnSpc>
                <a:spcPct val="120100"/>
              </a:lnSpc>
              <a:spcBef>
                <a:spcPts val="63"/>
              </a:spcBef>
              <a:buChar char="•"/>
              <a:tabLst>
                <a:tab pos="235661" algn="l"/>
              </a:tabLst>
            </a:pPr>
            <a:r>
              <a:rPr sz="2124" dirty="0">
                <a:latin typeface="Tahoma"/>
                <a:cs typeface="Tahoma"/>
              </a:rPr>
              <a:t>“Many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PASSENGERs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are</a:t>
            </a:r>
            <a:r>
              <a:rPr sz="2124" spc="-5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flying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spc="-13" dirty="0">
                <a:latin typeface="Tahoma"/>
                <a:cs typeface="Tahoma"/>
              </a:rPr>
              <a:t>many </a:t>
            </a:r>
            <a:r>
              <a:rPr sz="2124" spc="-7" dirty="0">
                <a:latin typeface="Tahoma"/>
                <a:cs typeface="Tahoma"/>
              </a:rPr>
              <a:t>DESTINATIONs.”</a:t>
            </a:r>
            <a:endParaRPr sz="2124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789" y="1011767"/>
            <a:ext cx="4459867" cy="94094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125" y="274019"/>
            <a:ext cx="5119539" cy="1234193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 marR="3373">
              <a:spcBef>
                <a:spcPts val="63"/>
              </a:spcBef>
            </a:pPr>
            <a:r>
              <a:rPr sz="2656" dirty="0"/>
              <a:t>Three</a:t>
            </a:r>
            <a:r>
              <a:rPr sz="2656" spc="-43" dirty="0"/>
              <a:t> </a:t>
            </a:r>
            <a:r>
              <a:rPr sz="2656" dirty="0"/>
              <a:t>Different</a:t>
            </a:r>
            <a:r>
              <a:rPr sz="2656" spc="-40" dirty="0"/>
              <a:t> </a:t>
            </a:r>
            <a:r>
              <a:rPr sz="2656" dirty="0"/>
              <a:t>Types</a:t>
            </a:r>
            <a:r>
              <a:rPr sz="2656" spc="-40" dirty="0"/>
              <a:t> </a:t>
            </a:r>
            <a:r>
              <a:rPr sz="2656" dirty="0"/>
              <a:t>of</a:t>
            </a:r>
            <a:r>
              <a:rPr sz="2656" spc="-40" dirty="0"/>
              <a:t> </a:t>
            </a:r>
            <a:r>
              <a:rPr sz="2656" spc="-7" dirty="0"/>
              <a:t>Entities </a:t>
            </a:r>
            <a:r>
              <a:rPr sz="2656" dirty="0"/>
              <a:t>Used</a:t>
            </a:r>
            <a:r>
              <a:rPr sz="2656" spc="-60" dirty="0"/>
              <a:t> </a:t>
            </a:r>
            <a:r>
              <a:rPr sz="2656" dirty="0"/>
              <a:t>in</a:t>
            </a:r>
            <a:r>
              <a:rPr sz="2656" spc="-56" dirty="0"/>
              <a:t> </a:t>
            </a:r>
            <a:r>
              <a:rPr sz="2656" spc="-13" dirty="0"/>
              <a:t>E-</a:t>
            </a:r>
            <a:r>
              <a:rPr sz="2656" dirty="0"/>
              <a:t>R</a:t>
            </a:r>
            <a:r>
              <a:rPr sz="2656" spc="-60" dirty="0"/>
              <a:t> </a:t>
            </a:r>
            <a:r>
              <a:rPr sz="2656" dirty="0"/>
              <a:t>Diagrams</a:t>
            </a:r>
            <a:r>
              <a:rPr sz="2656" spc="-60" dirty="0"/>
              <a:t> </a:t>
            </a:r>
            <a:r>
              <a:rPr sz="2656" dirty="0"/>
              <a:t>(Figure</a:t>
            </a:r>
            <a:r>
              <a:rPr sz="2656" spc="-56" dirty="0"/>
              <a:t> </a:t>
            </a:r>
            <a:r>
              <a:rPr sz="2656" spc="-13" dirty="0"/>
              <a:t>2.9)</a:t>
            </a:r>
            <a:endParaRPr sz="2656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1300" y="1301092"/>
            <a:ext cx="4058025" cy="30199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3403177" cy="46291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459940">
              <a:spcBef>
                <a:spcPts val="70"/>
              </a:spcBef>
            </a:pPr>
            <a:r>
              <a:rPr spc="-7" dirty="0"/>
              <a:t>Entities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628" y="967022"/>
            <a:ext cx="5465226" cy="2618739"/>
          </a:xfrm>
          <a:prstGeom prst="rect">
            <a:avLst/>
          </a:prstGeom>
        </p:spPr>
        <p:txBody>
          <a:bodyPr vert="horz" wrap="square" lIns="0" tIns="73352" rIns="0" bIns="0" rtlCol="0">
            <a:spAutoFit/>
          </a:bodyPr>
          <a:lstStyle/>
          <a:p>
            <a:pPr marL="235661" indent="-227230">
              <a:spcBef>
                <a:spcPts val="577"/>
              </a:spcBef>
              <a:buChar char="•"/>
              <a:tabLst>
                <a:tab pos="235661" algn="l"/>
              </a:tabLst>
            </a:pPr>
            <a:r>
              <a:rPr sz="2124" dirty="0">
                <a:latin typeface="Tahoma"/>
                <a:cs typeface="Tahoma"/>
              </a:rPr>
              <a:t>Fundamental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entity</a:t>
            </a:r>
            <a:endParaRPr sz="2124">
              <a:latin typeface="Tahoma"/>
              <a:cs typeface="Tahoma"/>
            </a:endParaRPr>
          </a:p>
          <a:p>
            <a:pPr marL="235661" indent="-227230">
              <a:spcBef>
                <a:spcPts val="511"/>
              </a:spcBef>
              <a:buChar char="•"/>
              <a:tabLst>
                <a:tab pos="235661" algn="l"/>
              </a:tabLst>
            </a:pPr>
            <a:r>
              <a:rPr sz="2124" dirty="0">
                <a:latin typeface="Tahoma"/>
                <a:cs typeface="Tahoma"/>
              </a:rPr>
              <a:t>Associative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entity</a:t>
            </a:r>
            <a:endParaRPr sz="2124">
              <a:latin typeface="Tahoma"/>
              <a:cs typeface="Tahoma"/>
            </a:endParaRPr>
          </a:p>
          <a:p>
            <a:pPr marL="235661" indent="-227230">
              <a:spcBef>
                <a:spcPts val="511"/>
              </a:spcBef>
              <a:buChar char="•"/>
              <a:tabLst>
                <a:tab pos="235661" algn="l"/>
              </a:tabLst>
            </a:pPr>
            <a:r>
              <a:rPr sz="2124" dirty="0">
                <a:latin typeface="Tahoma"/>
                <a:cs typeface="Tahoma"/>
              </a:rPr>
              <a:t>Attributive</a:t>
            </a:r>
            <a:r>
              <a:rPr sz="2124" spc="-11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entity</a:t>
            </a:r>
            <a:endParaRPr sz="2124">
              <a:latin typeface="Tahoma"/>
              <a:cs typeface="Tahoma"/>
            </a:endParaRPr>
          </a:p>
          <a:p>
            <a:pPr marL="236083" marR="3373" indent="-227651">
              <a:spcBef>
                <a:spcPts val="511"/>
              </a:spcBef>
            </a:pPr>
            <a:r>
              <a:rPr sz="2124" dirty="0">
                <a:latin typeface="Tahoma"/>
                <a:cs typeface="Tahoma"/>
              </a:rPr>
              <a:t>An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b="1" dirty="0">
                <a:solidFill>
                  <a:srgbClr val="FF0000"/>
                </a:solidFill>
                <a:latin typeface="Tahoma"/>
                <a:cs typeface="Tahoma"/>
              </a:rPr>
              <a:t>Associative</a:t>
            </a:r>
            <a:r>
              <a:rPr sz="2124" b="1" spc="-46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b="1" dirty="0">
                <a:solidFill>
                  <a:srgbClr val="FF0000"/>
                </a:solidFill>
                <a:latin typeface="Tahoma"/>
                <a:cs typeface="Tahoma"/>
              </a:rPr>
              <a:t>Entity</a:t>
            </a:r>
            <a:r>
              <a:rPr sz="2124" b="1" spc="-4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can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only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exist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if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it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is </a:t>
            </a:r>
            <a:r>
              <a:rPr sz="2124" dirty="0">
                <a:latin typeface="Tahoma"/>
                <a:cs typeface="Tahoma"/>
              </a:rPr>
              <a:t>connected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at</a:t>
            </a:r>
            <a:r>
              <a:rPr sz="2124" b="1" u="sng" spc="-23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124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least</a:t>
            </a:r>
            <a:r>
              <a:rPr sz="2124" b="1" u="sng" spc="-37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124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two</a:t>
            </a:r>
            <a:r>
              <a:rPr sz="2124" b="1" u="sng" spc="-13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124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other</a:t>
            </a:r>
            <a:r>
              <a:rPr sz="2124" b="1" u="sng" spc="-27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124" b="1" u="sng" spc="-7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entities</a:t>
            </a:r>
            <a:r>
              <a:rPr sz="2124" spc="-7" dirty="0">
                <a:latin typeface="Tahoma"/>
                <a:cs typeface="Tahoma"/>
              </a:rPr>
              <a:t>.</a:t>
            </a:r>
            <a:endParaRPr sz="2124">
              <a:latin typeface="Tahoma"/>
              <a:cs typeface="Tahoma"/>
            </a:endParaRPr>
          </a:p>
          <a:p>
            <a:pPr marL="236083" marR="770220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Also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call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it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gerund,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junction,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an </a:t>
            </a:r>
            <a:r>
              <a:rPr sz="2124" dirty="0">
                <a:latin typeface="Tahoma"/>
                <a:cs typeface="Tahoma"/>
              </a:rPr>
              <a:t>intersection,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or a</a:t>
            </a:r>
            <a:r>
              <a:rPr sz="2124" spc="-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concatenated</a:t>
            </a:r>
            <a:r>
              <a:rPr sz="2124" spc="-7" dirty="0">
                <a:latin typeface="Tahoma"/>
                <a:cs typeface="Tahoma"/>
              </a:rPr>
              <a:t> entity</a:t>
            </a:r>
            <a:endParaRPr sz="2124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43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3403177" cy="91688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459940">
              <a:spcBef>
                <a:spcPts val="70"/>
              </a:spcBef>
            </a:pPr>
            <a:r>
              <a:rPr dirty="0">
                <a:solidFill>
                  <a:srgbClr val="FF0000"/>
                </a:solidFill>
              </a:rPr>
              <a:t>Associative</a:t>
            </a:r>
            <a:r>
              <a:rPr spc="-53" dirty="0">
                <a:solidFill>
                  <a:srgbClr val="FF0000"/>
                </a:solidFill>
              </a:rPr>
              <a:t> </a:t>
            </a:r>
            <a:r>
              <a:rPr spc="-7" dirty="0"/>
              <a:t>Entities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628" y="1031631"/>
            <a:ext cx="5627952" cy="3079139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6083" marR="567020" indent="-227651">
              <a:spcBef>
                <a:spcPts val="70"/>
              </a:spcBef>
            </a:pPr>
            <a:r>
              <a:rPr sz="2124" dirty="0">
                <a:latin typeface="Tahoma"/>
                <a:cs typeface="Tahoma"/>
              </a:rPr>
              <a:t>Sometimes,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we</a:t>
            </a:r>
            <a:r>
              <a:rPr sz="2124" b="1" spc="-10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create</a:t>
            </a:r>
            <a:r>
              <a:rPr sz="2124" b="1" spc="-2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new</a:t>
            </a:r>
            <a:r>
              <a:rPr sz="2124" b="1" spc="-10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items</a:t>
            </a:r>
            <a:r>
              <a:rPr sz="2124" b="1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the </a:t>
            </a:r>
            <a:r>
              <a:rPr sz="2124" dirty="0">
                <a:latin typeface="Tahoma"/>
                <a:cs typeface="Tahoma"/>
              </a:rPr>
              <a:t>process</a:t>
            </a:r>
            <a:r>
              <a:rPr sz="2124" spc="-4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developing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information system.</a:t>
            </a:r>
            <a:endParaRPr sz="2124" dirty="0">
              <a:latin typeface="Tahoma"/>
              <a:cs typeface="Tahoma"/>
            </a:endParaRPr>
          </a:p>
          <a:p>
            <a:pPr marL="236083" marR="536245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Some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examples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are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invoices</a:t>
            </a:r>
            <a:r>
              <a:rPr sz="2124" dirty="0">
                <a:latin typeface="Tahoma"/>
                <a:cs typeface="Tahoma"/>
              </a:rPr>
              <a:t>,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b="1" spc="-7" dirty="0">
                <a:latin typeface="Tahoma"/>
                <a:cs typeface="Tahoma"/>
              </a:rPr>
              <a:t>receipts</a:t>
            </a:r>
            <a:r>
              <a:rPr sz="2124" spc="-7" dirty="0">
                <a:latin typeface="Tahoma"/>
                <a:cs typeface="Tahoma"/>
              </a:rPr>
              <a:t>, </a:t>
            </a:r>
            <a:r>
              <a:rPr sz="2124" dirty="0">
                <a:latin typeface="Tahoma"/>
                <a:cs typeface="Tahoma"/>
              </a:rPr>
              <a:t>files,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and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b="1" spc="-7" dirty="0">
                <a:latin typeface="Tahoma"/>
                <a:cs typeface="Tahoma"/>
              </a:rPr>
              <a:t>databases</a:t>
            </a:r>
            <a:r>
              <a:rPr sz="2124" spc="-7" dirty="0">
                <a:latin typeface="Tahoma"/>
                <a:cs typeface="Tahoma"/>
              </a:rPr>
              <a:t>.</a:t>
            </a:r>
            <a:endParaRPr sz="2124" dirty="0">
              <a:latin typeface="Tahoma"/>
              <a:cs typeface="Tahoma"/>
            </a:endParaRPr>
          </a:p>
          <a:p>
            <a:pPr marL="236083" marR="3373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When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we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want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describe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how</a:t>
            </a:r>
            <a:r>
              <a:rPr sz="2124" b="1" spc="-1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a</a:t>
            </a:r>
            <a:r>
              <a:rPr sz="2124" b="1" spc="-30" dirty="0">
                <a:latin typeface="Tahoma"/>
                <a:cs typeface="Tahoma"/>
              </a:rPr>
              <a:t> </a:t>
            </a:r>
            <a:r>
              <a:rPr sz="2124" b="1" spc="-7" dirty="0">
                <a:latin typeface="Tahoma"/>
                <a:cs typeface="Tahoma"/>
              </a:rPr>
              <a:t>person </a:t>
            </a:r>
            <a:r>
              <a:rPr sz="2124" b="1" dirty="0">
                <a:latin typeface="Tahoma"/>
                <a:cs typeface="Tahoma"/>
              </a:rPr>
              <a:t>relates</a:t>
            </a:r>
            <a:r>
              <a:rPr sz="2124" b="1" spc="-3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to</a:t>
            </a:r>
            <a:r>
              <a:rPr sz="2124" b="1" spc="-1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a</a:t>
            </a:r>
            <a:r>
              <a:rPr sz="2124" b="1" spc="-10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receipt</a:t>
            </a:r>
            <a:r>
              <a:rPr sz="2124" dirty="0">
                <a:latin typeface="Tahoma"/>
                <a:cs typeface="Tahoma"/>
              </a:rPr>
              <a:t>,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it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becomes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convenient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indicate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receipt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different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way,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as </a:t>
            </a:r>
            <a:r>
              <a:rPr sz="2124" dirty="0">
                <a:latin typeface="Tahoma"/>
                <a:cs typeface="Tahoma"/>
              </a:rPr>
              <a:t>an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solidFill>
                  <a:srgbClr val="FF0000"/>
                </a:solidFill>
                <a:latin typeface="Tahoma"/>
                <a:cs typeface="Tahoma"/>
              </a:rPr>
              <a:t>associative</a:t>
            </a:r>
            <a:r>
              <a:rPr sz="2124" spc="-3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24" spc="-7" dirty="0">
                <a:solidFill>
                  <a:srgbClr val="FF0000"/>
                </a:solidFill>
                <a:latin typeface="Tahoma"/>
                <a:cs typeface="Tahoma"/>
              </a:rPr>
              <a:t>entity</a:t>
            </a:r>
            <a:r>
              <a:rPr sz="2124" spc="-7" dirty="0">
                <a:latin typeface="Tahoma"/>
                <a:cs typeface="Tahoma"/>
              </a:rPr>
              <a:t>.</a:t>
            </a:r>
            <a:endParaRPr sz="2124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44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3403177" cy="91688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459940">
              <a:spcBef>
                <a:spcPts val="70"/>
              </a:spcBef>
            </a:pPr>
            <a:r>
              <a:rPr b="1" dirty="0">
                <a:solidFill>
                  <a:srgbClr val="FF0000"/>
                </a:solidFill>
                <a:latin typeface="Tahoma"/>
                <a:cs typeface="Tahoma"/>
              </a:rPr>
              <a:t>Attributive</a:t>
            </a:r>
            <a:r>
              <a:rPr b="1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pc="-7" dirty="0"/>
              <a:t>Entities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628" y="1031631"/>
            <a:ext cx="5413795" cy="1316477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6083" marR="3373" indent="-227651">
              <a:spcBef>
                <a:spcPts val="70"/>
              </a:spcBef>
            </a:pPr>
            <a:r>
              <a:rPr sz="2124" b="1" dirty="0">
                <a:solidFill>
                  <a:srgbClr val="FF0000"/>
                </a:solidFill>
                <a:latin typeface="Tahoma"/>
                <a:cs typeface="Tahoma"/>
              </a:rPr>
              <a:t>Attributive</a:t>
            </a:r>
            <a:r>
              <a:rPr sz="2124" dirty="0">
                <a:latin typeface="Tahoma"/>
                <a:cs typeface="Tahoma"/>
              </a:rPr>
              <a:t>: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when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analyst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wants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13" dirty="0">
                <a:latin typeface="Tahoma"/>
                <a:cs typeface="Tahoma"/>
              </a:rPr>
              <a:t> show </a:t>
            </a:r>
            <a:r>
              <a:rPr sz="2124" dirty="0">
                <a:latin typeface="Tahoma"/>
                <a:cs typeface="Tahoma"/>
              </a:rPr>
              <a:t>data</a:t>
            </a:r>
            <a:r>
              <a:rPr sz="2124" spc="-4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that</a:t>
            </a:r>
            <a:r>
              <a:rPr sz="2124" spc="-4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are</a:t>
            </a:r>
            <a:r>
              <a:rPr sz="2124" spc="-5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completely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dependent</a:t>
            </a:r>
            <a:r>
              <a:rPr sz="2124" spc="-4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on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the </a:t>
            </a:r>
            <a:r>
              <a:rPr sz="2124" dirty="0">
                <a:latin typeface="Tahoma"/>
                <a:cs typeface="Tahoma"/>
              </a:rPr>
              <a:t>existence</a:t>
            </a:r>
            <a:r>
              <a:rPr sz="2124" spc="-5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5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5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fundamental</a:t>
            </a:r>
            <a:r>
              <a:rPr sz="2124" spc="-5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entity,</a:t>
            </a:r>
            <a:r>
              <a:rPr sz="2124" spc="-50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an </a:t>
            </a:r>
            <a:r>
              <a:rPr sz="2124" dirty="0">
                <a:latin typeface="Tahoma"/>
                <a:cs typeface="Tahoma"/>
              </a:rPr>
              <a:t>attributive</a:t>
            </a:r>
            <a:r>
              <a:rPr sz="2124" spc="-5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entity</a:t>
            </a:r>
            <a:r>
              <a:rPr sz="2124" spc="-6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should</a:t>
            </a:r>
            <a:r>
              <a:rPr sz="2124" spc="-6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7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used.</a:t>
            </a:r>
            <a:endParaRPr sz="2124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45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3403177" cy="46291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459940">
              <a:spcBef>
                <a:spcPts val="70"/>
              </a:spcBef>
            </a:pPr>
            <a:r>
              <a:rPr spc="-7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393" y="1082219"/>
            <a:ext cx="5468599" cy="2640878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5240" marR="165679" indent="-227230">
              <a:spcBef>
                <a:spcPts val="70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For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example,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when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library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had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b="1" spc="-7" dirty="0">
                <a:latin typeface="Tahoma"/>
                <a:cs typeface="Tahoma"/>
              </a:rPr>
              <a:t>multiple 	</a:t>
            </a:r>
            <a:r>
              <a:rPr sz="2124" b="1" dirty="0">
                <a:latin typeface="Tahoma"/>
                <a:cs typeface="Tahoma"/>
              </a:rPr>
              <a:t>copies</a:t>
            </a:r>
            <a:r>
              <a:rPr sz="2124" b="1" spc="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same</a:t>
            </a:r>
            <a:r>
              <a:rPr sz="2124" b="1" spc="-17" dirty="0">
                <a:latin typeface="Tahoma"/>
                <a:cs typeface="Tahoma"/>
              </a:rPr>
              <a:t> </a:t>
            </a:r>
            <a:r>
              <a:rPr sz="2124" b="1" dirty="0">
                <a:latin typeface="Tahoma"/>
                <a:cs typeface="Tahoma"/>
              </a:rPr>
              <a:t>book</a:t>
            </a:r>
            <a:r>
              <a:rPr sz="2124" dirty="0">
                <a:latin typeface="Tahoma"/>
                <a:cs typeface="Tahoma"/>
              </a:rPr>
              <a:t>,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attributive 	</a:t>
            </a:r>
            <a:r>
              <a:rPr sz="2124" dirty="0">
                <a:latin typeface="Tahoma"/>
                <a:cs typeface="Tahoma"/>
              </a:rPr>
              <a:t>entity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could</a:t>
            </a:r>
            <a:r>
              <a:rPr sz="2124" spc="-5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46" dirty="0">
                <a:latin typeface="Tahoma"/>
                <a:cs typeface="Tahoma"/>
              </a:rPr>
              <a:t> </a:t>
            </a:r>
            <a:r>
              <a:rPr sz="2124" spc="-13" dirty="0">
                <a:latin typeface="Tahoma"/>
                <a:cs typeface="Tahoma"/>
              </a:rPr>
              <a:t>used</a:t>
            </a:r>
            <a:endParaRPr sz="2124" dirty="0">
              <a:latin typeface="Tahoma"/>
              <a:cs typeface="Tahoma"/>
            </a:endParaRPr>
          </a:p>
          <a:p>
            <a:pPr marL="502098" marR="3373" lvl="1" indent="-190553">
              <a:spcBef>
                <a:spcPts val="574"/>
              </a:spcBef>
              <a:buChar char="•"/>
              <a:tabLst>
                <a:tab pos="502098" algn="l"/>
                <a:tab pos="597373" algn="l"/>
              </a:tabLst>
            </a:pPr>
            <a:r>
              <a:rPr sz="2390" dirty="0">
                <a:solidFill>
                  <a:srgbClr val="E11738"/>
                </a:solidFill>
                <a:latin typeface="Tahoma"/>
                <a:cs typeface="Tahoma"/>
              </a:rPr>
              <a:t>	</a:t>
            </a:r>
            <a:r>
              <a:rPr sz="2390" dirty="0">
                <a:latin typeface="Tahoma"/>
                <a:cs typeface="Tahoma"/>
              </a:rPr>
              <a:t>to</a:t>
            </a:r>
            <a:r>
              <a:rPr sz="2390" spc="-37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designate</a:t>
            </a:r>
            <a:r>
              <a:rPr sz="2390" spc="-17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which</a:t>
            </a:r>
            <a:r>
              <a:rPr sz="2390" spc="-23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copy</a:t>
            </a:r>
            <a:r>
              <a:rPr sz="2390" spc="-30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of</a:t>
            </a:r>
            <a:r>
              <a:rPr sz="2390" spc="-23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the</a:t>
            </a:r>
            <a:r>
              <a:rPr sz="2390" spc="-23" dirty="0">
                <a:latin typeface="Tahoma"/>
                <a:cs typeface="Tahoma"/>
              </a:rPr>
              <a:t> </a:t>
            </a:r>
            <a:r>
              <a:rPr sz="2390" spc="-13" dirty="0">
                <a:latin typeface="Tahoma"/>
                <a:cs typeface="Tahoma"/>
              </a:rPr>
              <a:t>book </a:t>
            </a:r>
            <a:r>
              <a:rPr sz="2390" dirty="0">
                <a:latin typeface="Tahoma"/>
                <a:cs typeface="Tahoma"/>
              </a:rPr>
              <a:t>is</a:t>
            </a:r>
            <a:r>
              <a:rPr sz="2390" spc="-63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being</a:t>
            </a:r>
            <a:r>
              <a:rPr sz="2390" spc="-63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checked</a:t>
            </a:r>
            <a:r>
              <a:rPr sz="2390" spc="-53" dirty="0">
                <a:latin typeface="Tahoma"/>
                <a:cs typeface="Tahoma"/>
              </a:rPr>
              <a:t> </a:t>
            </a:r>
            <a:r>
              <a:rPr sz="2390" spc="-13" dirty="0">
                <a:latin typeface="Tahoma"/>
                <a:cs typeface="Tahoma"/>
              </a:rPr>
              <a:t>out.</a:t>
            </a:r>
            <a:endParaRPr sz="2390" dirty="0">
              <a:latin typeface="Tahoma"/>
              <a:cs typeface="Tahoma"/>
            </a:endParaRPr>
          </a:p>
          <a:p>
            <a:pPr marL="235661" marR="102865" indent="-227651">
              <a:lnSpc>
                <a:spcPts val="3446"/>
              </a:lnSpc>
              <a:spcBef>
                <a:spcPts val="73"/>
              </a:spcBef>
              <a:buChar char="•"/>
              <a:tabLst>
                <a:tab pos="311967" algn="l"/>
              </a:tabLst>
            </a:pPr>
            <a:r>
              <a:rPr sz="2390" dirty="0">
                <a:latin typeface="Tahoma"/>
                <a:cs typeface="Tahoma"/>
              </a:rPr>
              <a:t>The</a:t>
            </a:r>
            <a:r>
              <a:rPr sz="2390" spc="-40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attributive</a:t>
            </a:r>
            <a:r>
              <a:rPr sz="2390" spc="-37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entity</a:t>
            </a:r>
            <a:r>
              <a:rPr sz="2390" spc="-37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is</a:t>
            </a:r>
            <a:r>
              <a:rPr sz="2390" spc="-37" dirty="0">
                <a:latin typeface="Tahoma"/>
                <a:cs typeface="Tahoma"/>
              </a:rPr>
              <a:t> </a:t>
            </a:r>
            <a:r>
              <a:rPr sz="2390" dirty="0">
                <a:latin typeface="Tahoma"/>
                <a:cs typeface="Tahoma"/>
              </a:rPr>
              <a:t>useful</a:t>
            </a:r>
            <a:r>
              <a:rPr sz="2390" spc="-30" dirty="0">
                <a:latin typeface="Tahoma"/>
                <a:cs typeface="Tahoma"/>
              </a:rPr>
              <a:t> </a:t>
            </a:r>
            <a:r>
              <a:rPr sz="2390" spc="-17" dirty="0">
                <a:latin typeface="Tahoma"/>
                <a:cs typeface="Tahoma"/>
              </a:rPr>
              <a:t>for 	</a:t>
            </a:r>
            <a:r>
              <a:rPr sz="2390" dirty="0">
                <a:latin typeface="Tahoma"/>
                <a:cs typeface="Tahoma"/>
              </a:rPr>
              <a:t>showing</a:t>
            </a:r>
            <a:r>
              <a:rPr sz="2390" spc="-37" dirty="0">
                <a:latin typeface="Tahoma"/>
                <a:cs typeface="Tahoma"/>
              </a:rPr>
              <a:t> 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repeating</a:t>
            </a:r>
            <a:r>
              <a:rPr sz="2390" b="1" spc="-4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groups</a:t>
            </a:r>
            <a:r>
              <a:rPr sz="2390" b="1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2390" b="1" spc="-3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390" b="1" spc="-7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sz="2124" spc="-7" dirty="0">
                <a:latin typeface="Tahoma"/>
                <a:cs typeface="Tahoma"/>
              </a:rPr>
              <a:t>.</a:t>
            </a:r>
            <a:endParaRPr sz="2124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46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3403177" cy="416790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459940">
              <a:spcBef>
                <a:spcPts val="63"/>
              </a:spcBef>
            </a:pPr>
            <a:r>
              <a:rPr sz="2656" spc="-7" dirty="0"/>
              <a:t>Example</a:t>
            </a:r>
            <a:endParaRPr sz="2656"/>
          </a:p>
        </p:txBody>
      </p:sp>
      <p:sp>
        <p:nvSpPr>
          <p:cNvPr id="3" name="object 3"/>
          <p:cNvSpPr txBox="1"/>
          <p:nvPr/>
        </p:nvSpPr>
        <p:spPr>
          <a:xfrm>
            <a:off x="305217" y="930657"/>
            <a:ext cx="5507805" cy="3153775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6083" marR="440969" indent="-227651">
              <a:spcBef>
                <a:spcPts val="70"/>
              </a:spcBef>
            </a:pPr>
            <a:r>
              <a:rPr sz="2124" dirty="0">
                <a:latin typeface="Tahoma"/>
                <a:cs typeface="Tahoma"/>
              </a:rPr>
              <a:t>suppose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are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going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model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the </a:t>
            </a:r>
            <a:r>
              <a:rPr sz="2124" dirty="0">
                <a:latin typeface="Tahoma"/>
                <a:cs typeface="Tahoma"/>
              </a:rPr>
              <a:t>relationships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that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exist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when</a:t>
            </a:r>
            <a:r>
              <a:rPr sz="2124" spc="-5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customer </a:t>
            </a:r>
            <a:r>
              <a:rPr sz="2124" dirty="0">
                <a:latin typeface="Tahoma"/>
                <a:cs typeface="Tahoma"/>
              </a:rPr>
              <a:t>gets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tickets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train.</a:t>
            </a:r>
            <a:endParaRPr sz="2124" dirty="0">
              <a:latin typeface="Tahoma"/>
              <a:cs typeface="Tahoma"/>
            </a:endParaRPr>
          </a:p>
          <a:p>
            <a:pPr marL="236083" marR="885732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At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first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glance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CUSTOMER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gets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spc="-33" dirty="0">
                <a:latin typeface="Tahoma"/>
                <a:cs typeface="Tahoma"/>
              </a:rPr>
              <a:t>a </a:t>
            </a:r>
            <a:r>
              <a:rPr sz="2124" dirty="0">
                <a:latin typeface="Tahoma"/>
                <a:cs typeface="Tahoma"/>
              </a:rPr>
              <a:t>reservation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for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TRAIN,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and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the</a:t>
            </a:r>
            <a:endParaRPr sz="2124" dirty="0">
              <a:latin typeface="Tahoma"/>
              <a:cs typeface="Tahoma"/>
            </a:endParaRPr>
          </a:p>
          <a:p>
            <a:pPr marL="236083" marR="91482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TRAIN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can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said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have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made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booking </a:t>
            </a:r>
            <a:r>
              <a:rPr sz="2124" dirty="0">
                <a:latin typeface="Tahoma"/>
                <a:cs typeface="Tahoma"/>
              </a:rPr>
              <a:t>for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CUSTOMER.</a:t>
            </a:r>
            <a:endParaRPr sz="2124" dirty="0">
              <a:latin typeface="Tahoma"/>
              <a:cs typeface="Tahoma"/>
            </a:endParaRPr>
          </a:p>
          <a:p>
            <a:pPr marL="235661" indent="-227230">
              <a:spcBef>
                <a:spcPts val="511"/>
              </a:spcBef>
              <a:buChar char="•"/>
              <a:tabLst>
                <a:tab pos="235661" algn="l"/>
              </a:tabLst>
            </a:pPr>
            <a:r>
              <a:rPr sz="2124" dirty="0">
                <a:latin typeface="Tahoma"/>
                <a:cs typeface="Tahoma"/>
              </a:rPr>
              <a:t>CUSTOMER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actually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makes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RESERVATION</a:t>
            </a:r>
            <a:endParaRPr sz="2124" dirty="0">
              <a:latin typeface="Tahoma"/>
              <a:cs typeface="Tahoma"/>
            </a:endParaRPr>
          </a:p>
          <a:p>
            <a:pPr marL="235661" indent="-227230">
              <a:spcBef>
                <a:spcPts val="448"/>
              </a:spcBef>
              <a:buChar char="•"/>
              <a:tabLst>
                <a:tab pos="235661" algn="l"/>
              </a:tabLst>
            </a:pPr>
            <a:r>
              <a:rPr sz="1859" dirty="0">
                <a:latin typeface="Tahoma"/>
                <a:cs typeface="Tahoma"/>
              </a:rPr>
              <a:t>The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Reservation</a:t>
            </a:r>
            <a:r>
              <a:rPr sz="1859" spc="-13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is</a:t>
            </a:r>
            <a:r>
              <a:rPr sz="1859" spc="-37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For</a:t>
            </a:r>
            <a:r>
              <a:rPr sz="1859" spc="-40" dirty="0">
                <a:latin typeface="Tahoma"/>
                <a:cs typeface="Tahoma"/>
              </a:rPr>
              <a:t> </a:t>
            </a:r>
            <a:r>
              <a:rPr sz="1859" dirty="0">
                <a:latin typeface="Tahoma"/>
                <a:cs typeface="Tahoma"/>
              </a:rPr>
              <a:t>a</a:t>
            </a:r>
            <a:r>
              <a:rPr sz="1859" spc="-33" dirty="0">
                <a:latin typeface="Tahoma"/>
                <a:cs typeface="Tahoma"/>
              </a:rPr>
              <a:t> </a:t>
            </a:r>
            <a:r>
              <a:rPr sz="1859" spc="-7" dirty="0">
                <a:latin typeface="Tahoma"/>
                <a:cs typeface="Tahoma"/>
              </a:rPr>
              <a:t>Train.</a:t>
            </a:r>
            <a:endParaRPr sz="1859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47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37573" y="1359443"/>
            <a:ext cx="5005716" cy="242537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6083" marR="252946" indent="-227651">
              <a:spcBef>
                <a:spcPts val="70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The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TRAIN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holds</a:t>
            </a:r>
            <a:r>
              <a:rPr sz="2124" spc="-5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RESERVATION, </a:t>
            </a:r>
            <a:r>
              <a:rPr sz="2124" dirty="0">
                <a:latin typeface="Tahoma"/>
                <a:cs typeface="Tahoma"/>
              </a:rPr>
              <a:t>and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RESERVATION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is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spc="-13" dirty="0">
                <a:latin typeface="Tahoma"/>
                <a:cs typeface="Tahoma"/>
              </a:rPr>
              <a:t>name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CUSTOMER.</a:t>
            </a:r>
            <a:endParaRPr sz="2124">
              <a:latin typeface="Tahoma"/>
              <a:cs typeface="Tahoma"/>
            </a:endParaRPr>
          </a:p>
          <a:p>
            <a:pPr marL="236083" marR="225122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We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added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associative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entity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spc="-13" dirty="0">
                <a:latin typeface="Tahoma"/>
                <a:cs typeface="Tahoma"/>
              </a:rPr>
              <a:t>here </a:t>
            </a:r>
            <a:r>
              <a:rPr sz="2124" dirty="0">
                <a:latin typeface="Tahoma"/>
                <a:cs typeface="Tahoma"/>
              </a:rPr>
              <a:t>because</a:t>
            </a:r>
            <a:r>
              <a:rPr sz="2124" spc="-4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RESERVATION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was</a:t>
            </a:r>
            <a:r>
              <a:rPr sz="2124" spc="-56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created</a:t>
            </a:r>
            <a:endParaRPr sz="2124">
              <a:latin typeface="Tahoma"/>
              <a:cs typeface="Tahoma"/>
            </a:endParaRPr>
          </a:p>
          <a:p>
            <a:pPr marL="236083" marR="3373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due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information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system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required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relate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CUSTOMER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and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TRAIN</a:t>
            </a:r>
            <a:endParaRPr sz="2124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22" y="108132"/>
            <a:ext cx="3403177" cy="46291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459940">
              <a:spcBef>
                <a:spcPts val="70"/>
              </a:spcBef>
            </a:pPr>
            <a:r>
              <a:rPr spc="-7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7574" y="1359443"/>
            <a:ext cx="4590470" cy="662708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236083" marR="3373" indent="-227651">
              <a:spcBef>
                <a:spcPts val="70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Data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attributes</a:t>
            </a:r>
            <a:r>
              <a:rPr sz="2124" spc="-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may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be</a:t>
            </a:r>
            <a:r>
              <a:rPr sz="2124" spc="-1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added</a:t>
            </a:r>
            <a:r>
              <a:rPr sz="2124" spc="-2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13" dirty="0">
                <a:latin typeface="Tahoma"/>
                <a:cs typeface="Tahoma"/>
              </a:rPr>
              <a:t> </a:t>
            </a:r>
            <a:r>
              <a:rPr sz="2124" spc="-17" dirty="0">
                <a:latin typeface="Tahoma"/>
                <a:cs typeface="Tahoma"/>
              </a:rPr>
              <a:t>the </a:t>
            </a:r>
            <a:r>
              <a:rPr sz="2124" spc="-7" dirty="0">
                <a:latin typeface="Tahoma"/>
                <a:cs typeface="Tahoma"/>
              </a:rPr>
              <a:t>diagram.</a:t>
            </a:r>
            <a:endParaRPr sz="2124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65877" y="2307915"/>
            <a:ext cx="1452728" cy="986473"/>
          </a:xfrm>
          <a:custGeom>
            <a:avLst/>
            <a:gdLst/>
            <a:ahLst/>
            <a:cxnLst/>
            <a:rect l="l" t="t" r="r" b="b"/>
            <a:pathLst>
              <a:path w="2188210" h="1485900">
                <a:moveTo>
                  <a:pt x="2188083" y="0"/>
                </a:moveTo>
                <a:lnTo>
                  <a:pt x="2159558" y="0"/>
                </a:lnTo>
                <a:lnTo>
                  <a:pt x="2159558" y="28435"/>
                </a:lnTo>
                <a:lnTo>
                  <a:pt x="2159558" y="1456944"/>
                </a:lnTo>
                <a:lnTo>
                  <a:pt x="19024" y="1456944"/>
                </a:lnTo>
                <a:lnTo>
                  <a:pt x="19024" y="28435"/>
                </a:lnTo>
                <a:lnTo>
                  <a:pt x="2159558" y="28435"/>
                </a:lnTo>
                <a:lnTo>
                  <a:pt x="2159558" y="0"/>
                </a:lnTo>
                <a:lnTo>
                  <a:pt x="9512" y="0"/>
                </a:lnTo>
                <a:lnTo>
                  <a:pt x="9512" y="431"/>
                </a:lnTo>
                <a:lnTo>
                  <a:pt x="12" y="431"/>
                </a:lnTo>
                <a:lnTo>
                  <a:pt x="12" y="19456"/>
                </a:lnTo>
                <a:lnTo>
                  <a:pt x="12" y="1466354"/>
                </a:lnTo>
                <a:lnTo>
                  <a:pt x="12" y="1485353"/>
                </a:lnTo>
                <a:lnTo>
                  <a:pt x="2188083" y="1485353"/>
                </a:lnTo>
                <a:lnTo>
                  <a:pt x="21880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18587" y="2619446"/>
            <a:ext cx="631933" cy="290340"/>
          </a:xfrm>
          <a:prstGeom prst="rect">
            <a:avLst/>
          </a:prstGeom>
        </p:spPr>
        <p:txBody>
          <a:bodyPr vert="horz" wrap="square" lIns="0" tIns="9275" rIns="0" bIns="0" rtlCol="0">
            <a:spAutoFit/>
          </a:bodyPr>
          <a:lstStyle/>
          <a:p>
            <a:pPr marL="8432">
              <a:spcBef>
                <a:spcPts val="73"/>
              </a:spcBef>
            </a:pPr>
            <a:r>
              <a:rPr sz="1826" spc="-7" dirty="0">
                <a:latin typeface="Times New Roman"/>
                <a:cs typeface="Times New Roman"/>
              </a:rPr>
              <a:t>Patron</a:t>
            </a:r>
            <a:endParaRPr sz="182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48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43738" y="2261467"/>
            <a:ext cx="1697660" cy="1050297"/>
          </a:xfrm>
          <a:prstGeom prst="rect">
            <a:avLst/>
          </a:prstGeom>
        </p:spPr>
        <p:txBody>
          <a:bodyPr vert="horz" wrap="square" lIns="0" tIns="38363" rIns="0" bIns="0" rtlCol="0">
            <a:spAutoFit/>
          </a:bodyPr>
          <a:lstStyle/>
          <a:p>
            <a:pPr marL="8432" marR="3373">
              <a:lnSpc>
                <a:spcPct val="89500"/>
              </a:lnSpc>
              <a:spcBef>
                <a:spcPts val="302"/>
              </a:spcBef>
            </a:pPr>
            <a:r>
              <a:rPr sz="1826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Patron</a:t>
            </a:r>
            <a:r>
              <a:rPr sz="1826" u="sng" spc="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26" u="sng" spc="-1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Name</a:t>
            </a:r>
            <a:r>
              <a:rPr sz="1826" spc="-13" dirty="0">
                <a:latin typeface="Times New Roman"/>
                <a:cs typeface="Times New Roman"/>
              </a:rPr>
              <a:t> </a:t>
            </a:r>
            <a:r>
              <a:rPr sz="1826" dirty="0">
                <a:latin typeface="Times New Roman"/>
                <a:cs typeface="Times New Roman"/>
              </a:rPr>
              <a:t>Patron</a:t>
            </a:r>
            <a:r>
              <a:rPr sz="1826" spc="50" dirty="0">
                <a:latin typeface="Times New Roman"/>
                <a:cs typeface="Times New Roman"/>
              </a:rPr>
              <a:t> </a:t>
            </a:r>
            <a:r>
              <a:rPr sz="1826" spc="-7" dirty="0">
                <a:latin typeface="Times New Roman"/>
                <a:cs typeface="Times New Roman"/>
              </a:rPr>
              <a:t>address </a:t>
            </a:r>
            <a:r>
              <a:rPr sz="1826" dirty="0">
                <a:latin typeface="Times New Roman"/>
                <a:cs typeface="Times New Roman"/>
              </a:rPr>
              <a:t>Patron</a:t>
            </a:r>
            <a:r>
              <a:rPr sz="1826" spc="50" dirty="0">
                <a:latin typeface="Times New Roman"/>
                <a:cs typeface="Times New Roman"/>
              </a:rPr>
              <a:t> </a:t>
            </a:r>
            <a:r>
              <a:rPr sz="1826" spc="-7" dirty="0">
                <a:latin typeface="Times New Roman"/>
                <a:cs typeface="Times New Roman"/>
              </a:rPr>
              <a:t>phone </a:t>
            </a:r>
            <a:r>
              <a:rPr sz="1826" dirty="0">
                <a:latin typeface="Times New Roman"/>
                <a:cs typeface="Times New Roman"/>
              </a:rPr>
              <a:t>Patron</a:t>
            </a:r>
            <a:r>
              <a:rPr sz="1826" spc="53" dirty="0">
                <a:latin typeface="Times New Roman"/>
                <a:cs typeface="Times New Roman"/>
              </a:rPr>
              <a:t> </a:t>
            </a:r>
            <a:r>
              <a:rPr sz="1826" dirty="0">
                <a:latin typeface="Times New Roman"/>
                <a:cs typeface="Times New Roman"/>
              </a:rPr>
              <a:t>credit</a:t>
            </a:r>
            <a:r>
              <a:rPr sz="1826" spc="73" dirty="0">
                <a:latin typeface="Times New Roman"/>
                <a:cs typeface="Times New Roman"/>
              </a:rPr>
              <a:t> </a:t>
            </a:r>
            <a:r>
              <a:rPr sz="1826" spc="-13" dirty="0">
                <a:latin typeface="Times New Roman"/>
                <a:cs typeface="Times New Roman"/>
              </a:rPr>
              <a:t>card</a:t>
            </a:r>
            <a:endParaRPr sz="1826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49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125" y="273008"/>
            <a:ext cx="4554215" cy="916880"/>
          </a:xfrm>
          <a:prstGeom prst="rect">
            <a:avLst/>
          </a:prstGeom>
        </p:spPr>
        <p:txBody>
          <a:bodyPr vert="horz" wrap="square" lIns="0" tIns="8853" rIns="0" bIns="0" rtlCol="0">
            <a:spAutoFit/>
          </a:bodyPr>
          <a:lstStyle/>
          <a:p>
            <a:pPr marL="8432" marR="3373">
              <a:spcBef>
                <a:spcPts val="70"/>
              </a:spcBef>
            </a:pPr>
            <a:r>
              <a:rPr dirty="0"/>
              <a:t>Creating</a:t>
            </a:r>
            <a:r>
              <a:rPr spc="7" dirty="0"/>
              <a:t> </a:t>
            </a:r>
            <a:r>
              <a:rPr spc="-7" dirty="0"/>
              <a:t>Entity-Relationship 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7574" y="1294834"/>
            <a:ext cx="5027216" cy="2554619"/>
          </a:xfrm>
          <a:prstGeom prst="rect">
            <a:avLst/>
          </a:prstGeom>
        </p:spPr>
        <p:txBody>
          <a:bodyPr vert="horz" wrap="square" lIns="0" tIns="73352" rIns="0" bIns="0" rtlCol="0">
            <a:spAutoFit/>
          </a:bodyPr>
          <a:lstStyle/>
          <a:p>
            <a:pPr marL="235661" indent="-227230">
              <a:spcBef>
                <a:spcPts val="577"/>
              </a:spcBef>
              <a:buChar char="•"/>
              <a:tabLst>
                <a:tab pos="235661" algn="l"/>
              </a:tabLst>
            </a:pPr>
            <a:r>
              <a:rPr sz="2124" dirty="0">
                <a:latin typeface="Tahoma"/>
                <a:cs typeface="Tahoma"/>
              </a:rPr>
              <a:t>List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entities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in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organization</a:t>
            </a:r>
            <a:endParaRPr sz="2124">
              <a:latin typeface="Tahoma"/>
              <a:cs typeface="Tahoma"/>
            </a:endParaRPr>
          </a:p>
          <a:p>
            <a:pPr marL="236083" marR="3373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Choose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key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entities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to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narrow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scope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23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problem</a:t>
            </a:r>
            <a:endParaRPr sz="2124">
              <a:latin typeface="Tahoma"/>
              <a:cs typeface="Tahoma"/>
            </a:endParaRPr>
          </a:p>
          <a:p>
            <a:pPr marL="236083" marR="120149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Identify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what</a:t>
            </a:r>
            <a:r>
              <a:rPr sz="2124" spc="-4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primary</a:t>
            </a:r>
            <a:r>
              <a:rPr sz="2124" spc="-4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entity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should </a:t>
            </a:r>
            <a:r>
              <a:rPr sz="2124" spc="-17" dirty="0">
                <a:latin typeface="Tahoma"/>
                <a:cs typeface="Tahoma"/>
              </a:rPr>
              <a:t>be</a:t>
            </a:r>
            <a:endParaRPr sz="2124">
              <a:latin typeface="Tahoma"/>
              <a:cs typeface="Tahoma"/>
            </a:endParaRPr>
          </a:p>
          <a:p>
            <a:pPr marL="236083" marR="935900" indent="-227651">
              <a:spcBef>
                <a:spcPts val="511"/>
              </a:spcBef>
              <a:buChar char="•"/>
              <a:tabLst>
                <a:tab pos="236083" algn="l"/>
              </a:tabLst>
            </a:pPr>
            <a:r>
              <a:rPr sz="2124" dirty="0">
                <a:latin typeface="Tahoma"/>
                <a:cs typeface="Tahoma"/>
              </a:rPr>
              <a:t>Confirm</a:t>
            </a:r>
            <a:r>
              <a:rPr sz="2124" spc="-4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33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results</a:t>
            </a:r>
            <a:r>
              <a:rPr sz="2124" spc="-46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of</a:t>
            </a:r>
            <a:r>
              <a:rPr sz="2124" spc="-37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the</a:t>
            </a:r>
            <a:r>
              <a:rPr sz="2124" spc="-30" dirty="0">
                <a:latin typeface="Tahoma"/>
                <a:cs typeface="Tahoma"/>
              </a:rPr>
              <a:t> </a:t>
            </a:r>
            <a:r>
              <a:rPr sz="2124" spc="-7" dirty="0">
                <a:latin typeface="Tahoma"/>
                <a:cs typeface="Tahoma"/>
              </a:rPr>
              <a:t>above </a:t>
            </a:r>
            <a:r>
              <a:rPr sz="2124" dirty="0">
                <a:latin typeface="Tahoma"/>
                <a:cs typeface="Tahoma"/>
              </a:rPr>
              <a:t>through</a:t>
            </a:r>
            <a:r>
              <a:rPr sz="2124" spc="-10" dirty="0">
                <a:latin typeface="Tahoma"/>
                <a:cs typeface="Tahoma"/>
              </a:rPr>
              <a:t> </a:t>
            </a:r>
            <a:r>
              <a:rPr sz="2124" dirty="0">
                <a:latin typeface="Tahoma"/>
                <a:cs typeface="Tahoma"/>
              </a:rPr>
              <a:t>data</a:t>
            </a:r>
            <a:r>
              <a:rPr sz="2124" spc="-7" dirty="0">
                <a:latin typeface="Tahoma"/>
                <a:cs typeface="Tahoma"/>
              </a:rPr>
              <a:t> gathering</a:t>
            </a:r>
            <a:endParaRPr sz="2124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50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125" y="274020"/>
            <a:ext cx="4511636" cy="294192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z="1859" b="1" dirty="0">
                <a:latin typeface="Tahoma"/>
                <a:cs typeface="Tahoma"/>
              </a:rPr>
              <a:t>Notations</a:t>
            </a:r>
            <a:r>
              <a:rPr sz="1859" b="1" spc="-53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for</a:t>
            </a:r>
            <a:r>
              <a:rPr sz="1859" b="1" spc="-40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the</a:t>
            </a:r>
            <a:r>
              <a:rPr sz="1859" b="1" spc="-53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components</a:t>
            </a:r>
            <a:r>
              <a:rPr sz="1859" b="1" spc="-53" dirty="0">
                <a:latin typeface="Tahoma"/>
                <a:cs typeface="Tahoma"/>
              </a:rPr>
              <a:t> </a:t>
            </a:r>
            <a:r>
              <a:rPr sz="1859" b="1" dirty="0">
                <a:latin typeface="Tahoma"/>
                <a:cs typeface="Tahoma"/>
              </a:rPr>
              <a:t>of</a:t>
            </a:r>
            <a:r>
              <a:rPr sz="1859" b="1" spc="-46" dirty="0">
                <a:latin typeface="Tahoma"/>
                <a:cs typeface="Tahoma"/>
              </a:rPr>
              <a:t> </a:t>
            </a:r>
            <a:r>
              <a:rPr sz="1859" b="1" spc="-13" dirty="0">
                <a:latin typeface="Tahoma"/>
                <a:cs typeface="Tahoma"/>
              </a:rPr>
              <a:t>ERD:</a:t>
            </a:r>
            <a:endParaRPr sz="1859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5216" y="714794"/>
            <a:ext cx="2082553" cy="1573542"/>
          </a:xfrm>
          <a:prstGeom prst="rect">
            <a:avLst/>
          </a:prstGeom>
        </p:spPr>
        <p:txBody>
          <a:bodyPr vert="horz" wrap="square" lIns="0" tIns="72932" rIns="0" bIns="0" rtlCol="0">
            <a:spAutoFit/>
          </a:bodyPr>
          <a:lstStyle/>
          <a:p>
            <a:pPr marL="235661" indent="-227230">
              <a:spcBef>
                <a:spcPts val="574"/>
              </a:spcBef>
              <a:buFont typeface="Tahoma"/>
              <a:buChar char="•"/>
              <a:tabLst>
                <a:tab pos="235661" algn="l"/>
              </a:tabLst>
            </a:pPr>
            <a:r>
              <a:rPr sz="2124" b="1" spc="-7" dirty="0">
                <a:latin typeface="Tahoma"/>
                <a:cs typeface="Tahoma"/>
              </a:rPr>
              <a:t>Entities</a:t>
            </a:r>
            <a:endParaRPr sz="2124">
              <a:latin typeface="Tahoma"/>
              <a:cs typeface="Tahoma"/>
            </a:endParaRPr>
          </a:p>
          <a:p>
            <a:pPr marL="235661" indent="-227230">
              <a:spcBef>
                <a:spcPts val="508"/>
              </a:spcBef>
              <a:buFont typeface="Tahoma"/>
              <a:buChar char="•"/>
              <a:tabLst>
                <a:tab pos="235661" algn="l"/>
              </a:tabLst>
            </a:pPr>
            <a:r>
              <a:rPr sz="2124" b="1" spc="-7" dirty="0">
                <a:latin typeface="Tahoma"/>
                <a:cs typeface="Tahoma"/>
              </a:rPr>
              <a:t>Attribute</a:t>
            </a:r>
            <a:endParaRPr sz="2124">
              <a:latin typeface="Tahoma"/>
              <a:cs typeface="Tahoma"/>
            </a:endParaRPr>
          </a:p>
          <a:p>
            <a:pPr marL="235661" indent="-227230">
              <a:spcBef>
                <a:spcPts val="511"/>
              </a:spcBef>
              <a:buFont typeface="Tahoma"/>
              <a:buChar char="•"/>
              <a:tabLst>
                <a:tab pos="235661" algn="l"/>
              </a:tabLst>
            </a:pPr>
            <a:r>
              <a:rPr sz="2124" b="1" spc="-7" dirty="0">
                <a:latin typeface="Tahoma"/>
                <a:cs typeface="Tahoma"/>
              </a:rPr>
              <a:t>Relationships</a:t>
            </a:r>
            <a:endParaRPr sz="2124">
              <a:latin typeface="Tahoma"/>
              <a:cs typeface="Tahoma"/>
            </a:endParaRPr>
          </a:p>
          <a:p>
            <a:pPr marL="235661" indent="-227230">
              <a:spcBef>
                <a:spcPts val="511"/>
              </a:spcBef>
              <a:buFont typeface="Tahoma"/>
              <a:buChar char="•"/>
              <a:tabLst>
                <a:tab pos="235661" algn="l"/>
              </a:tabLst>
            </a:pPr>
            <a:r>
              <a:rPr sz="2124" b="1" spc="-7" dirty="0">
                <a:latin typeface="Tahoma"/>
                <a:cs typeface="Tahoma"/>
              </a:rPr>
              <a:t>Cardinality</a:t>
            </a:r>
            <a:endParaRPr sz="2124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54" y="606817"/>
            <a:ext cx="5646175" cy="32887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125" y="274020"/>
            <a:ext cx="4713146" cy="580296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 marR="3373">
              <a:spcBef>
                <a:spcPts val="63"/>
              </a:spcBef>
            </a:pPr>
            <a:r>
              <a:rPr sz="1859" dirty="0"/>
              <a:t>A</a:t>
            </a:r>
            <a:r>
              <a:rPr sz="1859" spc="-56" dirty="0"/>
              <a:t> </a:t>
            </a:r>
            <a:r>
              <a:rPr sz="1859" dirty="0"/>
              <a:t>More</a:t>
            </a:r>
            <a:r>
              <a:rPr sz="1859" spc="-37" dirty="0"/>
              <a:t> </a:t>
            </a:r>
            <a:r>
              <a:rPr sz="1859" dirty="0"/>
              <a:t>Complete</a:t>
            </a:r>
            <a:r>
              <a:rPr sz="1859" spc="-40" dirty="0"/>
              <a:t> </a:t>
            </a:r>
            <a:r>
              <a:rPr sz="1859" dirty="0"/>
              <a:t>E-R</a:t>
            </a:r>
            <a:r>
              <a:rPr sz="1859" spc="-46" dirty="0"/>
              <a:t> </a:t>
            </a:r>
            <a:r>
              <a:rPr sz="1859" dirty="0"/>
              <a:t>Diagram</a:t>
            </a:r>
            <a:r>
              <a:rPr sz="1859" spc="-30" dirty="0"/>
              <a:t> </a:t>
            </a:r>
            <a:r>
              <a:rPr sz="1859" dirty="0"/>
              <a:t>Showing</a:t>
            </a:r>
            <a:r>
              <a:rPr sz="1859" spc="-46" dirty="0"/>
              <a:t> </a:t>
            </a:r>
            <a:r>
              <a:rPr sz="1859" spc="-13" dirty="0"/>
              <a:t>Data </a:t>
            </a:r>
            <a:r>
              <a:rPr sz="1859" dirty="0"/>
              <a:t>Attributes</a:t>
            </a:r>
            <a:r>
              <a:rPr sz="1859" spc="-46" dirty="0"/>
              <a:t> </a:t>
            </a:r>
            <a:r>
              <a:rPr sz="1859" dirty="0"/>
              <a:t>of</a:t>
            </a:r>
            <a:r>
              <a:rPr sz="1859" spc="-56" dirty="0"/>
              <a:t> </a:t>
            </a:r>
            <a:r>
              <a:rPr sz="1859" dirty="0"/>
              <a:t>the</a:t>
            </a:r>
            <a:r>
              <a:rPr sz="1859" spc="-46" dirty="0"/>
              <a:t> </a:t>
            </a:r>
            <a:r>
              <a:rPr sz="1859" dirty="0"/>
              <a:t>Entities</a:t>
            </a:r>
            <a:r>
              <a:rPr sz="1859" spc="-40" dirty="0"/>
              <a:t> </a:t>
            </a:r>
            <a:r>
              <a:rPr sz="1859" dirty="0"/>
              <a:t>(Figure</a:t>
            </a:r>
            <a:r>
              <a:rPr sz="1859" spc="-43" dirty="0"/>
              <a:t> </a:t>
            </a:r>
            <a:r>
              <a:rPr sz="1859" dirty="0"/>
              <a:t>2.12</a:t>
            </a:r>
            <a:r>
              <a:rPr sz="1859" spc="-53" dirty="0"/>
              <a:t> </a:t>
            </a:r>
            <a:r>
              <a:rPr sz="1859" spc="-33" dirty="0"/>
              <a:t>)</a:t>
            </a:r>
            <a:endParaRPr sz="1859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941" y="1295941"/>
            <a:ext cx="1247022" cy="30122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530" y="260802"/>
            <a:ext cx="5311775" cy="40736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2904782" y="2811067"/>
            <a:ext cx="927916" cy="285087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13" dirty="0"/>
              <a:t>2-</a:t>
            </a:r>
            <a:r>
              <a:rPr spc="-23" dirty="0"/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61925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0823" y="271462"/>
            <a:ext cx="322516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E10326"/>
                </a:solidFill>
              </a:rPr>
              <a:t>Use</a:t>
            </a:r>
            <a:r>
              <a:rPr sz="2900" spc="-40" dirty="0">
                <a:solidFill>
                  <a:srgbClr val="E10326"/>
                </a:solidFill>
              </a:rPr>
              <a:t> </a:t>
            </a:r>
            <a:r>
              <a:rPr sz="2900" dirty="0">
                <a:solidFill>
                  <a:srgbClr val="EF0F34"/>
                </a:solidFill>
              </a:rPr>
              <a:t>Case</a:t>
            </a:r>
            <a:r>
              <a:rPr sz="2900" spc="15" dirty="0">
                <a:solidFill>
                  <a:srgbClr val="EF0F34"/>
                </a:solidFill>
              </a:rPr>
              <a:t> </a:t>
            </a:r>
            <a:r>
              <a:rPr sz="2900" spc="-10" dirty="0">
                <a:solidFill>
                  <a:srgbClr val="E20A31"/>
                </a:solidFill>
              </a:rPr>
              <a:t>Modeling</a:t>
            </a:r>
            <a:endParaRPr sz="2900"/>
          </a:p>
        </p:txBody>
      </p:sp>
      <p:sp>
        <p:nvSpPr>
          <p:cNvPr id="7" name="object 7"/>
          <p:cNvSpPr txBox="1"/>
          <p:nvPr/>
        </p:nvSpPr>
        <p:spPr>
          <a:xfrm>
            <a:off x="829004" y="1352550"/>
            <a:ext cx="4884420" cy="245237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245110" marR="48895" indent="-232410">
              <a:lnSpc>
                <a:spcPts val="2550"/>
              </a:lnSpc>
              <a:spcBef>
                <a:spcPts val="209"/>
              </a:spcBef>
              <a:buChar char="•"/>
              <a:tabLst>
                <a:tab pos="247015" algn="l"/>
              </a:tabLst>
            </a:pPr>
            <a:r>
              <a:rPr sz="2150" spc="-10" dirty="0">
                <a:latin typeface="Arial MT"/>
                <a:cs typeface="Arial MT"/>
              </a:rPr>
              <a:t>Describes</a:t>
            </a:r>
            <a:r>
              <a:rPr sz="2150" spc="85" dirty="0">
                <a:latin typeface="Arial MT"/>
                <a:cs typeface="Arial MT"/>
              </a:rPr>
              <a:t> </a:t>
            </a:r>
            <a:r>
              <a:rPr sz="2150" i="1" spc="-40" dirty="0">
                <a:latin typeface="Arial"/>
                <a:cs typeface="Arial"/>
              </a:rPr>
              <a:t>what</a:t>
            </a:r>
            <a:r>
              <a:rPr sz="2150" i="1" spc="-110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a</a:t>
            </a:r>
            <a:r>
              <a:rPr sz="2150" i="1" spc="-20" dirty="0">
                <a:latin typeface="Arial"/>
                <a:cs typeface="Arial"/>
              </a:rPr>
              <a:t> </a:t>
            </a:r>
            <a:r>
              <a:rPr sz="2150" spc="-20" dirty="0">
                <a:latin typeface="Arial MT"/>
                <a:cs typeface="Arial MT"/>
              </a:rPr>
              <a:t>system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does</a:t>
            </a:r>
            <a:r>
              <a:rPr sz="2150" spc="-6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without 	</a:t>
            </a:r>
            <a:r>
              <a:rPr sz="2150" spc="-25" dirty="0">
                <a:latin typeface="Arial MT"/>
                <a:cs typeface="Arial MT"/>
              </a:rPr>
              <a:t>describing</a:t>
            </a:r>
            <a:r>
              <a:rPr sz="2150" spc="55" dirty="0">
                <a:latin typeface="Arial MT"/>
                <a:cs typeface="Arial MT"/>
              </a:rPr>
              <a:t> </a:t>
            </a:r>
            <a:r>
              <a:rPr sz="2150" spc="250" dirty="0">
                <a:latin typeface="Arial MT"/>
                <a:cs typeface="Arial MT"/>
              </a:rPr>
              <a:t>loathe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system</a:t>
            </a:r>
            <a:r>
              <a:rPr sz="2150" spc="-40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does</a:t>
            </a:r>
            <a:endParaRPr sz="2150">
              <a:latin typeface="Arial MT"/>
              <a:cs typeface="Arial MT"/>
            </a:endParaRPr>
          </a:p>
          <a:p>
            <a:pPr marL="513080" lvl="1" indent="-193040">
              <a:lnSpc>
                <a:spcPct val="100000"/>
              </a:lnSpc>
              <a:spcBef>
                <a:spcPts val="375"/>
              </a:spcBef>
              <a:buClr>
                <a:srgbClr val="E92442"/>
              </a:buClr>
              <a:buChar char="•"/>
              <a:tabLst>
                <a:tab pos="513080" algn="l"/>
              </a:tabLst>
            </a:pPr>
            <a:r>
              <a:rPr sz="1850" dirty="0">
                <a:latin typeface="Arial MT"/>
                <a:cs typeface="Arial MT"/>
              </a:rPr>
              <a:t>A</a:t>
            </a:r>
            <a:r>
              <a:rPr sz="1850" spc="-7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logical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model</a:t>
            </a:r>
            <a:r>
              <a:rPr sz="1850" spc="7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of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-7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system</a:t>
            </a:r>
            <a:endParaRPr sz="1850">
              <a:latin typeface="Arial MT"/>
              <a:cs typeface="Arial MT"/>
            </a:endParaRPr>
          </a:p>
          <a:p>
            <a:pPr marL="237490" marR="728980" indent="-225425">
              <a:lnSpc>
                <a:spcPts val="2510"/>
              </a:lnSpc>
              <a:spcBef>
                <a:spcPts val="700"/>
              </a:spcBef>
              <a:buChar char="•"/>
              <a:tabLst>
                <a:tab pos="237490" algn="l"/>
                <a:tab pos="243204" algn="l"/>
              </a:tabLst>
            </a:pPr>
            <a:r>
              <a:rPr sz="2300" dirty="0">
                <a:latin typeface="Arial MT"/>
                <a:cs typeface="Arial MT"/>
              </a:rPr>
              <a:t>	</a:t>
            </a:r>
            <a:r>
              <a:rPr sz="2300" spc="-110" dirty="0">
                <a:latin typeface="Arial MT"/>
                <a:cs typeface="Arial MT"/>
              </a:rPr>
              <a:t>Use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spc="-85" dirty="0">
                <a:latin typeface="Arial MT"/>
                <a:cs typeface="Arial MT"/>
              </a:rPr>
              <a:t>case</a:t>
            </a:r>
            <a:r>
              <a:rPr sz="2300" spc="-75" dirty="0">
                <a:latin typeface="Arial MT"/>
                <a:cs typeface="Arial MT"/>
              </a:rPr>
              <a:t> is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spc="-100" dirty="0">
                <a:latin typeface="Arial MT"/>
                <a:cs typeface="Arial MT"/>
              </a:rPr>
              <a:t>view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spc="-50" dirty="0">
                <a:latin typeface="Arial MT"/>
                <a:cs typeface="Arial MT"/>
              </a:rPr>
              <a:t>of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spc="-100" dirty="0">
                <a:latin typeface="Arial MT"/>
                <a:cs typeface="Arial MT"/>
              </a:rPr>
              <a:t>the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100" dirty="0">
                <a:latin typeface="Arial MT"/>
                <a:cs typeface="Arial MT"/>
              </a:rPr>
              <a:t>system </a:t>
            </a:r>
            <a:r>
              <a:rPr sz="2300" spc="-25" dirty="0">
                <a:latin typeface="Arial MT"/>
                <a:cs typeface="Arial MT"/>
              </a:rPr>
              <a:t>requirements</a:t>
            </a:r>
            <a:endParaRPr sz="2300">
              <a:latin typeface="Arial MT"/>
              <a:cs typeface="Arial MT"/>
            </a:endParaRPr>
          </a:p>
          <a:p>
            <a:pPr marL="246379" marR="5080" indent="-234315">
              <a:lnSpc>
                <a:spcPts val="2550"/>
              </a:lnSpc>
              <a:spcBef>
                <a:spcPts val="535"/>
              </a:spcBef>
              <a:buChar char="•"/>
              <a:tabLst>
                <a:tab pos="246379" algn="l"/>
                <a:tab pos="247650" algn="l"/>
              </a:tabLst>
            </a:pPr>
            <a:r>
              <a:rPr sz="2300" dirty="0">
                <a:latin typeface="Arial MT"/>
                <a:cs typeface="Arial MT"/>
              </a:rPr>
              <a:t>	</a:t>
            </a:r>
            <a:r>
              <a:rPr sz="2300" spc="-85" dirty="0">
                <a:latin typeface="Arial MT"/>
                <a:cs typeface="Arial MT"/>
              </a:rPr>
              <a:t>Analyst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spc="-90" dirty="0">
                <a:latin typeface="Arial MT"/>
                <a:cs typeface="Arial MT"/>
              </a:rPr>
              <a:t>works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spc="-80" dirty="0">
                <a:latin typeface="Arial MT"/>
                <a:cs typeface="Arial MT"/>
              </a:rPr>
              <a:t>with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90" dirty="0">
                <a:latin typeface="Arial MT"/>
                <a:cs typeface="Arial MT"/>
              </a:rPr>
              <a:t>business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spc="-85" dirty="0">
                <a:latin typeface="Arial MT"/>
                <a:cs typeface="Arial MT"/>
              </a:rPr>
              <a:t>experts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to </a:t>
            </a:r>
            <a:r>
              <a:rPr sz="2300" spc="-90" dirty="0">
                <a:latin typeface="Arial MT"/>
                <a:cs typeface="Arial MT"/>
              </a:rPr>
              <a:t>develop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requirements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65656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0823" y="271462"/>
            <a:ext cx="312356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E10326"/>
                </a:solidFill>
              </a:rPr>
              <a:t>Use</a:t>
            </a:r>
            <a:r>
              <a:rPr sz="2900" spc="-45" dirty="0">
                <a:solidFill>
                  <a:srgbClr val="E10326"/>
                </a:solidFill>
              </a:rPr>
              <a:t> </a:t>
            </a:r>
            <a:r>
              <a:rPr sz="2900" dirty="0">
                <a:solidFill>
                  <a:srgbClr val="EF0F34"/>
                </a:solidFill>
              </a:rPr>
              <a:t>Case</a:t>
            </a:r>
            <a:r>
              <a:rPr sz="2900" spc="10" dirty="0">
                <a:solidFill>
                  <a:srgbClr val="EF0F34"/>
                </a:solidFill>
              </a:rPr>
              <a:t> </a:t>
            </a:r>
            <a:r>
              <a:rPr sz="2900" spc="-10" dirty="0">
                <a:solidFill>
                  <a:srgbClr val="DB1538"/>
                </a:solidFill>
              </a:rPr>
              <a:t>Diagram</a:t>
            </a:r>
            <a:endParaRPr sz="2900"/>
          </a:p>
        </p:txBody>
      </p:sp>
      <p:sp>
        <p:nvSpPr>
          <p:cNvPr id="6" name="object 6"/>
          <p:cNvSpPr txBox="1"/>
          <p:nvPr/>
        </p:nvSpPr>
        <p:spPr>
          <a:xfrm>
            <a:off x="831708" y="1295922"/>
            <a:ext cx="4885055" cy="27152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44475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1850" spc="-10" dirty="0">
                <a:latin typeface="Arial MT"/>
                <a:cs typeface="Arial MT"/>
              </a:rPr>
              <a:t>Actor</a:t>
            </a:r>
            <a:endParaRPr sz="1850">
              <a:latin typeface="Arial MT"/>
              <a:cs typeface="Arial MT"/>
            </a:endParaRPr>
          </a:p>
          <a:p>
            <a:pPr marL="502920" lvl="1" indent="-183515">
              <a:lnSpc>
                <a:spcPct val="100000"/>
              </a:lnSpc>
              <a:spcBef>
                <a:spcPts val="405"/>
              </a:spcBef>
              <a:buClr>
                <a:srgbClr val="E6002F"/>
              </a:buClr>
              <a:buChar char="•"/>
              <a:tabLst>
                <a:tab pos="502920" algn="l"/>
              </a:tabLst>
            </a:pPr>
            <a:r>
              <a:rPr sz="1550" dirty="0">
                <a:latin typeface="Arial MT"/>
                <a:cs typeface="Arial MT"/>
              </a:rPr>
              <a:t>Refers</a:t>
            </a:r>
            <a:r>
              <a:rPr sz="1550" spc="1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</a:t>
            </a:r>
            <a:r>
              <a:rPr sz="1550" spc="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particular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role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</a:t>
            </a:r>
            <a:r>
              <a:rPr sz="1550" spc="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user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8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system</a:t>
            </a:r>
            <a:endParaRPr sz="1550">
              <a:latin typeface="Arial MT"/>
              <a:cs typeface="Arial MT"/>
            </a:endParaRPr>
          </a:p>
          <a:p>
            <a:pPr marL="507365" marR="156845" lvl="1" indent="-188595">
              <a:lnSpc>
                <a:spcPct val="100000"/>
              </a:lnSpc>
              <a:spcBef>
                <a:spcPts val="415"/>
              </a:spcBef>
              <a:buChar char="•"/>
              <a:tabLst>
                <a:tab pos="507365" algn="l"/>
                <a:tab pos="511809" algn="l"/>
              </a:tabLst>
            </a:pPr>
            <a:r>
              <a:rPr sz="1600" dirty="0">
                <a:solidFill>
                  <a:srgbClr val="ED0C38"/>
                </a:solidFill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Similar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external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entities;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they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exist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outside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system</a:t>
            </a:r>
            <a:endParaRPr sz="1600">
              <a:latin typeface="Arial MT"/>
              <a:cs typeface="Arial MT"/>
            </a:endParaRPr>
          </a:p>
          <a:p>
            <a:pPr marL="245110" indent="-232410">
              <a:lnSpc>
                <a:spcPct val="100000"/>
              </a:lnSpc>
              <a:spcBef>
                <a:spcPts val="484"/>
              </a:spcBef>
              <a:buChar char="•"/>
              <a:tabLst>
                <a:tab pos="245110" algn="l"/>
              </a:tabLst>
            </a:pPr>
            <a:r>
              <a:rPr sz="1850" dirty="0">
                <a:latin typeface="Arial MT"/>
                <a:cs typeface="Arial MT"/>
              </a:rPr>
              <a:t>Use case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symbols</a:t>
            </a:r>
            <a:endParaRPr sz="1850">
              <a:latin typeface="Arial MT"/>
              <a:cs typeface="Arial MT"/>
            </a:endParaRPr>
          </a:p>
          <a:p>
            <a:pPr marL="512445" lvl="1" indent="-193040">
              <a:lnSpc>
                <a:spcPct val="100000"/>
              </a:lnSpc>
              <a:spcBef>
                <a:spcPts val="395"/>
              </a:spcBef>
              <a:buClr>
                <a:srgbClr val="E40C2D"/>
              </a:buClr>
              <a:buChar char="•"/>
              <a:tabLst>
                <a:tab pos="512445" algn="l"/>
              </a:tabLst>
            </a:pPr>
            <a:r>
              <a:rPr sz="1600" dirty="0">
                <a:latin typeface="Arial MT"/>
                <a:cs typeface="Arial MT"/>
              </a:rPr>
              <a:t>An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oval</a:t>
            </a:r>
            <a:r>
              <a:rPr sz="1600" spc="-10" dirty="0">
                <a:latin typeface="Arial MT"/>
                <a:cs typeface="Arial MT"/>
              </a:rPr>
              <a:t> indicating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task of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case</a:t>
            </a:r>
            <a:endParaRPr sz="160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spcBef>
                <a:spcPts val="440"/>
              </a:spcBef>
              <a:buChar char="•"/>
              <a:tabLst>
                <a:tab pos="241935" algn="l"/>
              </a:tabLst>
            </a:pPr>
            <a:r>
              <a:rPr sz="1900" spc="-35" dirty="0">
                <a:latin typeface="Arial MT"/>
                <a:cs typeface="Arial MT"/>
              </a:rPr>
              <a:t>Connecting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lines</a:t>
            </a:r>
            <a:endParaRPr sz="1900">
              <a:latin typeface="Arial MT"/>
              <a:cs typeface="Arial MT"/>
            </a:endParaRPr>
          </a:p>
          <a:p>
            <a:pPr marL="507365" marR="402590" lvl="1" indent="-188595">
              <a:lnSpc>
                <a:spcPct val="101600"/>
              </a:lnSpc>
              <a:spcBef>
                <a:spcPts val="315"/>
              </a:spcBef>
              <a:buChar char="•"/>
              <a:tabLst>
                <a:tab pos="507365" algn="l"/>
                <a:tab pos="511809" algn="l"/>
              </a:tabLst>
            </a:pPr>
            <a:r>
              <a:rPr sz="1600" dirty="0">
                <a:solidFill>
                  <a:srgbClr val="F2163D"/>
                </a:solidFill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Arrows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lines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diagram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behavioral </a:t>
            </a:r>
            <a:r>
              <a:rPr sz="1600" spc="-10" dirty="0">
                <a:latin typeface="Arial MT"/>
                <a:cs typeface="Arial MT"/>
              </a:rPr>
              <a:t>relationships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2F2F2F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7553" y="4335462"/>
            <a:ext cx="1739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60" dirty="0">
                <a:solidFill>
                  <a:srgbClr val="262626"/>
                </a:solidFill>
                <a:latin typeface="Arial MT"/>
                <a:cs typeface="Arial MT"/>
              </a:rPr>
              <a:t>2-</a:t>
            </a:r>
            <a:r>
              <a:rPr sz="750" spc="-65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r>
              <a:rPr sz="750" spc="-1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750" spc="-50" dirty="0">
                <a:solidFill>
                  <a:srgbClr val="696969"/>
                </a:solidFill>
                <a:latin typeface="Arial MT"/>
                <a:cs typeface="Arial MT"/>
              </a:rPr>
              <a:t>i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1740" y="266700"/>
            <a:ext cx="85979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35" dirty="0">
                <a:solidFill>
                  <a:srgbClr val="E1052D"/>
                </a:solidFill>
              </a:rPr>
              <a:t>Actor</a:t>
            </a:r>
            <a:endParaRPr sz="2900"/>
          </a:p>
        </p:txBody>
      </p:sp>
      <p:sp>
        <p:nvSpPr>
          <p:cNvPr id="6" name="object 6"/>
          <p:cNvSpPr txBox="1"/>
          <p:nvPr/>
        </p:nvSpPr>
        <p:spPr>
          <a:xfrm>
            <a:off x="830356" y="1293277"/>
            <a:ext cx="4717415" cy="319024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355"/>
              </a:spcBef>
              <a:buChar char="•"/>
              <a:tabLst>
                <a:tab pos="243840" algn="l"/>
              </a:tabLst>
            </a:pPr>
            <a:r>
              <a:rPr sz="2100" dirty="0">
                <a:latin typeface="Arial MT"/>
                <a:cs typeface="Arial MT"/>
              </a:rPr>
              <a:t>Divided</a:t>
            </a:r>
            <a:r>
              <a:rPr sz="2100" spc="10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into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two</a:t>
            </a:r>
            <a:r>
              <a:rPr sz="2100" spc="5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groups</a:t>
            </a:r>
            <a:endParaRPr sz="2100">
              <a:latin typeface="Arial MT"/>
              <a:cs typeface="Arial MT"/>
            </a:endParaRPr>
          </a:p>
          <a:p>
            <a:pPr marL="502284" lvl="1" indent="-183515">
              <a:lnSpc>
                <a:spcPct val="100000"/>
              </a:lnSpc>
              <a:spcBef>
                <a:spcPts val="229"/>
              </a:spcBef>
              <a:buClr>
                <a:srgbClr val="EB2642"/>
              </a:buClr>
              <a:buChar char="•"/>
              <a:tabLst>
                <a:tab pos="502284" algn="l"/>
              </a:tabLst>
            </a:pPr>
            <a:r>
              <a:rPr sz="1900" spc="-20" dirty="0">
                <a:latin typeface="Arial MT"/>
                <a:cs typeface="Arial MT"/>
              </a:rPr>
              <a:t>Primary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actors:</a:t>
            </a:r>
            <a:endParaRPr sz="1900">
              <a:latin typeface="Arial MT"/>
              <a:cs typeface="Arial MT"/>
            </a:endParaRPr>
          </a:p>
          <a:p>
            <a:pPr marL="772795" marR="68580" lvl="2" indent="-147955">
              <a:lnSpc>
                <a:spcPts val="1730"/>
              </a:lnSpc>
              <a:spcBef>
                <a:spcPts val="409"/>
              </a:spcBef>
              <a:buChar char="•"/>
              <a:tabLst>
                <a:tab pos="772795" algn="l"/>
                <a:tab pos="779780" algn="l"/>
              </a:tabLst>
            </a:pPr>
            <a:r>
              <a:rPr sz="1650" dirty="0">
                <a:solidFill>
                  <a:srgbClr val="808080"/>
                </a:solidFill>
                <a:latin typeface="Arial MT"/>
                <a:cs typeface="Arial MT"/>
              </a:rPr>
              <a:t>	</a:t>
            </a:r>
            <a:r>
              <a:rPr sz="1650" spc="-30" dirty="0">
                <a:latin typeface="Arial MT"/>
                <a:cs typeface="Arial MT"/>
              </a:rPr>
              <a:t>Supply</a:t>
            </a:r>
            <a:r>
              <a:rPr sz="1650" spc="-40" dirty="0">
                <a:latin typeface="Arial MT"/>
                <a:cs typeface="Arial MT"/>
              </a:rPr>
              <a:t> </a:t>
            </a:r>
            <a:r>
              <a:rPr sz="1650" spc="-20" dirty="0">
                <a:latin typeface="Arial MT"/>
                <a:cs typeface="Arial MT"/>
              </a:rPr>
              <a:t>data</a:t>
            </a:r>
            <a:r>
              <a:rPr sz="1650" spc="-9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or</a:t>
            </a:r>
            <a:r>
              <a:rPr sz="1650" spc="-50" dirty="0">
                <a:latin typeface="Arial MT"/>
                <a:cs typeface="Arial MT"/>
              </a:rPr>
              <a:t> </a:t>
            </a:r>
            <a:r>
              <a:rPr sz="1650" spc="-30" dirty="0">
                <a:latin typeface="Arial MT"/>
                <a:cs typeface="Arial MT"/>
              </a:rPr>
              <a:t>receive</a:t>
            </a:r>
            <a:r>
              <a:rPr sz="1650" spc="-50" dirty="0">
                <a:latin typeface="Arial MT"/>
                <a:cs typeface="Arial MT"/>
              </a:rPr>
              <a:t> </a:t>
            </a:r>
            <a:r>
              <a:rPr sz="1650" spc="-30" dirty="0">
                <a:latin typeface="Arial MT"/>
                <a:cs typeface="Arial MT"/>
              </a:rPr>
              <a:t>information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from</a:t>
            </a:r>
            <a:r>
              <a:rPr sz="1650" spc="-65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the </a:t>
            </a:r>
            <a:r>
              <a:rPr sz="1650" spc="-10" dirty="0">
                <a:latin typeface="Arial MT"/>
                <a:cs typeface="Arial MT"/>
              </a:rPr>
              <a:t>system.</a:t>
            </a:r>
            <a:endParaRPr sz="1650">
              <a:latin typeface="Arial MT"/>
              <a:cs typeface="Arial MT"/>
            </a:endParaRPr>
          </a:p>
          <a:p>
            <a:pPr marL="771525" marR="5080" lvl="2" indent="-147320">
              <a:lnSpc>
                <a:spcPts val="1730"/>
              </a:lnSpc>
              <a:spcBef>
                <a:spcPts val="365"/>
              </a:spcBef>
              <a:buClr>
                <a:srgbClr val="90837C"/>
              </a:buClr>
              <a:buChar char="•"/>
              <a:tabLst>
                <a:tab pos="771525" algn="l"/>
              </a:tabLst>
            </a:pPr>
            <a:r>
              <a:rPr sz="1700" spc="-70" dirty="0">
                <a:latin typeface="Arial MT"/>
                <a:cs typeface="Arial MT"/>
              </a:rPr>
              <a:t>Provide</a:t>
            </a:r>
            <a:r>
              <a:rPr sz="1700" spc="-50" dirty="0">
                <a:latin typeface="Arial MT"/>
                <a:cs typeface="Arial MT"/>
              </a:rPr>
              <a:t> details </a:t>
            </a:r>
            <a:r>
              <a:rPr sz="1700" dirty="0">
                <a:latin typeface="Arial MT"/>
                <a:cs typeface="Arial MT"/>
              </a:rPr>
              <a:t>on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-100" dirty="0">
                <a:latin typeface="Arial MT"/>
                <a:cs typeface="Arial MT"/>
              </a:rPr>
              <a:t>what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35" dirty="0">
                <a:latin typeface="Arial MT"/>
                <a:cs typeface="Arial MT"/>
              </a:rPr>
              <a:t>the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90" dirty="0">
                <a:solidFill>
                  <a:srgbClr val="0C0C0C"/>
                </a:solidFill>
                <a:latin typeface="Arial MT"/>
                <a:cs typeface="Arial MT"/>
              </a:rPr>
              <a:t>use</a:t>
            </a:r>
            <a:r>
              <a:rPr sz="1700" spc="-3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latin typeface="Arial MT"/>
                <a:cs typeface="Arial MT"/>
              </a:rPr>
              <a:t>case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45" dirty="0">
                <a:latin typeface="Arial MT"/>
                <a:cs typeface="Arial MT"/>
              </a:rPr>
              <a:t>should </a:t>
            </a:r>
            <a:r>
              <a:rPr sz="1700" spc="-25" dirty="0">
                <a:latin typeface="Arial MT"/>
                <a:cs typeface="Arial MT"/>
              </a:rPr>
              <a:t>do.</a:t>
            </a:r>
            <a:endParaRPr sz="1700">
              <a:latin typeface="Arial MT"/>
              <a:cs typeface="Arial MT"/>
            </a:endParaRPr>
          </a:p>
          <a:p>
            <a:pPr marL="510540" lvl="1" indent="-191770">
              <a:lnSpc>
                <a:spcPct val="100000"/>
              </a:lnSpc>
              <a:spcBef>
                <a:spcPts val="200"/>
              </a:spcBef>
              <a:buClr>
                <a:srgbClr val="D81631"/>
              </a:buClr>
              <a:buChar char="•"/>
              <a:tabLst>
                <a:tab pos="510540" algn="l"/>
              </a:tabLst>
            </a:pPr>
            <a:r>
              <a:rPr sz="1850" dirty="0">
                <a:latin typeface="Arial MT"/>
                <a:cs typeface="Arial MT"/>
              </a:rPr>
              <a:t>Supporting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actors:</a:t>
            </a:r>
            <a:endParaRPr sz="1850">
              <a:latin typeface="Arial MT"/>
              <a:cs typeface="Arial MT"/>
            </a:endParaRPr>
          </a:p>
          <a:p>
            <a:pPr marL="772160">
              <a:lnSpc>
                <a:spcPts val="1795"/>
              </a:lnSpc>
              <a:spcBef>
                <a:spcPts val="204"/>
              </a:spcBef>
            </a:pPr>
            <a:r>
              <a:rPr sz="1600" dirty="0">
                <a:latin typeface="Arial MT"/>
                <a:cs typeface="Arial MT"/>
              </a:rPr>
              <a:t>Help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keep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system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provide</a:t>
            </a:r>
            <a:endParaRPr sz="1600">
              <a:latin typeface="Arial MT"/>
              <a:cs typeface="Arial MT"/>
            </a:endParaRPr>
          </a:p>
          <a:p>
            <a:pPr marL="774700">
              <a:lnSpc>
                <a:spcPts val="1860"/>
              </a:lnSpc>
            </a:pPr>
            <a:r>
              <a:rPr sz="1650" spc="-10" dirty="0">
                <a:latin typeface="Arial MT"/>
                <a:cs typeface="Arial MT"/>
              </a:rPr>
              <a:t>help.</a:t>
            </a:r>
            <a:endParaRPr sz="1650">
              <a:latin typeface="Arial MT"/>
              <a:cs typeface="Arial MT"/>
            </a:endParaRPr>
          </a:p>
          <a:p>
            <a:pPr marL="771525" marR="497840" lvl="2" indent="-146685">
              <a:lnSpc>
                <a:spcPts val="1730"/>
              </a:lnSpc>
              <a:spcBef>
                <a:spcPts val="385"/>
              </a:spcBef>
              <a:buChar char="•"/>
              <a:tabLst>
                <a:tab pos="771525" algn="l"/>
                <a:tab pos="774065" algn="l"/>
              </a:tabLst>
            </a:pPr>
            <a:r>
              <a:rPr sz="1600" dirty="0">
                <a:solidFill>
                  <a:srgbClr val="857570"/>
                </a:solidFill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people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run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help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desk,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analysts,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programmers,</a:t>
            </a:r>
            <a:r>
              <a:rPr sz="1600" spc="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on.</a:t>
            </a:r>
            <a:endParaRPr sz="1600">
              <a:latin typeface="Arial MT"/>
              <a:cs typeface="Arial MT"/>
            </a:endParaRPr>
          </a:p>
          <a:p>
            <a:pPr marL="1155700">
              <a:lnSpc>
                <a:spcPct val="100000"/>
              </a:lnSpc>
              <a:spcBef>
                <a:spcPts val="975"/>
              </a:spcBef>
              <a:tabLst>
                <a:tab pos="1644650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2F2F2F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37741" y="4341812"/>
            <a:ext cx="18034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5" dirty="0">
                <a:solidFill>
                  <a:srgbClr val="262626"/>
                </a:solidFill>
                <a:latin typeface="Arial MT"/>
                <a:cs typeface="Arial MT"/>
              </a:rPr>
              <a:t>2-</a:t>
            </a:r>
            <a:r>
              <a:rPr sz="700" spc="-25" dirty="0">
                <a:solidFill>
                  <a:srgbClr val="262626"/>
                </a:solidFill>
                <a:latin typeface="Arial MT"/>
                <a:cs typeface="Arial MT"/>
              </a:rPr>
              <a:t>32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61925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6034">
              <a:lnSpc>
                <a:spcPts val="3240"/>
              </a:lnSpc>
              <a:spcBef>
                <a:spcPts val="100"/>
              </a:spcBef>
            </a:pPr>
            <a:r>
              <a:rPr sz="2700" dirty="0">
                <a:solidFill>
                  <a:srgbClr val="C32442"/>
                </a:solidFill>
              </a:rPr>
              <a:t>A</a:t>
            </a:r>
            <a:r>
              <a:rPr sz="2700" spc="-120" dirty="0">
                <a:solidFill>
                  <a:srgbClr val="C32442"/>
                </a:solidFill>
              </a:rPr>
              <a:t> </a:t>
            </a:r>
            <a:r>
              <a:rPr sz="2700" dirty="0">
                <a:solidFill>
                  <a:srgbClr val="BC0F2D"/>
                </a:solidFill>
              </a:rPr>
              <a:t>Use</a:t>
            </a:r>
            <a:r>
              <a:rPr sz="2700" spc="-85" dirty="0">
                <a:solidFill>
                  <a:srgbClr val="BC0F2D"/>
                </a:solidFill>
              </a:rPr>
              <a:t> </a:t>
            </a:r>
            <a:r>
              <a:rPr sz="2700" dirty="0">
                <a:solidFill>
                  <a:srgbClr val="B81C2F"/>
                </a:solidFill>
              </a:rPr>
              <a:t>Case</a:t>
            </a:r>
            <a:r>
              <a:rPr sz="2700" spc="-95" dirty="0">
                <a:solidFill>
                  <a:srgbClr val="B81C2F"/>
                </a:solidFill>
              </a:rPr>
              <a:t> </a:t>
            </a:r>
            <a:r>
              <a:rPr sz="2700" spc="-10" dirty="0">
                <a:solidFill>
                  <a:srgbClr val="B1233A"/>
                </a:solidFill>
              </a:rPr>
              <a:t>Always</a:t>
            </a:r>
            <a:r>
              <a:rPr sz="2700" spc="-120" dirty="0">
                <a:solidFill>
                  <a:srgbClr val="B1233A"/>
                </a:solidFill>
              </a:rPr>
              <a:t> </a:t>
            </a:r>
            <a:r>
              <a:rPr sz="2700" spc="-50" dirty="0">
                <a:solidFill>
                  <a:srgbClr val="AA2A42"/>
                </a:solidFill>
              </a:rPr>
              <a:t>Provides</a:t>
            </a:r>
            <a:endParaRPr sz="2700"/>
          </a:p>
          <a:p>
            <a:pPr marL="17780">
              <a:lnSpc>
                <a:spcPts val="3180"/>
              </a:lnSpc>
            </a:pPr>
            <a:r>
              <a:rPr sz="2650" dirty="0">
                <a:solidFill>
                  <a:srgbClr val="D31A36"/>
                </a:solidFill>
              </a:rPr>
              <a:t>Three</a:t>
            </a:r>
            <a:r>
              <a:rPr sz="2650" spc="-25" dirty="0">
                <a:solidFill>
                  <a:srgbClr val="D31A36"/>
                </a:solidFill>
              </a:rPr>
              <a:t> </a:t>
            </a:r>
            <a:r>
              <a:rPr sz="2650" spc="-10" dirty="0">
                <a:solidFill>
                  <a:srgbClr val="B12644"/>
                </a:solidFill>
              </a:rPr>
              <a:t>Things</a:t>
            </a:r>
            <a:endParaRPr sz="2650"/>
          </a:p>
        </p:txBody>
      </p:sp>
      <p:sp>
        <p:nvSpPr>
          <p:cNvPr id="7" name="object 7"/>
          <p:cNvSpPr txBox="1"/>
          <p:nvPr/>
        </p:nvSpPr>
        <p:spPr>
          <a:xfrm>
            <a:off x="829342" y="1292225"/>
            <a:ext cx="4911090" cy="15208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475"/>
              </a:spcBef>
              <a:buChar char="•"/>
              <a:tabLst>
                <a:tab pos="247015" algn="l"/>
              </a:tabLst>
            </a:pPr>
            <a:r>
              <a:rPr sz="2250" spc="-90" dirty="0">
                <a:latin typeface="Arial MT"/>
                <a:cs typeface="Arial MT"/>
              </a:rPr>
              <a:t>An</a:t>
            </a:r>
            <a:r>
              <a:rPr sz="2250" spc="-70" dirty="0">
                <a:latin typeface="Arial MT"/>
                <a:cs typeface="Arial MT"/>
              </a:rPr>
              <a:t> </a:t>
            </a:r>
            <a:r>
              <a:rPr sz="2250" spc="-30" dirty="0">
                <a:latin typeface="Arial MT"/>
                <a:cs typeface="Arial MT"/>
              </a:rPr>
              <a:t>actor</a:t>
            </a:r>
            <a:r>
              <a:rPr sz="2250" spc="-125" dirty="0">
                <a:latin typeface="Arial MT"/>
                <a:cs typeface="Arial MT"/>
              </a:rPr>
              <a:t> </a:t>
            </a:r>
            <a:r>
              <a:rPr sz="2250" spc="-55" dirty="0">
                <a:latin typeface="Arial MT"/>
                <a:cs typeface="Arial MT"/>
              </a:rPr>
              <a:t>that</a:t>
            </a:r>
            <a:r>
              <a:rPr sz="2250" spc="-100" dirty="0">
                <a:latin typeface="Arial MT"/>
                <a:cs typeface="Arial MT"/>
              </a:rPr>
              <a:t> </a:t>
            </a:r>
            <a:r>
              <a:rPr sz="2250" spc="-40" dirty="0">
                <a:latin typeface="Arial MT"/>
                <a:cs typeface="Arial MT"/>
              </a:rPr>
              <a:t>initiates</a:t>
            </a:r>
            <a:r>
              <a:rPr sz="2250" spc="10" dirty="0">
                <a:latin typeface="Arial MT"/>
                <a:cs typeface="Arial MT"/>
              </a:rPr>
              <a:t> </a:t>
            </a:r>
            <a:r>
              <a:rPr sz="2250" spc="-55" dirty="0">
                <a:latin typeface="Arial MT"/>
                <a:cs typeface="Arial MT"/>
              </a:rPr>
              <a:t>an</a:t>
            </a:r>
            <a:r>
              <a:rPr sz="2250" spc="-100" dirty="0">
                <a:latin typeface="Arial MT"/>
                <a:cs typeface="Arial MT"/>
              </a:rPr>
              <a:t> </a:t>
            </a:r>
            <a:r>
              <a:rPr sz="2250" spc="-20" dirty="0">
                <a:latin typeface="Arial MT"/>
                <a:cs typeface="Arial MT"/>
              </a:rPr>
              <a:t>event</a:t>
            </a:r>
            <a:endParaRPr sz="225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375"/>
              </a:spcBef>
              <a:buChar char="•"/>
              <a:tabLst>
                <a:tab pos="240029" algn="l"/>
              </a:tabLst>
            </a:pPr>
            <a:r>
              <a:rPr sz="2250" spc="-20" dirty="0">
                <a:latin typeface="Arial MT"/>
                <a:cs typeface="Arial MT"/>
              </a:rPr>
              <a:t>The</a:t>
            </a:r>
            <a:r>
              <a:rPr sz="2250" spc="-114" dirty="0">
                <a:latin typeface="Arial MT"/>
                <a:cs typeface="Arial MT"/>
              </a:rPr>
              <a:t> </a:t>
            </a:r>
            <a:r>
              <a:rPr sz="2250" spc="-65" dirty="0">
                <a:latin typeface="Arial MT"/>
                <a:cs typeface="Arial MT"/>
              </a:rPr>
              <a:t>event</a:t>
            </a:r>
            <a:r>
              <a:rPr sz="2250" spc="-95" dirty="0">
                <a:latin typeface="Arial MT"/>
                <a:cs typeface="Arial MT"/>
              </a:rPr>
              <a:t> </a:t>
            </a:r>
            <a:r>
              <a:rPr sz="2250" spc="-45" dirty="0">
                <a:latin typeface="Arial MT"/>
                <a:cs typeface="Arial MT"/>
              </a:rPr>
              <a:t>that</a:t>
            </a:r>
            <a:r>
              <a:rPr sz="2250" spc="-110" dirty="0">
                <a:latin typeface="Arial MT"/>
                <a:cs typeface="Arial MT"/>
              </a:rPr>
              <a:t> </a:t>
            </a:r>
            <a:r>
              <a:rPr sz="2250" spc="-40" dirty="0">
                <a:latin typeface="Arial MT"/>
                <a:cs typeface="Arial MT"/>
              </a:rPr>
              <a:t>triggers</a:t>
            </a:r>
            <a:r>
              <a:rPr sz="2250" spc="-2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</a:t>
            </a:r>
            <a:r>
              <a:rPr sz="2250" spc="-145" dirty="0">
                <a:latin typeface="Arial MT"/>
                <a:cs typeface="Arial MT"/>
              </a:rPr>
              <a:t> </a:t>
            </a:r>
            <a:r>
              <a:rPr sz="2250" spc="-45" dirty="0">
                <a:latin typeface="Arial MT"/>
                <a:cs typeface="Arial MT"/>
              </a:rPr>
              <a:t>use</a:t>
            </a:r>
            <a:r>
              <a:rPr sz="2250" spc="-110" dirty="0">
                <a:latin typeface="Arial MT"/>
                <a:cs typeface="Arial MT"/>
              </a:rPr>
              <a:t> </a:t>
            </a:r>
            <a:r>
              <a:rPr sz="2250" spc="-20" dirty="0">
                <a:latin typeface="Arial MT"/>
                <a:cs typeface="Arial MT"/>
              </a:rPr>
              <a:t>case</a:t>
            </a:r>
            <a:endParaRPr sz="2250">
              <a:latin typeface="Arial MT"/>
              <a:cs typeface="Arial MT"/>
            </a:endParaRPr>
          </a:p>
          <a:p>
            <a:pPr marL="240029" marR="5080" indent="-227965">
              <a:lnSpc>
                <a:spcPts val="2550"/>
              </a:lnSpc>
              <a:spcBef>
                <a:spcPts val="585"/>
              </a:spcBef>
              <a:buChar char="•"/>
              <a:tabLst>
                <a:tab pos="241935" algn="l"/>
              </a:tabLst>
            </a:pPr>
            <a:r>
              <a:rPr sz="2250" spc="-50" dirty="0">
                <a:latin typeface="Arial MT"/>
                <a:cs typeface="Arial MT"/>
              </a:rPr>
              <a:t>The</a:t>
            </a:r>
            <a:r>
              <a:rPr sz="2250" spc="-120" dirty="0">
                <a:latin typeface="Arial MT"/>
                <a:cs typeface="Arial MT"/>
              </a:rPr>
              <a:t> </a:t>
            </a:r>
            <a:r>
              <a:rPr sz="2250" spc="-45" dirty="0">
                <a:latin typeface="Arial MT"/>
                <a:cs typeface="Arial MT"/>
              </a:rPr>
              <a:t>use</a:t>
            </a:r>
            <a:r>
              <a:rPr sz="2250" spc="-95" dirty="0">
                <a:latin typeface="Arial MT"/>
                <a:cs typeface="Arial MT"/>
              </a:rPr>
              <a:t> </a:t>
            </a:r>
            <a:r>
              <a:rPr sz="2250" spc="-60" dirty="0">
                <a:latin typeface="Arial MT"/>
                <a:cs typeface="Arial MT"/>
              </a:rPr>
              <a:t>case</a:t>
            </a:r>
            <a:r>
              <a:rPr sz="2250" spc="-95" dirty="0">
                <a:latin typeface="Arial MT"/>
                <a:cs typeface="Arial MT"/>
              </a:rPr>
              <a:t> </a:t>
            </a:r>
            <a:r>
              <a:rPr sz="2250" spc="-25" dirty="0">
                <a:latin typeface="Arial MT"/>
                <a:cs typeface="Arial MT"/>
              </a:rPr>
              <a:t>that</a:t>
            </a:r>
            <a:r>
              <a:rPr sz="2250" spc="-75" dirty="0">
                <a:latin typeface="Arial MT"/>
                <a:cs typeface="Arial MT"/>
              </a:rPr>
              <a:t> </a:t>
            </a:r>
            <a:r>
              <a:rPr sz="2250" spc="-65" dirty="0">
                <a:latin typeface="Arial MT"/>
                <a:cs typeface="Arial MT"/>
              </a:rPr>
              <a:t>performs </a:t>
            </a:r>
            <a:r>
              <a:rPr sz="2250" spc="-35" dirty="0">
                <a:latin typeface="Arial MT"/>
                <a:cs typeface="Arial MT"/>
              </a:rPr>
              <a:t>the</a:t>
            </a:r>
            <a:r>
              <a:rPr sz="2250" spc="-100" dirty="0">
                <a:latin typeface="Arial MT"/>
                <a:cs typeface="Arial MT"/>
              </a:rPr>
              <a:t> </a:t>
            </a:r>
            <a:r>
              <a:rPr sz="2250" spc="-70" dirty="0">
                <a:latin typeface="Arial MT"/>
                <a:cs typeface="Arial MT"/>
              </a:rPr>
              <a:t>actions 	</a:t>
            </a:r>
            <a:r>
              <a:rPr sz="2250" spc="-55" dirty="0">
                <a:latin typeface="Arial MT"/>
                <a:cs typeface="Arial MT"/>
              </a:rPr>
              <a:t>triggered</a:t>
            </a:r>
            <a:r>
              <a:rPr sz="2250" spc="-8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by</a:t>
            </a:r>
            <a:r>
              <a:rPr sz="2250" spc="-105" dirty="0">
                <a:latin typeface="Arial MT"/>
                <a:cs typeface="Arial MT"/>
              </a:rPr>
              <a:t> </a:t>
            </a:r>
            <a:r>
              <a:rPr sz="2250" spc="-35" dirty="0">
                <a:latin typeface="Arial MT"/>
                <a:cs typeface="Arial MT"/>
              </a:rPr>
              <a:t>the</a:t>
            </a:r>
            <a:r>
              <a:rPr sz="2250" spc="-125" dirty="0">
                <a:latin typeface="Arial MT"/>
                <a:cs typeface="Arial MT"/>
              </a:rPr>
              <a:t> </a:t>
            </a:r>
            <a:r>
              <a:rPr sz="2250" spc="-10" dirty="0">
                <a:latin typeface="Arial MT"/>
                <a:cs typeface="Arial MT"/>
              </a:rPr>
              <a:t>event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1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52400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0823" y="271462"/>
            <a:ext cx="326390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DD0123"/>
                </a:solidFill>
              </a:rPr>
              <a:t>Use</a:t>
            </a:r>
            <a:r>
              <a:rPr sz="2900" spc="-45" dirty="0">
                <a:solidFill>
                  <a:srgbClr val="DD0123"/>
                </a:solidFill>
              </a:rPr>
              <a:t> </a:t>
            </a:r>
            <a:r>
              <a:rPr sz="2900" dirty="0">
                <a:solidFill>
                  <a:srgbClr val="EF0F34"/>
                </a:solidFill>
              </a:rPr>
              <a:t>Case</a:t>
            </a:r>
            <a:r>
              <a:rPr sz="2900" spc="5" dirty="0">
                <a:solidFill>
                  <a:srgbClr val="EF0F34"/>
                </a:solidFill>
              </a:rPr>
              <a:t> </a:t>
            </a:r>
            <a:r>
              <a:rPr sz="2900" spc="-10" dirty="0">
                <a:solidFill>
                  <a:srgbClr val="E1052B"/>
                </a:solidFill>
              </a:rPr>
              <a:t>Relations</a:t>
            </a:r>
            <a:endParaRPr sz="2900"/>
          </a:p>
        </p:txBody>
      </p:sp>
      <p:sp>
        <p:nvSpPr>
          <p:cNvPr id="7" name="object 7"/>
          <p:cNvSpPr txBox="1"/>
          <p:nvPr/>
        </p:nvSpPr>
        <p:spPr>
          <a:xfrm>
            <a:off x="829342" y="1272273"/>
            <a:ext cx="4878070" cy="236537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4475" indent="-231775">
              <a:lnSpc>
                <a:spcPct val="100000"/>
              </a:lnSpc>
              <a:spcBef>
                <a:spcPts val="630"/>
              </a:spcBef>
              <a:buChar char="•"/>
              <a:tabLst>
                <a:tab pos="244475" algn="l"/>
              </a:tabLst>
            </a:pPr>
            <a:r>
              <a:rPr sz="2250" spc="-65" dirty="0">
                <a:latin typeface="Arial MT"/>
                <a:cs typeface="Arial MT"/>
              </a:rPr>
              <a:t>Behavioral</a:t>
            </a:r>
            <a:r>
              <a:rPr sz="2250" spc="-60" dirty="0">
                <a:latin typeface="Arial MT"/>
                <a:cs typeface="Arial MT"/>
              </a:rPr>
              <a:t> </a:t>
            </a:r>
            <a:r>
              <a:rPr sz="2250" spc="-10" dirty="0">
                <a:latin typeface="Arial MT"/>
                <a:cs typeface="Arial MT"/>
              </a:rPr>
              <a:t>relationships</a:t>
            </a:r>
            <a:endParaRPr sz="2250">
              <a:latin typeface="Arial MT"/>
              <a:cs typeface="Arial MT"/>
            </a:endParaRPr>
          </a:p>
          <a:p>
            <a:pPr marL="510540" lvl="1" indent="-190500">
              <a:lnSpc>
                <a:spcPct val="100000"/>
              </a:lnSpc>
              <a:spcBef>
                <a:spcPts val="439"/>
              </a:spcBef>
              <a:buClr>
                <a:srgbClr val="FF1D44"/>
              </a:buClr>
              <a:buChar char="•"/>
              <a:tabLst>
                <a:tab pos="510540" algn="l"/>
              </a:tabLst>
            </a:pPr>
            <a:r>
              <a:rPr sz="1850" spc="-10" dirty="0">
                <a:latin typeface="Arial MT"/>
                <a:cs typeface="Arial MT"/>
              </a:rPr>
              <a:t>Communicates</a:t>
            </a:r>
            <a:endParaRPr sz="1850">
              <a:latin typeface="Arial MT"/>
              <a:cs typeface="Arial MT"/>
            </a:endParaRPr>
          </a:p>
          <a:p>
            <a:pPr marL="769620" lvl="2" indent="-135890">
              <a:lnSpc>
                <a:spcPct val="100000"/>
              </a:lnSpc>
              <a:spcBef>
                <a:spcPts val="430"/>
              </a:spcBef>
              <a:buClr>
                <a:srgbClr val="90837C"/>
              </a:buClr>
              <a:buChar char="•"/>
              <a:tabLst>
                <a:tab pos="769620" algn="l"/>
              </a:tabLst>
            </a:pPr>
            <a:r>
              <a:rPr sz="1900" dirty="0">
                <a:latin typeface="Arial MT"/>
                <a:cs typeface="Arial MT"/>
              </a:rPr>
              <a:t>Used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connect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</a:t>
            </a:r>
            <a:r>
              <a:rPr sz="1900" spc="-1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actor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use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case</a:t>
            </a:r>
            <a:endParaRPr sz="1900">
              <a:latin typeface="Arial MT"/>
              <a:cs typeface="Arial MT"/>
            </a:endParaRPr>
          </a:p>
          <a:p>
            <a:pPr marL="508634" lvl="1" indent="-189230">
              <a:lnSpc>
                <a:spcPct val="100000"/>
              </a:lnSpc>
              <a:spcBef>
                <a:spcPts val="420"/>
              </a:spcBef>
              <a:buClr>
                <a:srgbClr val="FF2349"/>
              </a:buClr>
              <a:buChar char="•"/>
              <a:tabLst>
                <a:tab pos="508634" algn="l"/>
              </a:tabLst>
            </a:pPr>
            <a:r>
              <a:rPr sz="1900" spc="-10" dirty="0">
                <a:latin typeface="Arial MT"/>
                <a:cs typeface="Arial MT"/>
              </a:rPr>
              <a:t>Includes</a:t>
            </a:r>
            <a:endParaRPr sz="1900">
              <a:latin typeface="Arial MT"/>
              <a:cs typeface="Arial MT"/>
            </a:endParaRPr>
          </a:p>
          <a:p>
            <a:pPr marL="769620" marR="20320" lvl="2" indent="-135890">
              <a:lnSpc>
                <a:spcPct val="97000"/>
              </a:lnSpc>
              <a:spcBef>
                <a:spcPts val="484"/>
              </a:spcBef>
              <a:buClr>
                <a:srgbClr val="89756E"/>
              </a:buClr>
              <a:buChar char="•"/>
              <a:tabLst>
                <a:tab pos="770890" algn="l"/>
              </a:tabLst>
            </a:pPr>
            <a:r>
              <a:rPr sz="1900" spc="-25" dirty="0">
                <a:latin typeface="Arial MT"/>
                <a:cs typeface="Arial MT"/>
              </a:rPr>
              <a:t>Describes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situation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which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13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use 	</a:t>
            </a:r>
            <a:r>
              <a:rPr sz="1900" dirty="0">
                <a:latin typeface="Arial MT"/>
                <a:cs typeface="Arial MT"/>
              </a:rPr>
              <a:t>case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spc="-30" dirty="0">
                <a:latin typeface="Arial MT"/>
                <a:cs typeface="Arial MT"/>
              </a:rPr>
              <a:t>contains</a:t>
            </a:r>
            <a:r>
              <a:rPr sz="1900" spc="3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behavior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that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13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common 	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more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than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one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use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case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2D2D2D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3D3D3D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61925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0823" y="271462"/>
            <a:ext cx="326390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E10326"/>
                </a:solidFill>
              </a:rPr>
              <a:t>Use</a:t>
            </a:r>
            <a:r>
              <a:rPr sz="2900" spc="-45" dirty="0">
                <a:solidFill>
                  <a:srgbClr val="E10326"/>
                </a:solidFill>
              </a:rPr>
              <a:t> </a:t>
            </a:r>
            <a:r>
              <a:rPr sz="2900" dirty="0">
                <a:solidFill>
                  <a:srgbClr val="EF0F34"/>
                </a:solidFill>
              </a:rPr>
              <a:t>Case</a:t>
            </a:r>
            <a:r>
              <a:rPr sz="2900" spc="5" dirty="0">
                <a:solidFill>
                  <a:srgbClr val="EF0F34"/>
                </a:solidFill>
              </a:rPr>
              <a:t> </a:t>
            </a:r>
            <a:r>
              <a:rPr sz="2900" spc="-10" dirty="0">
                <a:solidFill>
                  <a:srgbClr val="E1052B"/>
                </a:solidFill>
              </a:rPr>
              <a:t>Relations</a:t>
            </a:r>
            <a:endParaRPr sz="2900"/>
          </a:p>
        </p:txBody>
      </p:sp>
      <p:sp>
        <p:nvSpPr>
          <p:cNvPr id="7" name="object 7"/>
          <p:cNvSpPr txBox="1"/>
          <p:nvPr/>
        </p:nvSpPr>
        <p:spPr>
          <a:xfrm>
            <a:off x="830356" y="1298541"/>
            <a:ext cx="5008880" cy="26492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310"/>
              </a:spcBef>
              <a:buChar char="•"/>
              <a:tabLst>
                <a:tab pos="245110" algn="l"/>
              </a:tabLst>
            </a:pPr>
            <a:r>
              <a:rPr sz="2100" dirty="0">
                <a:latin typeface="Arial MT"/>
                <a:cs typeface="Arial MT"/>
              </a:rPr>
              <a:t>Behavioral</a:t>
            </a:r>
            <a:r>
              <a:rPr sz="2100" spc="114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relationships</a:t>
            </a:r>
            <a:r>
              <a:rPr sz="2100" spc="16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(continued)</a:t>
            </a:r>
            <a:endParaRPr sz="2100">
              <a:latin typeface="Arial MT"/>
              <a:cs typeface="Arial MT"/>
            </a:endParaRPr>
          </a:p>
          <a:p>
            <a:pPr marL="511175" lvl="1" indent="-192405">
              <a:lnSpc>
                <a:spcPct val="100000"/>
              </a:lnSpc>
              <a:spcBef>
                <a:spcPts val="195"/>
              </a:spcBef>
              <a:buClr>
                <a:srgbClr val="EB2642"/>
              </a:buClr>
              <a:buChar char="•"/>
              <a:tabLst>
                <a:tab pos="511175" algn="l"/>
              </a:tabLst>
            </a:pPr>
            <a:r>
              <a:rPr sz="1900" spc="-10" dirty="0">
                <a:latin typeface="Arial MT"/>
                <a:cs typeface="Arial MT"/>
              </a:rPr>
              <a:t>Extends</a:t>
            </a:r>
            <a:endParaRPr sz="1900">
              <a:latin typeface="Arial MT"/>
              <a:cs typeface="Arial MT"/>
            </a:endParaRPr>
          </a:p>
          <a:p>
            <a:pPr marL="768350" marR="5080" lvl="2" indent="-135890">
              <a:lnSpc>
                <a:spcPct val="88300"/>
              </a:lnSpc>
              <a:spcBef>
                <a:spcPts val="459"/>
              </a:spcBef>
              <a:buClr>
                <a:srgbClr val="938279"/>
              </a:buClr>
              <a:buChar char="•"/>
              <a:tabLst>
                <a:tab pos="769620" algn="l"/>
              </a:tabLst>
            </a:pPr>
            <a:r>
              <a:rPr sz="1900" spc="-25" dirty="0">
                <a:latin typeface="Arial MT"/>
                <a:cs typeface="Arial MT"/>
              </a:rPr>
              <a:t>Describes</a:t>
            </a:r>
            <a:r>
              <a:rPr sz="1900" dirty="0">
                <a:latin typeface="Arial MT"/>
                <a:cs typeface="Arial MT"/>
              </a:rPr>
              <a:t> the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situation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which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one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use 	</a:t>
            </a:r>
            <a:r>
              <a:rPr sz="1900" dirty="0">
                <a:latin typeface="Arial MT"/>
                <a:cs typeface="Arial MT"/>
              </a:rPr>
              <a:t>case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35" dirty="0">
                <a:latin typeface="Arial MT"/>
                <a:cs typeface="Arial MT"/>
              </a:rPr>
              <a:t>possesses</a:t>
            </a:r>
            <a:r>
              <a:rPr sz="1900" spc="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the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behavior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that</a:t>
            </a:r>
            <a:r>
              <a:rPr sz="1900" spc="-11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allows 	the</a:t>
            </a:r>
            <a:r>
              <a:rPr sz="1900" spc="-1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new</a:t>
            </a:r>
            <a:r>
              <a:rPr sz="1900" spc="-1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case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13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handle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variation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or 	</a:t>
            </a:r>
            <a:r>
              <a:rPr sz="1900" spc="-30" dirty="0">
                <a:latin typeface="Arial MT"/>
                <a:cs typeface="Arial MT"/>
              </a:rPr>
              <a:t>exception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from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the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basic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use</a:t>
            </a:r>
            <a:r>
              <a:rPr sz="1900" spc="-12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case</a:t>
            </a:r>
            <a:endParaRPr sz="1900">
              <a:latin typeface="Arial MT"/>
              <a:cs typeface="Arial MT"/>
            </a:endParaRPr>
          </a:p>
          <a:p>
            <a:pPr marL="508634" lvl="1" indent="-189865">
              <a:lnSpc>
                <a:spcPct val="100000"/>
              </a:lnSpc>
              <a:spcBef>
                <a:spcPts val="245"/>
              </a:spcBef>
              <a:buClr>
                <a:srgbClr val="F2344D"/>
              </a:buClr>
              <a:buChar char="•"/>
              <a:tabLst>
                <a:tab pos="508634" algn="l"/>
              </a:tabLst>
            </a:pPr>
            <a:r>
              <a:rPr sz="1850" spc="-10" dirty="0">
                <a:latin typeface="Arial MT"/>
                <a:cs typeface="Arial MT"/>
              </a:rPr>
              <a:t>Generalizes</a:t>
            </a:r>
            <a:endParaRPr sz="1850">
              <a:latin typeface="Arial MT"/>
              <a:cs typeface="Arial MT"/>
            </a:endParaRPr>
          </a:p>
          <a:p>
            <a:pPr marL="774700" marR="416559" indent="635">
              <a:lnSpc>
                <a:spcPts val="1989"/>
              </a:lnSpc>
              <a:spcBef>
                <a:spcPts val="515"/>
              </a:spcBef>
            </a:pPr>
            <a:r>
              <a:rPr sz="1900" spc="-25" dirty="0">
                <a:latin typeface="Arial MT"/>
                <a:cs typeface="Arial MT"/>
              </a:rPr>
              <a:t>Implies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that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one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thing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more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typical than</a:t>
            </a:r>
            <a:r>
              <a:rPr sz="1900" spc="-1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other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thing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65656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952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4098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816607" y="2314194"/>
            <a:ext cx="1051560" cy="0"/>
          </a:xfrm>
          <a:custGeom>
            <a:avLst/>
            <a:gdLst/>
            <a:ahLst/>
            <a:cxnLst/>
            <a:rect l="l" t="t" r="r" b="b"/>
            <a:pathLst>
              <a:path w="1051560">
                <a:moveTo>
                  <a:pt x="0" y="0"/>
                </a:moveTo>
                <a:lnTo>
                  <a:pt x="1051560" y="0"/>
                </a:lnTo>
              </a:path>
            </a:pathLst>
          </a:custGeom>
          <a:ln w="21336">
            <a:solidFill>
              <a:srgbClr val="BC57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8576" y="2152650"/>
            <a:ext cx="5154295" cy="0"/>
          </a:xfrm>
          <a:custGeom>
            <a:avLst/>
            <a:gdLst/>
            <a:ahLst/>
            <a:cxnLst/>
            <a:rect l="l" t="t" r="r" b="b"/>
            <a:pathLst>
              <a:path w="5154295">
                <a:moveTo>
                  <a:pt x="0" y="0"/>
                </a:moveTo>
                <a:lnTo>
                  <a:pt x="5154168" y="0"/>
                </a:lnTo>
              </a:path>
            </a:pathLst>
          </a:custGeom>
          <a:ln w="21336">
            <a:solidFill>
              <a:srgbClr val="2B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466975"/>
            <a:ext cx="390525" cy="6000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" y="2009775"/>
            <a:ext cx="504825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400" y="2600325"/>
            <a:ext cx="333375" cy="76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400" y="2895600"/>
            <a:ext cx="304800" cy="152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90700" y="2543175"/>
            <a:ext cx="4038600" cy="20002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828800" y="2886075"/>
            <a:ext cx="1066800" cy="180975"/>
            <a:chOff x="1828800" y="2886075"/>
            <a:chExt cx="1066800" cy="180975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66925" y="2886075"/>
              <a:ext cx="542925" cy="857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8800" y="2971800"/>
              <a:ext cx="1066800" cy="9525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209925" y="2847975"/>
            <a:ext cx="819150" cy="1333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67300" y="2857500"/>
            <a:ext cx="781050" cy="10477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43550" y="4381500"/>
            <a:ext cx="171450" cy="6667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66750" y="4391025"/>
            <a:ext cx="657225" cy="6667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238500" y="2009775"/>
            <a:ext cx="352425" cy="9525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3209925" y="2857500"/>
            <a:ext cx="2352675" cy="214629"/>
            <a:chOff x="3209925" y="2857500"/>
            <a:chExt cx="2352675" cy="214629"/>
          </a:xfrm>
        </p:grpSpPr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57650" y="2857500"/>
              <a:ext cx="981075" cy="1238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09925" y="2943225"/>
              <a:ext cx="2352675" cy="128587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981200" y="3238500"/>
            <a:ext cx="3419475" cy="1238250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01786" y="258762"/>
            <a:ext cx="4667250" cy="76263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4604" marR="5080" indent="-2540" algn="just">
              <a:lnSpc>
                <a:spcPct val="96600"/>
              </a:lnSpc>
              <a:spcBef>
                <a:spcPts val="165"/>
              </a:spcBef>
            </a:pPr>
            <a:r>
              <a:rPr sz="1650" spc="-10" dirty="0">
                <a:solidFill>
                  <a:srgbClr val="971831"/>
                </a:solidFill>
              </a:rPr>
              <a:t>Some</a:t>
            </a:r>
            <a:r>
              <a:rPr sz="1650" spc="-110" dirty="0">
                <a:solidFill>
                  <a:srgbClr val="971831"/>
                </a:solidFill>
              </a:rPr>
              <a:t> </a:t>
            </a:r>
            <a:r>
              <a:rPr sz="1650" spc="-30" dirty="0">
                <a:solidFill>
                  <a:srgbClr val="9A3142"/>
                </a:solidFill>
              </a:rPr>
              <a:t>Components</a:t>
            </a:r>
            <a:r>
              <a:rPr sz="1650" spc="-45" dirty="0">
                <a:solidFill>
                  <a:srgbClr val="9A3142"/>
                </a:solidFill>
              </a:rPr>
              <a:t> </a:t>
            </a:r>
            <a:r>
              <a:rPr sz="1650" dirty="0">
                <a:solidFill>
                  <a:srgbClr val="BC6272"/>
                </a:solidFill>
              </a:rPr>
              <a:t>of</a:t>
            </a:r>
            <a:r>
              <a:rPr sz="1650" spc="-114" dirty="0">
                <a:solidFill>
                  <a:srgbClr val="BC6272"/>
                </a:solidFill>
              </a:rPr>
              <a:t> </a:t>
            </a:r>
            <a:r>
              <a:rPr sz="1650" spc="-10" dirty="0">
                <a:solidFill>
                  <a:srgbClr val="902334"/>
                </a:solidFill>
              </a:rPr>
              <a:t>Use</a:t>
            </a:r>
            <a:r>
              <a:rPr sz="1650" spc="-110" dirty="0">
                <a:solidFill>
                  <a:srgbClr val="902334"/>
                </a:solidFill>
              </a:rPr>
              <a:t> </a:t>
            </a:r>
            <a:r>
              <a:rPr sz="1650" spc="-20" dirty="0">
                <a:solidFill>
                  <a:srgbClr val="A74659"/>
                </a:solidFill>
              </a:rPr>
              <a:t>Case</a:t>
            </a:r>
            <a:r>
              <a:rPr sz="1650" spc="-95" dirty="0">
                <a:solidFill>
                  <a:srgbClr val="A74659"/>
                </a:solidFill>
              </a:rPr>
              <a:t> </a:t>
            </a:r>
            <a:r>
              <a:rPr sz="1650" spc="-20" dirty="0">
                <a:solidFill>
                  <a:srgbClr val="A82F46"/>
                </a:solidFill>
              </a:rPr>
              <a:t>Diagrams</a:t>
            </a:r>
            <a:r>
              <a:rPr sz="1650" spc="-15" dirty="0">
                <a:solidFill>
                  <a:srgbClr val="A82F46"/>
                </a:solidFill>
              </a:rPr>
              <a:t> </a:t>
            </a:r>
            <a:r>
              <a:rPr sz="1650" spc="-45" dirty="0">
                <a:solidFill>
                  <a:srgbClr val="A12138"/>
                </a:solidFill>
              </a:rPr>
              <a:t>Showing </a:t>
            </a:r>
            <a:r>
              <a:rPr sz="1650" spc="-35" dirty="0">
                <a:solidFill>
                  <a:srgbClr val="A31A34"/>
                </a:solidFill>
              </a:rPr>
              <a:t>Actors,</a:t>
            </a:r>
            <a:r>
              <a:rPr sz="1650" spc="-85" dirty="0">
                <a:solidFill>
                  <a:srgbClr val="A31A34"/>
                </a:solidFill>
              </a:rPr>
              <a:t> </a:t>
            </a:r>
            <a:r>
              <a:rPr sz="1650" spc="-10" dirty="0">
                <a:solidFill>
                  <a:srgbClr val="A52D46"/>
                </a:solidFill>
              </a:rPr>
              <a:t>Use</a:t>
            </a:r>
            <a:r>
              <a:rPr sz="1650" spc="-80" dirty="0">
                <a:solidFill>
                  <a:srgbClr val="A52D46"/>
                </a:solidFill>
              </a:rPr>
              <a:t> </a:t>
            </a:r>
            <a:r>
              <a:rPr sz="1650" spc="-20" dirty="0">
                <a:solidFill>
                  <a:srgbClr val="8C2334"/>
                </a:solidFill>
              </a:rPr>
              <a:t>Cases, </a:t>
            </a:r>
            <a:r>
              <a:rPr sz="1650" spc="-20" dirty="0">
                <a:solidFill>
                  <a:srgbClr val="950F28"/>
                </a:solidFill>
              </a:rPr>
              <a:t>and</a:t>
            </a:r>
            <a:r>
              <a:rPr sz="1650" spc="-95" dirty="0">
                <a:solidFill>
                  <a:srgbClr val="950F28"/>
                </a:solidFill>
              </a:rPr>
              <a:t> </a:t>
            </a:r>
            <a:r>
              <a:rPr sz="1650" spc="-25" dirty="0">
                <a:solidFill>
                  <a:srgbClr val="B51636"/>
                </a:solidFill>
              </a:rPr>
              <a:t>Relationships</a:t>
            </a:r>
            <a:r>
              <a:rPr sz="1650" spc="-10" dirty="0">
                <a:solidFill>
                  <a:srgbClr val="B51636"/>
                </a:solidFill>
              </a:rPr>
              <a:t> </a:t>
            </a:r>
            <a:r>
              <a:rPr sz="1650" dirty="0">
                <a:solidFill>
                  <a:srgbClr val="902D42"/>
                </a:solidFill>
              </a:rPr>
              <a:t>for</a:t>
            </a:r>
            <a:r>
              <a:rPr sz="1650" spc="-114" dirty="0">
                <a:solidFill>
                  <a:srgbClr val="902D42"/>
                </a:solidFill>
              </a:rPr>
              <a:t> </a:t>
            </a:r>
            <a:r>
              <a:rPr sz="1650" dirty="0">
                <a:solidFill>
                  <a:srgbClr val="9E1838"/>
                </a:solidFill>
              </a:rPr>
              <a:t>a</a:t>
            </a:r>
            <a:r>
              <a:rPr sz="1650" spc="-110" dirty="0">
                <a:solidFill>
                  <a:srgbClr val="9E1838"/>
                </a:solidFill>
              </a:rPr>
              <a:t> </a:t>
            </a:r>
            <a:r>
              <a:rPr sz="1650" spc="-10" dirty="0">
                <a:solidFill>
                  <a:srgbClr val="931F36"/>
                </a:solidFill>
              </a:rPr>
              <a:t>Student </a:t>
            </a:r>
            <a:r>
              <a:rPr sz="1650" spc="-30" dirty="0">
                <a:solidFill>
                  <a:srgbClr val="8E1131"/>
                </a:solidFill>
              </a:rPr>
              <a:t>Enrollment </a:t>
            </a:r>
            <a:r>
              <a:rPr sz="1650" spc="-30" dirty="0">
                <a:solidFill>
                  <a:srgbClr val="AA1836"/>
                </a:solidFill>
              </a:rPr>
              <a:t>Example</a:t>
            </a:r>
            <a:r>
              <a:rPr sz="1650" spc="-85" dirty="0">
                <a:solidFill>
                  <a:srgbClr val="AA1836"/>
                </a:solidFill>
              </a:rPr>
              <a:t> </a:t>
            </a:r>
            <a:r>
              <a:rPr sz="1650" spc="-20" dirty="0">
                <a:solidFill>
                  <a:srgbClr val="802136"/>
                </a:solidFill>
              </a:rPr>
              <a:t>(Figure</a:t>
            </a:r>
            <a:r>
              <a:rPr sz="1650" spc="-55" dirty="0">
                <a:solidFill>
                  <a:srgbClr val="802136"/>
                </a:solidFill>
              </a:rPr>
              <a:t> </a:t>
            </a:r>
            <a:r>
              <a:rPr sz="1650" spc="-10" dirty="0">
                <a:solidFill>
                  <a:srgbClr val="BA1D42"/>
                </a:solidFill>
              </a:rPr>
              <a:t>2.13)</a:t>
            </a:r>
            <a:endParaRPr sz="1650"/>
          </a:p>
        </p:txBody>
      </p:sp>
      <p:sp>
        <p:nvSpPr>
          <p:cNvPr id="24" name="object 24"/>
          <p:cNvSpPr txBox="1"/>
          <p:nvPr/>
        </p:nvSpPr>
        <p:spPr>
          <a:xfrm>
            <a:off x="2174570" y="1928812"/>
            <a:ext cx="3175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90" dirty="0">
                <a:solidFill>
                  <a:srgbClr val="AAA58E"/>
                </a:solidFill>
                <a:latin typeface="Arial Black"/>
                <a:cs typeface="Arial Black"/>
              </a:rPr>
              <a:t>sjma&lt;i</a:t>
            </a:r>
            <a:endParaRPr sz="11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257800" cy="45529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1133" y="258762"/>
            <a:ext cx="4671060" cy="8820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635">
              <a:lnSpc>
                <a:spcPct val="96600"/>
              </a:lnSpc>
              <a:spcBef>
                <a:spcPts val="180"/>
              </a:spcBef>
            </a:pPr>
            <a:r>
              <a:rPr sz="1950" spc="-55" dirty="0">
                <a:solidFill>
                  <a:srgbClr val="B51631"/>
                </a:solidFill>
              </a:rPr>
              <a:t>Examples</a:t>
            </a:r>
            <a:r>
              <a:rPr sz="1950" spc="-50" dirty="0">
                <a:solidFill>
                  <a:srgbClr val="B51631"/>
                </a:solidFill>
              </a:rPr>
              <a:t> </a:t>
            </a:r>
            <a:r>
              <a:rPr sz="1950" spc="-30" dirty="0">
                <a:solidFill>
                  <a:srgbClr val="992841"/>
                </a:solidFill>
              </a:rPr>
              <a:t>of</a:t>
            </a:r>
            <a:r>
              <a:rPr sz="1950" spc="-105" dirty="0">
                <a:solidFill>
                  <a:srgbClr val="992841"/>
                </a:solidFill>
              </a:rPr>
              <a:t> </a:t>
            </a:r>
            <a:r>
              <a:rPr sz="1950" spc="-20" dirty="0">
                <a:solidFill>
                  <a:srgbClr val="973F4F"/>
                </a:solidFill>
              </a:rPr>
              <a:t>Use</a:t>
            </a:r>
            <a:r>
              <a:rPr sz="1950" spc="-55" dirty="0">
                <a:solidFill>
                  <a:srgbClr val="973F4F"/>
                </a:solidFill>
              </a:rPr>
              <a:t> </a:t>
            </a:r>
            <a:r>
              <a:rPr sz="1950" spc="-70" dirty="0">
                <a:solidFill>
                  <a:srgbClr val="A51C3A"/>
                </a:solidFill>
              </a:rPr>
              <a:t>Cases,</a:t>
            </a:r>
            <a:r>
              <a:rPr sz="1950" spc="-65" dirty="0">
                <a:solidFill>
                  <a:srgbClr val="A51C3A"/>
                </a:solidFill>
              </a:rPr>
              <a:t> </a:t>
            </a:r>
            <a:r>
              <a:rPr sz="1950" spc="-10" dirty="0">
                <a:solidFill>
                  <a:srgbClr val="D44864"/>
                </a:solidFill>
              </a:rPr>
              <a:t>Behavioral </a:t>
            </a:r>
            <a:r>
              <a:rPr sz="1950" spc="-55" dirty="0">
                <a:solidFill>
                  <a:srgbClr val="8E1D34"/>
                </a:solidFill>
              </a:rPr>
              <a:t>Relationships</a:t>
            </a:r>
            <a:r>
              <a:rPr sz="1950" spc="-15" dirty="0">
                <a:solidFill>
                  <a:srgbClr val="8E1D34"/>
                </a:solidFill>
              </a:rPr>
              <a:t> </a:t>
            </a:r>
            <a:r>
              <a:rPr sz="1950" dirty="0">
                <a:solidFill>
                  <a:srgbClr val="72162B"/>
                </a:solidFill>
              </a:rPr>
              <a:t>for</a:t>
            </a:r>
            <a:r>
              <a:rPr sz="1950" spc="-135" dirty="0">
                <a:solidFill>
                  <a:srgbClr val="72162B"/>
                </a:solidFill>
              </a:rPr>
              <a:t> </a:t>
            </a:r>
            <a:r>
              <a:rPr sz="1950" spc="-55" dirty="0">
                <a:solidFill>
                  <a:srgbClr val="AC1A34"/>
                </a:solidFill>
              </a:rPr>
              <a:t>Student</a:t>
            </a:r>
            <a:r>
              <a:rPr sz="1950" spc="-15" dirty="0">
                <a:solidFill>
                  <a:srgbClr val="AC1A34"/>
                </a:solidFill>
              </a:rPr>
              <a:t> </a:t>
            </a:r>
            <a:r>
              <a:rPr sz="1950" spc="-55" dirty="0">
                <a:solidFill>
                  <a:srgbClr val="C30C33"/>
                </a:solidFill>
              </a:rPr>
              <a:t>Enrollment</a:t>
            </a:r>
            <a:r>
              <a:rPr sz="1950" spc="-15" dirty="0">
                <a:solidFill>
                  <a:srgbClr val="C30C33"/>
                </a:solidFill>
              </a:rPr>
              <a:t> </a:t>
            </a:r>
            <a:r>
              <a:rPr sz="1950" spc="-10" dirty="0">
                <a:solidFill>
                  <a:srgbClr val="893444"/>
                </a:solidFill>
              </a:rPr>
              <a:t>(Figure </a:t>
            </a:r>
            <a:r>
              <a:rPr sz="1850" spc="-10" dirty="0">
                <a:solidFill>
                  <a:srgbClr val="FF728E"/>
                </a:solidFill>
              </a:rPr>
              <a:t>2.14)</a:t>
            </a:r>
            <a:endParaRPr sz="185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61925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3134" y="258762"/>
            <a:ext cx="1040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95" dirty="0">
                <a:solidFill>
                  <a:srgbClr val="DF001C"/>
                </a:solidFill>
              </a:rPr>
              <a:t>Scope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830018" y="1290603"/>
            <a:ext cx="4739640" cy="25869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3204" indent="-230504">
              <a:lnSpc>
                <a:spcPct val="100000"/>
              </a:lnSpc>
              <a:spcBef>
                <a:spcPts val="375"/>
              </a:spcBef>
              <a:buChar char="•"/>
              <a:tabLst>
                <a:tab pos="243204" algn="l"/>
              </a:tabLst>
            </a:pPr>
            <a:r>
              <a:rPr sz="2100" dirty="0">
                <a:latin typeface="Arial MT"/>
                <a:cs typeface="Arial MT"/>
              </a:rPr>
              <a:t>System</a:t>
            </a:r>
            <a:r>
              <a:rPr sz="2100" spc="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scope</a:t>
            </a:r>
            <a:r>
              <a:rPr sz="2100" spc="7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defines</a:t>
            </a:r>
            <a:r>
              <a:rPr sz="2100" spc="10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its</a:t>
            </a:r>
            <a:r>
              <a:rPr sz="2100" spc="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boundaries:</a:t>
            </a:r>
            <a:endParaRPr sz="2100">
              <a:latin typeface="Arial MT"/>
              <a:cs typeface="Arial MT"/>
            </a:endParaRPr>
          </a:p>
          <a:p>
            <a:pPr marL="509270" lvl="1" indent="-189865">
              <a:lnSpc>
                <a:spcPct val="100000"/>
              </a:lnSpc>
              <a:spcBef>
                <a:spcPts val="240"/>
              </a:spcBef>
              <a:buClr>
                <a:srgbClr val="EB2642"/>
              </a:buClr>
              <a:buChar char="•"/>
              <a:tabLst>
                <a:tab pos="509270" algn="l"/>
              </a:tabLst>
            </a:pPr>
            <a:r>
              <a:rPr sz="1850" dirty="0">
                <a:latin typeface="Arial MT"/>
                <a:cs typeface="Arial MT"/>
              </a:rPr>
              <a:t>What</a:t>
            </a:r>
            <a:r>
              <a:rPr sz="1850" spc="6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</a:t>
            </a:r>
            <a:r>
              <a:rPr sz="1850" spc="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in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or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outside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3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system</a:t>
            </a:r>
            <a:endParaRPr sz="1850">
              <a:latin typeface="Arial MT"/>
              <a:cs typeface="Arial MT"/>
            </a:endParaRPr>
          </a:p>
          <a:p>
            <a:pPr marL="502284" marR="5080" lvl="1" indent="-183515">
              <a:lnSpc>
                <a:spcPts val="1950"/>
              </a:lnSpc>
              <a:spcBef>
                <a:spcPts val="585"/>
              </a:spcBef>
              <a:buClr>
                <a:srgbClr val="F9314D"/>
              </a:buClr>
              <a:buChar char="•"/>
              <a:tabLst>
                <a:tab pos="514984" algn="l"/>
              </a:tabLst>
            </a:pPr>
            <a:r>
              <a:rPr sz="1900" spc="-20" dirty="0">
                <a:latin typeface="Arial MT"/>
                <a:cs typeface="Arial MT"/>
              </a:rPr>
              <a:t>Project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has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budget </a:t>
            </a:r>
            <a:r>
              <a:rPr sz="1900" spc="-10" dirty="0">
                <a:latin typeface="Arial MT"/>
                <a:cs typeface="Arial MT"/>
              </a:rPr>
              <a:t>that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helps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define 	scope</a:t>
            </a:r>
            <a:endParaRPr sz="1900">
              <a:latin typeface="Arial MT"/>
              <a:cs typeface="Arial MT"/>
            </a:endParaRPr>
          </a:p>
          <a:p>
            <a:pPr marL="503555" lvl="1" indent="-184150">
              <a:lnSpc>
                <a:spcPct val="100000"/>
              </a:lnSpc>
              <a:spcBef>
                <a:spcPts val="235"/>
              </a:spcBef>
              <a:buClr>
                <a:srgbClr val="EF2846"/>
              </a:buClr>
              <a:buChar char="•"/>
              <a:tabLst>
                <a:tab pos="503555" algn="l"/>
              </a:tabLst>
            </a:pPr>
            <a:r>
              <a:rPr sz="1850" dirty="0">
                <a:latin typeface="Arial MT"/>
                <a:cs typeface="Arial MT"/>
              </a:rPr>
              <a:t>Project has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 start</a:t>
            </a:r>
            <a:r>
              <a:rPr sz="1850" spc="9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and</a:t>
            </a:r>
            <a:r>
              <a:rPr sz="1850" spc="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</a:t>
            </a:r>
            <a:r>
              <a:rPr sz="1850" spc="-5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end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time</a:t>
            </a:r>
            <a:endParaRPr sz="1850">
              <a:latin typeface="Arial MT"/>
              <a:cs typeface="Arial MT"/>
            </a:endParaRPr>
          </a:p>
          <a:p>
            <a:pPr marL="246379" indent="-233679">
              <a:lnSpc>
                <a:spcPct val="100000"/>
              </a:lnSpc>
              <a:spcBef>
                <a:spcPts val="305"/>
              </a:spcBef>
              <a:buChar char="•"/>
              <a:tabLst>
                <a:tab pos="246379" algn="l"/>
              </a:tabLst>
            </a:pPr>
            <a:r>
              <a:rPr sz="2100" dirty="0">
                <a:latin typeface="Arial MT"/>
                <a:cs typeface="Arial MT"/>
              </a:rPr>
              <a:t>Actors</a:t>
            </a:r>
            <a:r>
              <a:rPr sz="2100" spc="8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are</a:t>
            </a:r>
            <a:r>
              <a:rPr sz="2100" spc="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always</a:t>
            </a:r>
            <a:r>
              <a:rPr sz="2100" spc="9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outside</a:t>
            </a:r>
            <a:r>
              <a:rPr sz="2100" spc="1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scope</a:t>
            </a:r>
            <a:endParaRPr sz="2100">
              <a:latin typeface="Arial MT"/>
              <a:cs typeface="Arial MT"/>
            </a:endParaRPr>
          </a:p>
          <a:p>
            <a:pPr marL="241935" marR="577215" indent="-229870">
              <a:lnSpc>
                <a:spcPts val="2290"/>
              </a:lnSpc>
              <a:spcBef>
                <a:spcPts val="595"/>
              </a:spcBef>
              <a:buChar char="•"/>
              <a:tabLst>
                <a:tab pos="247015" algn="l"/>
              </a:tabLst>
            </a:pPr>
            <a:r>
              <a:rPr sz="2150" spc="-35" dirty="0">
                <a:latin typeface="Arial MT"/>
                <a:cs typeface="Arial MT"/>
              </a:rPr>
              <a:t>Communication</a:t>
            </a:r>
            <a:r>
              <a:rPr sz="2150" spc="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lines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are</a:t>
            </a:r>
            <a:r>
              <a:rPr sz="2150" spc="-114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the 	boundaries</a:t>
            </a:r>
            <a:r>
              <a:rPr sz="2150" spc="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and</a:t>
            </a:r>
            <a:r>
              <a:rPr sz="2150" spc="-14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define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9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scope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65656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61925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DB2D4D"/>
                </a:solidFill>
              </a:rPr>
              <a:t>Developing</a:t>
            </a:r>
            <a:r>
              <a:rPr sz="2900" spc="-30" dirty="0">
                <a:solidFill>
                  <a:srgbClr val="DB2D4D"/>
                </a:solidFill>
              </a:rPr>
              <a:t> </a:t>
            </a:r>
            <a:r>
              <a:rPr sz="2900" dirty="0">
                <a:solidFill>
                  <a:srgbClr val="C6233D"/>
                </a:solidFill>
              </a:rPr>
              <a:t>Use</a:t>
            </a:r>
            <a:r>
              <a:rPr sz="2900" spc="-50" dirty="0">
                <a:solidFill>
                  <a:srgbClr val="C6233D"/>
                </a:solidFill>
              </a:rPr>
              <a:t> </a:t>
            </a:r>
            <a:r>
              <a:rPr sz="2900" spc="-20" dirty="0">
                <a:solidFill>
                  <a:srgbClr val="C81634"/>
                </a:solidFill>
              </a:rPr>
              <a:t>Case</a:t>
            </a:r>
            <a:endParaRPr sz="2900"/>
          </a:p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sz="2850" spc="-10" dirty="0">
                <a:solidFill>
                  <a:srgbClr val="C11C3B"/>
                </a:solidFill>
              </a:rPr>
              <a:t>Diagrams</a:t>
            </a:r>
            <a:endParaRPr sz="2850"/>
          </a:p>
        </p:txBody>
      </p:sp>
      <p:sp>
        <p:nvSpPr>
          <p:cNvPr id="7" name="object 7"/>
          <p:cNvSpPr txBox="1"/>
          <p:nvPr/>
        </p:nvSpPr>
        <p:spPr>
          <a:xfrm>
            <a:off x="833060" y="1319212"/>
            <a:ext cx="5024120" cy="24536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35585" marR="227329" indent="-223520">
              <a:lnSpc>
                <a:spcPts val="1730"/>
              </a:lnSpc>
              <a:spcBef>
                <a:spcPts val="415"/>
              </a:spcBef>
              <a:buChar char="•"/>
              <a:tabLst>
                <a:tab pos="244475" algn="l"/>
              </a:tabLst>
            </a:pPr>
            <a:r>
              <a:rPr sz="1700" spc="-60" dirty="0">
                <a:latin typeface="Arial MT"/>
                <a:cs typeface="Arial MT"/>
              </a:rPr>
              <a:t>Review </a:t>
            </a:r>
            <a:r>
              <a:rPr sz="1700" spc="-75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60" dirty="0">
                <a:latin typeface="Arial MT"/>
                <a:cs typeface="Arial MT"/>
              </a:rPr>
              <a:t>business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spc="-55" dirty="0">
                <a:latin typeface="Arial MT"/>
                <a:cs typeface="Arial MT"/>
              </a:rPr>
              <a:t>specifications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-75" dirty="0">
                <a:latin typeface="Arial MT"/>
                <a:cs typeface="Arial MT"/>
              </a:rPr>
              <a:t>and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45" dirty="0">
                <a:latin typeface="Arial MT"/>
                <a:cs typeface="Arial MT"/>
              </a:rPr>
              <a:t>identify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 	</a:t>
            </a:r>
            <a:r>
              <a:rPr sz="1700" spc="-65" dirty="0">
                <a:latin typeface="Arial MT"/>
                <a:cs typeface="Arial MT"/>
              </a:rPr>
              <a:t>actors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involved.</a:t>
            </a:r>
            <a:endParaRPr sz="1700">
              <a:latin typeface="Arial MT"/>
              <a:cs typeface="Arial MT"/>
            </a:endParaRPr>
          </a:p>
          <a:p>
            <a:pPr marL="236854" indent="-224154">
              <a:lnSpc>
                <a:spcPct val="100000"/>
              </a:lnSpc>
              <a:spcBef>
                <a:spcPts val="100"/>
              </a:spcBef>
              <a:buChar char="•"/>
              <a:tabLst>
                <a:tab pos="236854" algn="l"/>
              </a:tabLst>
            </a:pPr>
            <a:r>
              <a:rPr sz="1650" dirty="0">
                <a:latin typeface="Arial MT"/>
                <a:cs typeface="Arial MT"/>
              </a:rPr>
              <a:t>May</a:t>
            </a:r>
            <a:r>
              <a:rPr sz="1650" spc="-10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use</a:t>
            </a:r>
            <a:r>
              <a:rPr sz="1650" spc="-90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agile</a:t>
            </a:r>
            <a:r>
              <a:rPr sz="1650" spc="-9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stories.</a:t>
            </a:r>
            <a:endParaRPr sz="1650">
              <a:latin typeface="Arial MT"/>
              <a:cs typeface="Arial MT"/>
            </a:endParaRPr>
          </a:p>
          <a:p>
            <a:pPr marL="233679" marR="5080" indent="-220979">
              <a:lnSpc>
                <a:spcPts val="1730"/>
              </a:lnSpc>
              <a:spcBef>
                <a:spcPts val="385"/>
              </a:spcBef>
              <a:buChar char="•"/>
              <a:tabLst>
                <a:tab pos="239395" algn="l"/>
              </a:tabLst>
            </a:pPr>
            <a:r>
              <a:rPr sz="1600" dirty="0">
                <a:latin typeface="Arial MT"/>
                <a:cs typeface="Arial MT"/>
              </a:rPr>
              <a:t>Identify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high-</a:t>
            </a:r>
            <a:r>
              <a:rPr sz="1600" dirty="0">
                <a:latin typeface="Arial MT"/>
                <a:cs typeface="Arial MT"/>
              </a:rPr>
              <a:t>level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events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develop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primary 	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cases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describe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those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events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how</a:t>
            </a:r>
            <a:r>
              <a:rPr sz="1600" spc="-25" dirty="0">
                <a:latin typeface="Arial MT"/>
                <a:cs typeface="Arial MT"/>
              </a:rPr>
              <a:t> the 	</a:t>
            </a:r>
            <a:r>
              <a:rPr sz="1600" dirty="0">
                <a:latin typeface="Arial MT"/>
                <a:cs typeface="Arial MT"/>
              </a:rPr>
              <a:t>actors</a:t>
            </a:r>
            <a:r>
              <a:rPr sz="1600" spc="-9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initiate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them.</a:t>
            </a:r>
            <a:endParaRPr sz="1600">
              <a:latin typeface="Arial MT"/>
              <a:cs typeface="Arial MT"/>
            </a:endParaRPr>
          </a:p>
          <a:p>
            <a:pPr marL="236220" marR="481330" indent="-223520">
              <a:lnSpc>
                <a:spcPts val="1689"/>
              </a:lnSpc>
              <a:spcBef>
                <a:spcPts val="430"/>
              </a:spcBef>
              <a:buChar char="•"/>
              <a:tabLst>
                <a:tab pos="238760" algn="l"/>
              </a:tabLst>
            </a:pPr>
            <a:r>
              <a:rPr sz="1600" dirty="0">
                <a:latin typeface="Arial MT"/>
                <a:cs typeface="Arial MT"/>
              </a:rPr>
              <a:t>Review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primary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case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9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determine </a:t>
            </a:r>
            <a:r>
              <a:rPr sz="1600" spc="-25" dirty="0">
                <a:latin typeface="Arial MT"/>
                <a:cs typeface="Arial MT"/>
              </a:rPr>
              <a:t>the 	</a:t>
            </a:r>
            <a:r>
              <a:rPr sz="1600" dirty="0">
                <a:latin typeface="Arial MT"/>
                <a:cs typeface="Arial MT"/>
              </a:rPr>
              <a:t>possible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variations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0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flow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through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case.</a:t>
            </a:r>
            <a:endParaRPr sz="1600">
              <a:latin typeface="Arial MT"/>
              <a:cs typeface="Arial MT"/>
            </a:endParaRPr>
          </a:p>
          <a:p>
            <a:pPr marL="236854" marR="280670" indent="-224154">
              <a:lnSpc>
                <a:spcPts val="1730"/>
              </a:lnSpc>
              <a:spcBef>
                <a:spcPts val="450"/>
              </a:spcBef>
              <a:buChar char="•"/>
              <a:tabLst>
                <a:tab pos="236854" algn="l"/>
                <a:tab pos="238125" algn="l"/>
              </a:tabLst>
            </a:pPr>
            <a:r>
              <a:rPr sz="1600" dirty="0">
                <a:latin typeface="Arial MT"/>
                <a:cs typeface="Arial MT"/>
              </a:rPr>
              <a:t>	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context-</a:t>
            </a:r>
            <a:r>
              <a:rPr sz="1600" dirty="0">
                <a:latin typeface="Arial MT"/>
                <a:cs typeface="Arial MT"/>
              </a:rPr>
              <a:t>level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flow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diagram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could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111111"/>
                </a:solidFill>
                <a:latin typeface="Arial MT"/>
                <a:cs typeface="Arial MT"/>
              </a:rPr>
              <a:t>a </a:t>
            </a:r>
            <a:r>
              <a:rPr sz="1600" dirty="0">
                <a:latin typeface="Arial MT"/>
                <a:cs typeface="Arial MT"/>
              </a:rPr>
              <a:t>starting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point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creating</a:t>
            </a:r>
            <a:r>
              <a:rPr sz="1600" dirty="0">
                <a:latin typeface="Arial MT"/>
                <a:cs typeface="Arial MT"/>
              </a:rPr>
              <a:t> 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9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case.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19625" cy="45529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1545" y="162877"/>
            <a:ext cx="4737100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36800"/>
              </a:lnSpc>
              <a:spcBef>
                <a:spcPts val="100"/>
              </a:spcBef>
            </a:pPr>
            <a:r>
              <a:rPr sz="1850" dirty="0">
                <a:solidFill>
                  <a:srgbClr val="AC1F34"/>
                </a:solidFill>
              </a:rPr>
              <a:t>A</a:t>
            </a:r>
            <a:r>
              <a:rPr sz="1850" spc="-15" dirty="0">
                <a:solidFill>
                  <a:srgbClr val="AC1F34"/>
                </a:solidFill>
              </a:rPr>
              <a:t> </a:t>
            </a:r>
            <a:r>
              <a:rPr sz="1850" dirty="0">
                <a:solidFill>
                  <a:srgbClr val="AA1A38"/>
                </a:solidFill>
              </a:rPr>
              <a:t>Use</a:t>
            </a:r>
            <a:r>
              <a:rPr sz="1850" spc="-50" dirty="0">
                <a:solidFill>
                  <a:srgbClr val="AA1A38"/>
                </a:solidFill>
              </a:rPr>
              <a:t> </a:t>
            </a:r>
            <a:r>
              <a:rPr sz="1850" dirty="0">
                <a:solidFill>
                  <a:srgbClr val="A51A36"/>
                </a:solidFill>
              </a:rPr>
              <a:t>Case</a:t>
            </a:r>
            <a:r>
              <a:rPr sz="1850" spc="60" dirty="0">
                <a:solidFill>
                  <a:srgbClr val="A51A36"/>
                </a:solidFill>
              </a:rPr>
              <a:t> </a:t>
            </a:r>
            <a:r>
              <a:rPr sz="1850" dirty="0">
                <a:solidFill>
                  <a:srgbClr val="B52341"/>
                </a:solidFill>
              </a:rPr>
              <a:t>Diagram </a:t>
            </a:r>
            <a:r>
              <a:rPr sz="1850" dirty="0">
                <a:solidFill>
                  <a:srgbClr val="A8162F"/>
                </a:solidFill>
              </a:rPr>
              <a:t>Representing</a:t>
            </a:r>
            <a:r>
              <a:rPr sz="1850" spc="80" dirty="0">
                <a:solidFill>
                  <a:srgbClr val="A8162F"/>
                </a:solidFill>
              </a:rPr>
              <a:t> </a:t>
            </a:r>
            <a:r>
              <a:rPr sz="1850" dirty="0">
                <a:solidFill>
                  <a:srgbClr val="9A3148"/>
                </a:solidFill>
              </a:rPr>
              <a:t>a</a:t>
            </a:r>
            <a:r>
              <a:rPr sz="1850" spc="-20" dirty="0">
                <a:solidFill>
                  <a:srgbClr val="9A3148"/>
                </a:solidFill>
              </a:rPr>
              <a:t> </a:t>
            </a:r>
            <a:r>
              <a:rPr sz="1850" spc="-10" dirty="0">
                <a:solidFill>
                  <a:srgbClr val="AA2136"/>
                </a:solidFill>
              </a:rPr>
              <a:t>System </a:t>
            </a:r>
            <a:r>
              <a:rPr sz="1850" dirty="0">
                <a:solidFill>
                  <a:srgbClr val="B33B4D"/>
                </a:solidFill>
              </a:rPr>
              <a:t>Used</a:t>
            </a:r>
            <a:r>
              <a:rPr sz="1850" spc="65" dirty="0">
                <a:solidFill>
                  <a:srgbClr val="B33B4D"/>
                </a:solidFill>
              </a:rPr>
              <a:t> </a:t>
            </a:r>
            <a:r>
              <a:rPr sz="1850" dirty="0">
                <a:solidFill>
                  <a:srgbClr val="9E3B4D"/>
                </a:solidFill>
              </a:rPr>
              <a:t>to</a:t>
            </a:r>
            <a:r>
              <a:rPr sz="1850" spc="-40" dirty="0">
                <a:solidFill>
                  <a:srgbClr val="9E3B4D"/>
                </a:solidFill>
              </a:rPr>
              <a:t> </a:t>
            </a:r>
            <a:r>
              <a:rPr sz="1850" dirty="0">
                <a:solidFill>
                  <a:srgbClr val="B34254"/>
                </a:solidFill>
              </a:rPr>
              <a:t>Plan</a:t>
            </a:r>
            <a:r>
              <a:rPr sz="1850" spc="-65" dirty="0">
                <a:solidFill>
                  <a:srgbClr val="B34254"/>
                </a:solidFill>
              </a:rPr>
              <a:t> </a:t>
            </a:r>
            <a:r>
              <a:rPr sz="1850" dirty="0">
                <a:solidFill>
                  <a:srgbClr val="AF3B46"/>
                </a:solidFill>
              </a:rPr>
              <a:t>a </a:t>
            </a:r>
            <a:r>
              <a:rPr sz="1850" dirty="0">
                <a:solidFill>
                  <a:srgbClr val="951F38"/>
                </a:solidFill>
              </a:rPr>
              <a:t>Conference</a:t>
            </a:r>
            <a:r>
              <a:rPr sz="1850" spc="270" dirty="0">
                <a:solidFill>
                  <a:srgbClr val="951F38"/>
                </a:solidFill>
              </a:rPr>
              <a:t> </a:t>
            </a:r>
            <a:r>
              <a:rPr sz="1850" dirty="0">
                <a:solidFill>
                  <a:srgbClr val="BC5B64"/>
                </a:solidFill>
              </a:rPr>
              <a:t>(Figure</a:t>
            </a:r>
            <a:r>
              <a:rPr sz="1850" spc="15" dirty="0">
                <a:solidFill>
                  <a:srgbClr val="BC5B64"/>
                </a:solidFill>
              </a:rPr>
              <a:t> </a:t>
            </a:r>
            <a:r>
              <a:rPr sz="1850" dirty="0">
                <a:solidFill>
                  <a:srgbClr val="9C1C31"/>
                </a:solidFill>
              </a:rPr>
              <a:t>2.15</a:t>
            </a:r>
            <a:r>
              <a:rPr sz="1850" spc="35" dirty="0">
                <a:solidFill>
                  <a:srgbClr val="9C1C31"/>
                </a:solidFill>
              </a:rPr>
              <a:t> </a:t>
            </a:r>
            <a:r>
              <a:rPr sz="1850" spc="-50" dirty="0">
                <a:solidFill>
                  <a:srgbClr val="B54659"/>
                </a:solidFill>
              </a:rPr>
              <a:t>)</a:t>
            </a:r>
            <a:endParaRPr sz="1850"/>
          </a:p>
        </p:txBody>
      </p:sp>
      <p:sp>
        <p:nvSpPr>
          <p:cNvPr id="4" name="object 4"/>
          <p:cNvSpPr txBox="1"/>
          <p:nvPr/>
        </p:nvSpPr>
        <p:spPr>
          <a:xfrm>
            <a:off x="5531361" y="4322762"/>
            <a:ext cx="19494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60" dirty="0">
                <a:solidFill>
                  <a:srgbClr val="444444"/>
                </a:solidFill>
                <a:latin typeface="Courier New"/>
                <a:cs typeface="Courier New"/>
              </a:rPr>
              <a:t>2Mv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3894" y="260350"/>
            <a:ext cx="4224655" cy="9226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6350">
              <a:lnSpc>
                <a:spcPts val="3529"/>
              </a:lnSpc>
              <a:spcBef>
                <a:spcPts val="204"/>
              </a:spcBef>
            </a:pPr>
            <a:r>
              <a:rPr spc="-20" dirty="0">
                <a:solidFill>
                  <a:srgbClr val="DB2D4B"/>
                </a:solidFill>
              </a:rPr>
              <a:t>Developing</a:t>
            </a:r>
            <a:r>
              <a:rPr spc="35" dirty="0">
                <a:solidFill>
                  <a:srgbClr val="DB2D4B"/>
                </a:solidFill>
              </a:rPr>
              <a:t> </a:t>
            </a:r>
            <a:r>
              <a:rPr dirty="0">
                <a:solidFill>
                  <a:srgbClr val="A30F2D"/>
                </a:solidFill>
              </a:rPr>
              <a:t>the</a:t>
            </a:r>
            <a:r>
              <a:rPr spc="-85" dirty="0">
                <a:solidFill>
                  <a:srgbClr val="A30F2D"/>
                </a:solidFill>
              </a:rPr>
              <a:t> </a:t>
            </a:r>
            <a:r>
              <a:rPr dirty="0">
                <a:solidFill>
                  <a:srgbClr val="D31638"/>
                </a:solidFill>
              </a:rPr>
              <a:t>Use</a:t>
            </a:r>
            <a:r>
              <a:rPr spc="-50" dirty="0">
                <a:solidFill>
                  <a:srgbClr val="D31638"/>
                </a:solidFill>
              </a:rPr>
              <a:t> </a:t>
            </a:r>
            <a:r>
              <a:rPr spc="-40" dirty="0">
                <a:solidFill>
                  <a:srgbClr val="BC0C28"/>
                </a:solidFill>
              </a:rPr>
              <a:t>Case </a:t>
            </a:r>
            <a:r>
              <a:rPr spc="-10" dirty="0">
                <a:solidFill>
                  <a:srgbClr val="C31C3B"/>
                </a:solidFill>
              </a:rPr>
              <a:t>Scenarios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0018" y="1289685"/>
            <a:ext cx="4681220" cy="18338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595"/>
              </a:spcBef>
              <a:buChar char="•"/>
              <a:tabLst>
                <a:tab pos="239395" algn="l"/>
              </a:tabLst>
            </a:pP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10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description</a:t>
            </a:r>
            <a:r>
              <a:rPr sz="2150" spc="-3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9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10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use</a:t>
            </a:r>
            <a:r>
              <a:rPr sz="2150" spc="-130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case</a:t>
            </a:r>
            <a:endParaRPr sz="215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495"/>
              </a:spcBef>
              <a:buChar char="•"/>
              <a:tabLst>
                <a:tab pos="239395" algn="l"/>
              </a:tabLst>
            </a:pPr>
            <a:r>
              <a:rPr sz="2150" spc="-10" dirty="0">
                <a:latin typeface="Arial MT"/>
                <a:cs typeface="Arial MT"/>
              </a:rPr>
              <a:t>Three</a:t>
            </a:r>
            <a:r>
              <a:rPr sz="2150" spc="-114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main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areas:</a:t>
            </a:r>
            <a:endParaRPr sz="2150">
              <a:latin typeface="Arial MT"/>
              <a:cs typeface="Arial MT"/>
            </a:endParaRPr>
          </a:p>
          <a:p>
            <a:pPr marL="512445" lvl="1" indent="-193040">
              <a:lnSpc>
                <a:spcPct val="100000"/>
              </a:lnSpc>
              <a:spcBef>
                <a:spcPts val="455"/>
              </a:spcBef>
              <a:buClr>
                <a:srgbClr val="DD1A3D"/>
              </a:buClr>
              <a:buChar char="•"/>
              <a:tabLst>
                <a:tab pos="512445" algn="l"/>
              </a:tabLst>
            </a:pPr>
            <a:r>
              <a:rPr sz="1850" dirty="0">
                <a:latin typeface="Arial MT"/>
                <a:cs typeface="Arial MT"/>
              </a:rPr>
              <a:t>Use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case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identifiers</a:t>
            </a:r>
            <a:r>
              <a:rPr sz="1850" spc="8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and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initiators</a:t>
            </a:r>
            <a:endParaRPr sz="1850">
              <a:latin typeface="Arial MT"/>
              <a:cs typeface="Arial MT"/>
            </a:endParaRPr>
          </a:p>
          <a:p>
            <a:pPr marL="509905" lvl="1" indent="-191135">
              <a:lnSpc>
                <a:spcPct val="100000"/>
              </a:lnSpc>
              <a:spcBef>
                <a:spcPts val="430"/>
              </a:spcBef>
              <a:buClr>
                <a:srgbClr val="ED2A49"/>
              </a:buClr>
              <a:buChar char="•"/>
              <a:tabLst>
                <a:tab pos="509905" algn="l"/>
              </a:tabLst>
            </a:pPr>
            <a:r>
              <a:rPr sz="1900" spc="-25" dirty="0">
                <a:latin typeface="Arial MT"/>
                <a:cs typeface="Arial MT"/>
              </a:rPr>
              <a:t>Steps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performed</a:t>
            </a:r>
            <a:endParaRPr sz="1900">
              <a:latin typeface="Arial MT"/>
              <a:cs typeface="Arial MT"/>
            </a:endParaRPr>
          </a:p>
          <a:p>
            <a:pPr marL="509270" lvl="1" indent="-190500">
              <a:lnSpc>
                <a:spcPct val="100000"/>
              </a:lnSpc>
              <a:spcBef>
                <a:spcPts val="420"/>
              </a:spcBef>
              <a:buClr>
                <a:srgbClr val="E41A41"/>
              </a:buClr>
              <a:buChar char="•"/>
              <a:tabLst>
                <a:tab pos="509270" algn="l"/>
              </a:tabLst>
            </a:pPr>
            <a:r>
              <a:rPr sz="1900" spc="-30" dirty="0">
                <a:latin typeface="Arial MT"/>
                <a:cs typeface="Arial MT"/>
              </a:rPr>
              <a:t>Conditions,</a:t>
            </a:r>
            <a:r>
              <a:rPr sz="1900" dirty="0">
                <a:latin typeface="Arial MT"/>
                <a:cs typeface="Arial MT"/>
              </a:rPr>
              <a:t> </a:t>
            </a:r>
            <a:r>
              <a:rPr sz="1900" spc="-35" dirty="0">
                <a:latin typeface="Arial MT"/>
                <a:cs typeface="Arial MT"/>
              </a:rPr>
              <a:t>assumptions,</a:t>
            </a:r>
            <a:r>
              <a:rPr sz="190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and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questions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1361" y="4322762"/>
            <a:ext cx="1358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60" dirty="0">
                <a:solidFill>
                  <a:srgbClr val="444444"/>
                </a:solidFill>
                <a:latin typeface="Courier New"/>
                <a:cs typeface="Courier New"/>
              </a:rPr>
              <a:t>2V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825" y="1943100"/>
            <a:ext cx="4248150" cy="485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4350" y="1552575"/>
            <a:ext cx="4286250" cy="2476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6750" y="4391025"/>
            <a:ext cx="657225" cy="666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81200" y="4371975"/>
            <a:ext cx="2609850" cy="104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01936" y="261937"/>
            <a:ext cx="4936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E2636"/>
                </a:solidFill>
              </a:rPr>
              <a:t>A</a:t>
            </a:r>
            <a:r>
              <a:rPr sz="1400" spc="-100" dirty="0">
                <a:solidFill>
                  <a:srgbClr val="8E2636"/>
                </a:solidFill>
              </a:rPr>
              <a:t> </a:t>
            </a:r>
            <a:r>
              <a:rPr sz="1400" spc="-35" dirty="0">
                <a:solidFill>
                  <a:srgbClr val="AC3D4D"/>
                </a:solidFill>
              </a:rPr>
              <a:t>Use</a:t>
            </a:r>
            <a:r>
              <a:rPr sz="1400" spc="-60" dirty="0">
                <a:solidFill>
                  <a:srgbClr val="AC3D4D"/>
                </a:solidFill>
              </a:rPr>
              <a:t> </a:t>
            </a:r>
            <a:r>
              <a:rPr sz="1400" spc="-20" dirty="0">
                <a:solidFill>
                  <a:srgbClr val="A53B52"/>
                </a:solidFill>
              </a:rPr>
              <a:t>Case</a:t>
            </a:r>
            <a:r>
              <a:rPr sz="1400" spc="-65" dirty="0">
                <a:solidFill>
                  <a:srgbClr val="A53B52"/>
                </a:solidFill>
              </a:rPr>
              <a:t> </a:t>
            </a:r>
            <a:r>
              <a:rPr sz="1400" spc="-45" dirty="0">
                <a:solidFill>
                  <a:srgbClr val="9E3146"/>
                </a:solidFill>
              </a:rPr>
              <a:t>Scenario</a:t>
            </a:r>
            <a:r>
              <a:rPr sz="1400" spc="-55" dirty="0">
                <a:solidFill>
                  <a:srgbClr val="9E3146"/>
                </a:solidFill>
              </a:rPr>
              <a:t> </a:t>
            </a:r>
            <a:r>
              <a:rPr sz="1400" dirty="0">
                <a:solidFill>
                  <a:srgbClr val="E99EB3"/>
                </a:solidFill>
              </a:rPr>
              <a:t>Is</a:t>
            </a:r>
            <a:r>
              <a:rPr sz="1400" spc="-55" dirty="0">
                <a:solidFill>
                  <a:srgbClr val="E99EB3"/>
                </a:solidFill>
              </a:rPr>
              <a:t> </a:t>
            </a:r>
            <a:r>
              <a:rPr sz="1400" spc="-35" dirty="0">
                <a:solidFill>
                  <a:srgbClr val="9A2A3D"/>
                </a:solidFill>
              </a:rPr>
              <a:t>Divided</a:t>
            </a:r>
            <a:r>
              <a:rPr sz="1400" spc="-15" dirty="0">
                <a:solidFill>
                  <a:srgbClr val="9A2A3D"/>
                </a:solidFill>
              </a:rPr>
              <a:t> </a:t>
            </a:r>
            <a:r>
              <a:rPr sz="1400" spc="-35" dirty="0">
                <a:solidFill>
                  <a:srgbClr val="CA6D7E"/>
                </a:solidFill>
              </a:rPr>
              <a:t>into</a:t>
            </a:r>
            <a:r>
              <a:rPr sz="1400" spc="-60" dirty="0">
                <a:solidFill>
                  <a:srgbClr val="CA6D7E"/>
                </a:solidFill>
              </a:rPr>
              <a:t> </a:t>
            </a:r>
            <a:r>
              <a:rPr sz="1400" spc="-30" dirty="0">
                <a:solidFill>
                  <a:srgbClr val="CA9CA8"/>
                </a:solidFill>
              </a:rPr>
              <a:t>Three</a:t>
            </a:r>
            <a:r>
              <a:rPr sz="1400" spc="-45" dirty="0">
                <a:solidFill>
                  <a:srgbClr val="CA9CA8"/>
                </a:solidFill>
              </a:rPr>
              <a:t> </a:t>
            </a:r>
            <a:r>
              <a:rPr sz="1400" spc="-35" dirty="0">
                <a:solidFill>
                  <a:srgbClr val="AF3A4F"/>
                </a:solidFill>
              </a:rPr>
              <a:t>Sections </a:t>
            </a:r>
            <a:r>
              <a:rPr sz="1400" spc="-25" dirty="0">
                <a:solidFill>
                  <a:srgbClr val="CD9AAC"/>
                </a:solidFill>
              </a:rPr>
              <a:t>(Figure</a:t>
            </a:r>
            <a:r>
              <a:rPr sz="1400" spc="5" dirty="0">
                <a:solidFill>
                  <a:srgbClr val="CD9AAC"/>
                </a:solidFill>
              </a:rPr>
              <a:t> </a:t>
            </a:r>
            <a:r>
              <a:rPr sz="1400" spc="-10" dirty="0">
                <a:solidFill>
                  <a:srgbClr val="A82D44"/>
                </a:solidFill>
              </a:rPr>
              <a:t>2.16)</a:t>
            </a:r>
            <a:endParaRPr sz="1400"/>
          </a:p>
        </p:txBody>
      </p:sp>
      <p:sp>
        <p:nvSpPr>
          <p:cNvPr id="9" name="object 9"/>
          <p:cNvSpPr txBox="1"/>
          <p:nvPr/>
        </p:nvSpPr>
        <p:spPr>
          <a:xfrm>
            <a:off x="1028514" y="509587"/>
            <a:ext cx="153670" cy="4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75"/>
              </a:lnSpc>
              <a:spcBef>
                <a:spcPts val="100"/>
              </a:spcBef>
            </a:pPr>
            <a:r>
              <a:rPr sz="1400" spc="-50" dirty="0">
                <a:solidFill>
                  <a:srgbClr val="797756"/>
                </a:solidFill>
                <a:latin typeface="Arial MT"/>
                <a:cs typeface="Arial MT"/>
              </a:rPr>
              <a:t>:</a:t>
            </a:r>
            <a:endParaRPr sz="1400">
              <a:latin typeface="Arial MT"/>
              <a:cs typeface="Arial MT"/>
            </a:endParaRPr>
          </a:p>
          <a:p>
            <a:pPr marL="88900">
              <a:lnSpc>
                <a:spcPts val="1480"/>
              </a:lnSpc>
            </a:pPr>
            <a:r>
              <a:rPr sz="1400" spc="-425" dirty="0">
                <a:solidFill>
                  <a:srgbClr val="9C9A7C"/>
                </a:solidFill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7039" y="671512"/>
            <a:ext cx="51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40" dirty="0">
                <a:solidFill>
                  <a:srgbClr val="B8B59A"/>
                </a:solidFill>
                <a:latin typeface="Arial MT"/>
                <a:cs typeface="Arial MT"/>
              </a:rPr>
              <a:t>: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21836" y="4322762"/>
            <a:ext cx="9334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80" dirty="0">
                <a:solidFill>
                  <a:srgbClr val="2F2F2F"/>
                </a:solidFill>
                <a:latin typeface="Courier New"/>
                <a:cs typeface="Courier New"/>
              </a:rPr>
              <a:t>2A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C1132F"/>
                </a:solidFill>
              </a:rPr>
              <a:t>Use</a:t>
            </a:r>
            <a:r>
              <a:rPr sz="2900" spc="-65" dirty="0">
                <a:solidFill>
                  <a:srgbClr val="C1132F"/>
                </a:solidFill>
              </a:rPr>
              <a:t> </a:t>
            </a:r>
            <a:r>
              <a:rPr sz="2900" dirty="0">
                <a:solidFill>
                  <a:srgbClr val="D41F42"/>
                </a:solidFill>
              </a:rPr>
              <a:t>Case</a:t>
            </a:r>
            <a:r>
              <a:rPr sz="2900" spc="-25" dirty="0">
                <a:solidFill>
                  <a:srgbClr val="D41F42"/>
                </a:solidFill>
              </a:rPr>
              <a:t> </a:t>
            </a:r>
            <a:r>
              <a:rPr sz="2900" dirty="0">
                <a:solidFill>
                  <a:srgbClr val="D41633"/>
                </a:solidFill>
              </a:rPr>
              <a:t>Header</a:t>
            </a:r>
            <a:r>
              <a:rPr sz="2900" spc="65" dirty="0">
                <a:solidFill>
                  <a:srgbClr val="D41633"/>
                </a:solidFill>
              </a:rPr>
              <a:t> </a:t>
            </a:r>
            <a:r>
              <a:rPr sz="2900" spc="-20" dirty="0">
                <a:solidFill>
                  <a:srgbClr val="B81336"/>
                </a:solidFill>
              </a:rPr>
              <a:t>Area</a:t>
            </a:r>
            <a:endParaRPr sz="290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42570" indent="-230504">
              <a:lnSpc>
                <a:spcPct val="100000"/>
              </a:lnSpc>
              <a:spcBef>
                <a:spcPts val="595"/>
              </a:spcBef>
              <a:buChar char="•"/>
              <a:tabLst>
                <a:tab pos="242570" algn="l"/>
              </a:tabLst>
            </a:pPr>
            <a:r>
              <a:rPr dirty="0"/>
              <a:t>Has</a:t>
            </a:r>
            <a:r>
              <a:rPr spc="-9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name</a:t>
            </a:r>
            <a:r>
              <a:rPr spc="-6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a</a:t>
            </a:r>
            <a:r>
              <a:rPr spc="-114" dirty="0"/>
              <a:t> </a:t>
            </a:r>
            <a:r>
              <a:rPr spc="-10" dirty="0"/>
              <a:t>unique</a:t>
            </a:r>
            <a:r>
              <a:rPr spc="-90" dirty="0"/>
              <a:t> </a:t>
            </a:r>
            <a:r>
              <a:rPr spc="-25" dirty="0"/>
              <a:t>ID.</a:t>
            </a:r>
          </a:p>
          <a:p>
            <a:pPr marL="239395" indent="-227329">
              <a:lnSpc>
                <a:spcPct val="100000"/>
              </a:lnSpc>
              <a:spcBef>
                <a:spcPts val="495"/>
              </a:spcBef>
              <a:buChar char="•"/>
              <a:tabLst>
                <a:tab pos="239395" algn="l"/>
              </a:tabLst>
            </a:pPr>
            <a:r>
              <a:rPr spc="-10" dirty="0"/>
              <a:t>Include</a:t>
            </a:r>
            <a:r>
              <a:rPr spc="-55" dirty="0"/>
              <a:t> </a:t>
            </a:r>
            <a:r>
              <a:rPr spc="-25" dirty="0"/>
              <a:t>application</a:t>
            </a:r>
            <a:r>
              <a:rPr spc="10" dirty="0"/>
              <a:t> </a:t>
            </a:r>
            <a:r>
              <a:rPr spc="-10" dirty="0"/>
              <a:t>area.</a:t>
            </a:r>
          </a:p>
          <a:p>
            <a:pPr marL="244475" indent="-232410">
              <a:lnSpc>
                <a:spcPct val="100000"/>
              </a:lnSpc>
              <a:spcBef>
                <a:spcPts val="445"/>
              </a:spcBef>
              <a:buChar char="•"/>
              <a:tabLst>
                <a:tab pos="244475" algn="l"/>
              </a:tabLst>
            </a:pPr>
            <a:r>
              <a:rPr sz="2200" spc="-10" dirty="0"/>
              <a:t>List</a:t>
            </a:r>
            <a:r>
              <a:rPr sz="2200" spc="-140" dirty="0"/>
              <a:t> </a:t>
            </a:r>
            <a:r>
              <a:rPr sz="2200" spc="-10" dirty="0"/>
              <a:t>actors.</a:t>
            </a:r>
            <a:endParaRPr sz="2200"/>
          </a:p>
          <a:p>
            <a:pPr marL="238760" indent="-226695">
              <a:lnSpc>
                <a:spcPct val="100000"/>
              </a:lnSpc>
              <a:spcBef>
                <a:spcPts val="470"/>
              </a:spcBef>
              <a:buChar char="•"/>
              <a:tabLst>
                <a:tab pos="238760" algn="l"/>
              </a:tabLst>
            </a:pPr>
            <a:r>
              <a:rPr sz="2200" spc="-35" dirty="0"/>
              <a:t>Include</a:t>
            </a:r>
            <a:r>
              <a:rPr sz="2200" spc="-80" dirty="0"/>
              <a:t> </a:t>
            </a:r>
            <a:r>
              <a:rPr sz="2200" spc="-10" dirty="0"/>
              <a:t>stakeholders.</a:t>
            </a:r>
            <a:endParaRPr sz="2200"/>
          </a:p>
          <a:p>
            <a:pPr marL="240029" indent="-227329">
              <a:lnSpc>
                <a:spcPct val="100000"/>
              </a:lnSpc>
              <a:spcBef>
                <a:spcPts val="535"/>
              </a:spcBef>
              <a:buChar char="•"/>
              <a:tabLst>
                <a:tab pos="240029" algn="l"/>
              </a:tabLst>
            </a:pPr>
            <a:r>
              <a:rPr sz="2100" dirty="0"/>
              <a:t>Include</a:t>
            </a:r>
            <a:r>
              <a:rPr sz="2100" spc="55" dirty="0"/>
              <a:t> </a:t>
            </a:r>
            <a:r>
              <a:rPr sz="2100" dirty="0"/>
              <a:t>the</a:t>
            </a:r>
            <a:r>
              <a:rPr sz="2100" spc="60" dirty="0"/>
              <a:t> </a:t>
            </a:r>
            <a:r>
              <a:rPr sz="2100" spc="-10" dirty="0"/>
              <a:t>level.</a:t>
            </a:r>
            <a:endParaRPr sz="2100"/>
          </a:p>
          <a:p>
            <a:pPr marL="243204" indent="-230504">
              <a:lnSpc>
                <a:spcPct val="100000"/>
              </a:lnSpc>
              <a:spcBef>
                <a:spcPts val="555"/>
              </a:spcBef>
              <a:buChar char="•"/>
              <a:tabLst>
                <a:tab pos="243204" algn="l"/>
              </a:tabLst>
            </a:pPr>
            <a:r>
              <a:rPr sz="2100" dirty="0"/>
              <a:t>Has</a:t>
            </a:r>
            <a:r>
              <a:rPr sz="2100" spc="30" dirty="0"/>
              <a:t> </a:t>
            </a:r>
            <a:r>
              <a:rPr sz="2100" dirty="0"/>
              <a:t>a</a:t>
            </a:r>
            <a:r>
              <a:rPr sz="2100" spc="-10" dirty="0"/>
              <a:t> </a:t>
            </a:r>
            <a:r>
              <a:rPr sz="2100" dirty="0"/>
              <a:t>brief</a:t>
            </a:r>
            <a:r>
              <a:rPr sz="2100" spc="30" dirty="0"/>
              <a:t> </a:t>
            </a:r>
            <a:r>
              <a:rPr sz="2100" dirty="0"/>
              <a:t>description</a:t>
            </a:r>
            <a:r>
              <a:rPr sz="2100" spc="175" dirty="0"/>
              <a:t> </a:t>
            </a:r>
            <a:r>
              <a:rPr sz="2100" dirty="0"/>
              <a:t>of</a:t>
            </a:r>
            <a:r>
              <a:rPr sz="2100" spc="35" dirty="0"/>
              <a:t> </a:t>
            </a:r>
            <a:r>
              <a:rPr sz="2100" dirty="0"/>
              <a:t>the</a:t>
            </a:r>
            <a:r>
              <a:rPr sz="2100" spc="20" dirty="0"/>
              <a:t> </a:t>
            </a:r>
            <a:r>
              <a:rPr sz="2100" dirty="0"/>
              <a:t>use </a:t>
            </a:r>
            <a:r>
              <a:rPr sz="2100" spc="-10" dirty="0"/>
              <a:t>case.</a:t>
            </a:r>
            <a:endParaRPr sz="2100"/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1361" y="4322762"/>
            <a:ext cx="2025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40" dirty="0">
                <a:solidFill>
                  <a:srgbClr val="3B3B3B"/>
                </a:solidFill>
                <a:latin typeface="Courier New"/>
                <a:cs typeface="Courier New"/>
              </a:rPr>
              <a:t>2VI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E10326"/>
                </a:solidFill>
              </a:rPr>
              <a:t>Use</a:t>
            </a:r>
            <a:r>
              <a:rPr sz="2900" spc="-40" dirty="0">
                <a:solidFill>
                  <a:srgbClr val="E10326"/>
                </a:solidFill>
              </a:rPr>
              <a:t> </a:t>
            </a:r>
            <a:r>
              <a:rPr sz="2900" dirty="0">
                <a:solidFill>
                  <a:srgbClr val="EF0F34"/>
                </a:solidFill>
              </a:rPr>
              <a:t>Case</a:t>
            </a:r>
            <a:r>
              <a:rPr sz="2900" spc="15" dirty="0">
                <a:solidFill>
                  <a:srgbClr val="EF0F34"/>
                </a:solidFill>
              </a:rPr>
              <a:t> </a:t>
            </a:r>
            <a:r>
              <a:rPr sz="2900" spc="-10" dirty="0">
                <a:solidFill>
                  <a:srgbClr val="E21838"/>
                </a:solidFill>
              </a:rPr>
              <a:t>Levels</a:t>
            </a:r>
            <a:endParaRPr sz="290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42570" marR="5080" indent="-231140">
              <a:lnSpc>
                <a:spcPts val="2550"/>
              </a:lnSpc>
              <a:spcBef>
                <a:spcPts val="259"/>
              </a:spcBef>
              <a:buChar char="•"/>
              <a:tabLst>
                <a:tab pos="245745" algn="l"/>
              </a:tabLst>
            </a:pPr>
            <a:r>
              <a:rPr sz="2200" spc="-40" dirty="0"/>
              <a:t>Use</a:t>
            </a:r>
            <a:r>
              <a:rPr sz="2200" spc="-114" dirty="0"/>
              <a:t> </a:t>
            </a:r>
            <a:r>
              <a:rPr sz="2200" spc="-20" dirty="0"/>
              <a:t>case</a:t>
            </a:r>
            <a:r>
              <a:rPr sz="2200" spc="-135" dirty="0"/>
              <a:t> </a:t>
            </a:r>
            <a:r>
              <a:rPr sz="2200" spc="-30" dirty="0"/>
              <a:t>levels</a:t>
            </a:r>
            <a:r>
              <a:rPr sz="2200" spc="-120" dirty="0"/>
              <a:t> </a:t>
            </a:r>
            <a:r>
              <a:rPr sz="2200" spc="-30" dirty="0"/>
              <a:t>describe</a:t>
            </a:r>
            <a:r>
              <a:rPr sz="2200" spc="-105" dirty="0"/>
              <a:t> </a:t>
            </a:r>
            <a:r>
              <a:rPr sz="2200" spc="-30" dirty="0"/>
              <a:t>how</a:t>
            </a:r>
            <a:r>
              <a:rPr sz="2200" spc="-60" dirty="0"/>
              <a:t> </a:t>
            </a:r>
            <a:r>
              <a:rPr sz="2200" spc="-40" dirty="0"/>
              <a:t>global</a:t>
            </a:r>
            <a:r>
              <a:rPr sz="2200" spc="-114" dirty="0"/>
              <a:t> </a:t>
            </a:r>
            <a:r>
              <a:rPr sz="2200" spc="-25" dirty="0"/>
              <a:t>or 	</a:t>
            </a:r>
            <a:r>
              <a:rPr sz="2200" spc="-45" dirty="0"/>
              <a:t>detailed</a:t>
            </a:r>
            <a:r>
              <a:rPr sz="2200" spc="-80" dirty="0"/>
              <a:t> </a:t>
            </a:r>
            <a:r>
              <a:rPr sz="2200" dirty="0"/>
              <a:t>the</a:t>
            </a:r>
            <a:r>
              <a:rPr sz="2200" spc="-130" dirty="0"/>
              <a:t> </a:t>
            </a:r>
            <a:r>
              <a:rPr sz="2200" spc="-20" dirty="0"/>
              <a:t>use</a:t>
            </a:r>
            <a:r>
              <a:rPr sz="2200" spc="-135" dirty="0"/>
              <a:t> </a:t>
            </a:r>
            <a:r>
              <a:rPr sz="2200" spc="-20" dirty="0"/>
              <a:t>case</a:t>
            </a:r>
            <a:r>
              <a:rPr sz="2200" spc="-110" dirty="0"/>
              <a:t> </a:t>
            </a:r>
            <a:r>
              <a:rPr sz="2200" spc="-45" dirty="0"/>
              <a:t>description</a:t>
            </a:r>
            <a:r>
              <a:rPr sz="2200" spc="-50" dirty="0"/>
              <a:t> </a:t>
            </a:r>
            <a:r>
              <a:rPr sz="2200" spc="-25" dirty="0"/>
              <a:t>is:</a:t>
            </a:r>
            <a:endParaRPr sz="2200"/>
          </a:p>
          <a:p>
            <a:pPr marL="508634" lvl="1" indent="-189865">
              <a:lnSpc>
                <a:spcPct val="100000"/>
              </a:lnSpc>
              <a:spcBef>
                <a:spcPts val="290"/>
              </a:spcBef>
              <a:buClr>
                <a:srgbClr val="E92442"/>
              </a:buClr>
              <a:buChar char="•"/>
              <a:tabLst>
                <a:tab pos="508634" algn="l"/>
              </a:tabLst>
            </a:pPr>
            <a:r>
              <a:rPr sz="1900" spc="-25" dirty="0">
                <a:latin typeface="Arial MT"/>
                <a:cs typeface="Arial MT"/>
              </a:rPr>
              <a:t>White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(like</a:t>
            </a:r>
            <a:r>
              <a:rPr sz="1900" spc="-13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clouds): </a:t>
            </a:r>
            <a:r>
              <a:rPr sz="1900" spc="-25" dirty="0">
                <a:latin typeface="Arial MT"/>
                <a:cs typeface="Arial MT"/>
              </a:rPr>
              <a:t>enterprise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level</a:t>
            </a:r>
            <a:endParaRPr sz="1900">
              <a:latin typeface="Arial MT"/>
              <a:cs typeface="Arial MT"/>
            </a:endParaRPr>
          </a:p>
          <a:p>
            <a:pPr marL="503555" lvl="1" indent="-184785">
              <a:lnSpc>
                <a:spcPct val="100000"/>
              </a:lnSpc>
              <a:spcBef>
                <a:spcPts val="420"/>
              </a:spcBef>
              <a:buClr>
                <a:srgbClr val="F62141"/>
              </a:buClr>
              <a:buChar char="•"/>
              <a:tabLst>
                <a:tab pos="503555" algn="l"/>
              </a:tabLst>
            </a:pPr>
            <a:r>
              <a:rPr sz="1900" dirty="0">
                <a:latin typeface="Arial MT"/>
                <a:cs typeface="Arial MT"/>
              </a:rPr>
              <a:t>Kite: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business </a:t>
            </a:r>
            <a:r>
              <a:rPr sz="1900" dirty="0">
                <a:latin typeface="Arial MT"/>
                <a:cs typeface="Arial MT"/>
              </a:rPr>
              <a:t>unit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or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35" dirty="0">
                <a:latin typeface="Arial MT"/>
                <a:cs typeface="Arial MT"/>
              </a:rPr>
              <a:t>department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level</a:t>
            </a:r>
            <a:endParaRPr sz="1900">
              <a:latin typeface="Arial MT"/>
              <a:cs typeface="Arial MT"/>
            </a:endParaRPr>
          </a:p>
          <a:p>
            <a:pPr marL="503555" lvl="1" indent="-184785">
              <a:lnSpc>
                <a:spcPct val="100000"/>
              </a:lnSpc>
              <a:spcBef>
                <a:spcPts val="420"/>
              </a:spcBef>
              <a:buClr>
                <a:srgbClr val="F62646"/>
              </a:buClr>
              <a:buChar char="•"/>
              <a:tabLst>
                <a:tab pos="503555" algn="l"/>
              </a:tabLst>
            </a:pPr>
            <a:r>
              <a:rPr sz="1900" dirty="0">
                <a:latin typeface="Arial MT"/>
                <a:cs typeface="Arial MT"/>
              </a:rPr>
              <a:t>Blue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(sea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level):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user</a:t>
            </a:r>
            <a:r>
              <a:rPr sz="1900" spc="-1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goals</a:t>
            </a:r>
            <a:endParaRPr sz="1900">
              <a:latin typeface="Arial MT"/>
              <a:cs typeface="Arial MT"/>
            </a:endParaRPr>
          </a:p>
          <a:p>
            <a:pPr marL="508000" lvl="1" indent="-189230">
              <a:lnSpc>
                <a:spcPct val="100000"/>
              </a:lnSpc>
              <a:spcBef>
                <a:spcPts val="420"/>
              </a:spcBef>
              <a:buClr>
                <a:srgbClr val="FF2846"/>
              </a:buClr>
              <a:buChar char="•"/>
              <a:tabLst>
                <a:tab pos="508000" algn="l"/>
              </a:tabLst>
            </a:pPr>
            <a:r>
              <a:rPr sz="1900" spc="-25" dirty="0">
                <a:latin typeface="Arial MT"/>
                <a:cs typeface="Arial MT"/>
              </a:rPr>
              <a:t>Indigo</a:t>
            </a:r>
            <a:r>
              <a:rPr sz="1900" dirty="0">
                <a:latin typeface="Arial MT"/>
                <a:cs typeface="Arial MT"/>
              </a:rPr>
              <a:t> (or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fish):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functional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or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subfunctional</a:t>
            </a:r>
            <a:endParaRPr sz="1900">
              <a:latin typeface="Arial MT"/>
              <a:cs typeface="Arial MT"/>
            </a:endParaRPr>
          </a:p>
          <a:p>
            <a:pPr marL="503555" lvl="1" indent="-184785">
              <a:lnSpc>
                <a:spcPct val="100000"/>
              </a:lnSpc>
              <a:spcBef>
                <a:spcPts val="420"/>
              </a:spcBef>
              <a:buClr>
                <a:srgbClr val="F42346"/>
              </a:buClr>
              <a:buChar char="•"/>
              <a:tabLst>
                <a:tab pos="503555" algn="l"/>
              </a:tabLst>
            </a:pPr>
            <a:r>
              <a:rPr sz="1900" spc="-10" dirty="0">
                <a:latin typeface="Arial MT"/>
                <a:cs typeface="Arial MT"/>
              </a:rPr>
              <a:t>Black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(or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clam):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most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detailed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65656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1361" y="4322762"/>
            <a:ext cx="21399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262626"/>
                </a:solidFill>
                <a:latin typeface="Courier New"/>
                <a:cs typeface="Courier New"/>
              </a:rPr>
              <a:t>2W‹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CA1633"/>
                </a:solidFill>
              </a:rPr>
              <a:t>Alternative</a:t>
            </a:r>
            <a:r>
              <a:rPr sz="2900" spc="5" dirty="0">
                <a:solidFill>
                  <a:srgbClr val="CA1633"/>
                </a:solidFill>
              </a:rPr>
              <a:t> </a:t>
            </a:r>
            <a:r>
              <a:rPr sz="2900" spc="-10" dirty="0">
                <a:solidFill>
                  <a:srgbClr val="CC1F3D"/>
                </a:solidFill>
              </a:rPr>
              <a:t>Scenarios</a:t>
            </a:r>
            <a:endParaRPr sz="2900"/>
          </a:p>
        </p:txBody>
      </p:sp>
      <p:sp>
        <p:nvSpPr>
          <p:cNvPr id="6" name="object 6"/>
          <p:cNvSpPr txBox="1"/>
          <p:nvPr/>
        </p:nvSpPr>
        <p:spPr>
          <a:xfrm>
            <a:off x="800429" y="1333500"/>
            <a:ext cx="4864735" cy="21310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3204" marR="204470" indent="-231140">
              <a:lnSpc>
                <a:spcPts val="2590"/>
              </a:lnSpc>
              <a:spcBef>
                <a:spcPts val="325"/>
              </a:spcBef>
              <a:buChar char="•"/>
              <a:tabLst>
                <a:tab pos="247650" algn="l"/>
              </a:tabLst>
            </a:pPr>
            <a:r>
              <a:rPr sz="2300" spc="-80" dirty="0">
                <a:latin typeface="Arial MT"/>
                <a:cs typeface="Arial MT"/>
              </a:rPr>
              <a:t>Extensions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65" dirty="0">
                <a:latin typeface="Arial MT"/>
                <a:cs typeface="Arial MT"/>
              </a:rPr>
              <a:t>or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80" dirty="0">
                <a:latin typeface="Arial MT"/>
                <a:cs typeface="Arial MT"/>
              </a:rPr>
              <a:t>exceptions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spc="-85" dirty="0">
                <a:latin typeface="Arial MT"/>
                <a:cs typeface="Arial MT"/>
              </a:rPr>
              <a:t>to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70" dirty="0">
                <a:latin typeface="Arial MT"/>
                <a:cs typeface="Arial MT"/>
              </a:rPr>
              <a:t>the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spc="-105" dirty="0">
                <a:latin typeface="Arial MT"/>
                <a:cs typeface="Arial MT"/>
              </a:rPr>
              <a:t>main 	</a:t>
            </a:r>
            <a:r>
              <a:rPr sz="2300" spc="-90" dirty="0">
                <a:latin typeface="Arial MT"/>
                <a:cs typeface="Arial MT"/>
              </a:rPr>
              <a:t>use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case</a:t>
            </a:r>
            <a:endParaRPr sz="2300">
              <a:latin typeface="Arial MT"/>
              <a:cs typeface="Arial MT"/>
            </a:endParaRPr>
          </a:p>
          <a:p>
            <a:pPr marL="245110" marR="5080" indent="-232410">
              <a:lnSpc>
                <a:spcPts val="2550"/>
              </a:lnSpc>
              <a:spcBef>
                <a:spcPts val="480"/>
              </a:spcBef>
              <a:buChar char="•"/>
              <a:tabLst>
                <a:tab pos="247650" algn="l"/>
              </a:tabLst>
            </a:pPr>
            <a:r>
              <a:rPr sz="2150" spc="-10" dirty="0">
                <a:latin typeface="Arial MT"/>
                <a:cs typeface="Arial MT"/>
              </a:rPr>
              <a:t>Number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with</a:t>
            </a:r>
            <a:r>
              <a:rPr sz="2150" spc="-9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an</a:t>
            </a:r>
            <a:r>
              <a:rPr sz="2150" spc="-15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integer,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decimal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point, 	integer</a:t>
            </a:r>
            <a:endParaRPr sz="2150">
              <a:latin typeface="Arial MT"/>
              <a:cs typeface="Arial MT"/>
            </a:endParaRPr>
          </a:p>
          <a:p>
            <a:pPr marL="243204" marR="186690" indent="-230504">
              <a:lnSpc>
                <a:spcPts val="2550"/>
              </a:lnSpc>
              <a:spcBef>
                <a:spcPts val="560"/>
              </a:spcBef>
              <a:buChar char="•"/>
              <a:tabLst>
                <a:tab pos="248285" algn="l"/>
              </a:tabLst>
            </a:pPr>
            <a:r>
              <a:rPr sz="2200" spc="-10" dirty="0">
                <a:latin typeface="Arial MT"/>
                <a:cs typeface="Arial MT"/>
              </a:rPr>
              <a:t>Steps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that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may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45" dirty="0">
                <a:latin typeface="Arial MT"/>
                <a:cs typeface="Arial MT"/>
              </a:rPr>
              <a:t>may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40" dirty="0">
                <a:latin typeface="Arial MT"/>
                <a:cs typeface="Arial MT"/>
              </a:rPr>
              <a:t>always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be 	</a:t>
            </a:r>
            <a:r>
              <a:rPr sz="2200" spc="-20" dirty="0">
                <a:latin typeface="Arial MT"/>
                <a:cs typeface="Arial MT"/>
              </a:rPr>
              <a:t>used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1361" y="4322762"/>
            <a:ext cx="2025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40" dirty="0">
                <a:solidFill>
                  <a:srgbClr val="464646"/>
                </a:solidFill>
                <a:latin typeface="Courier New"/>
                <a:cs typeface="Courier New"/>
              </a:rPr>
              <a:t>2V?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511551" y="1506474"/>
            <a:ext cx="231775" cy="0"/>
          </a:xfrm>
          <a:custGeom>
            <a:avLst/>
            <a:gdLst/>
            <a:ahLst/>
            <a:cxnLst/>
            <a:rect l="l" t="t" r="r" b="b"/>
            <a:pathLst>
              <a:path w="231775">
                <a:moveTo>
                  <a:pt x="0" y="0"/>
                </a:moveTo>
                <a:lnTo>
                  <a:pt x="231647" y="0"/>
                </a:lnTo>
              </a:path>
            </a:pathLst>
          </a:custGeom>
          <a:ln w="21336">
            <a:solidFill>
              <a:srgbClr val="28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3550" y="4381500"/>
            <a:ext cx="171450" cy="76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E10326"/>
                </a:solidFill>
              </a:rPr>
              <a:t>Use</a:t>
            </a:r>
            <a:r>
              <a:rPr sz="2900" spc="-35" dirty="0">
                <a:solidFill>
                  <a:srgbClr val="E10326"/>
                </a:solidFill>
              </a:rPr>
              <a:t> </a:t>
            </a:r>
            <a:r>
              <a:rPr sz="2900" dirty="0">
                <a:solidFill>
                  <a:srgbClr val="EF0F34"/>
                </a:solidFill>
              </a:rPr>
              <a:t>Case</a:t>
            </a:r>
            <a:r>
              <a:rPr sz="2900" spc="5" dirty="0">
                <a:solidFill>
                  <a:srgbClr val="EF0F34"/>
                </a:solidFill>
              </a:rPr>
              <a:t> </a:t>
            </a:r>
            <a:r>
              <a:rPr sz="2900" dirty="0">
                <a:solidFill>
                  <a:srgbClr val="D41A38"/>
                </a:solidFill>
              </a:rPr>
              <a:t>Footer</a:t>
            </a:r>
            <a:r>
              <a:rPr sz="2900" spc="30" dirty="0">
                <a:solidFill>
                  <a:srgbClr val="D41A38"/>
                </a:solidFill>
              </a:rPr>
              <a:t> </a:t>
            </a:r>
            <a:r>
              <a:rPr sz="2900" spc="-20" dirty="0">
                <a:solidFill>
                  <a:srgbClr val="E20E36"/>
                </a:solidFill>
              </a:rPr>
              <a:t>Area</a:t>
            </a:r>
            <a:endParaRPr sz="2900"/>
          </a:p>
        </p:txBody>
      </p:sp>
      <p:sp>
        <p:nvSpPr>
          <p:cNvPr id="8" name="object 8"/>
          <p:cNvSpPr txBox="1"/>
          <p:nvPr/>
        </p:nvSpPr>
        <p:spPr>
          <a:xfrm>
            <a:off x="831708" y="1322387"/>
            <a:ext cx="5036820" cy="27044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4475" marR="360680" indent="-232410">
              <a:lnSpc>
                <a:spcPts val="2030"/>
              </a:lnSpc>
              <a:spcBef>
                <a:spcPts val="375"/>
              </a:spcBef>
              <a:buChar char="•"/>
              <a:tabLst>
                <a:tab pos="244475" algn="l"/>
                <a:tab pos="1914525" algn="l"/>
              </a:tabLst>
            </a:pPr>
            <a:r>
              <a:rPr sz="1900" spc="-10" dirty="0">
                <a:latin typeface="Arial MT"/>
                <a:cs typeface="Arial MT"/>
              </a:rPr>
              <a:t>Preconditions</a:t>
            </a:r>
            <a:r>
              <a:rPr sz="1900" dirty="0">
                <a:latin typeface="Arial MT"/>
                <a:cs typeface="Arial MT"/>
              </a:rPr>
              <a:t>	</a:t>
            </a:r>
            <a:r>
              <a:rPr sz="1900" spc="-10" dirty="0">
                <a:latin typeface="Arial MT"/>
                <a:cs typeface="Arial MT"/>
              </a:rPr>
              <a:t>need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1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met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before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use </a:t>
            </a:r>
            <a:r>
              <a:rPr sz="1900" spc="-20" dirty="0">
                <a:latin typeface="Arial MT"/>
                <a:cs typeface="Arial MT"/>
              </a:rPr>
              <a:t>case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can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</a:t>
            </a:r>
            <a:r>
              <a:rPr sz="1900" spc="-1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performed</a:t>
            </a:r>
            <a:endParaRPr sz="1900">
              <a:latin typeface="Arial MT"/>
              <a:cs typeface="Arial MT"/>
            </a:endParaRPr>
          </a:p>
          <a:p>
            <a:pPr marL="240029" marR="5080" indent="-227965">
              <a:lnSpc>
                <a:spcPts val="1989"/>
              </a:lnSpc>
              <a:spcBef>
                <a:spcPts val="434"/>
              </a:spcBef>
              <a:buChar char="•"/>
              <a:tabLst>
                <a:tab pos="240029" algn="l"/>
                <a:tab pos="244475" algn="l"/>
              </a:tabLst>
            </a:pPr>
            <a:r>
              <a:rPr sz="1900" dirty="0">
                <a:latin typeface="Arial MT"/>
                <a:cs typeface="Arial MT"/>
              </a:rPr>
              <a:t>	</a:t>
            </a:r>
            <a:r>
              <a:rPr sz="1900" spc="-25" dirty="0">
                <a:latin typeface="Arial MT"/>
                <a:cs typeface="Arial MT"/>
              </a:rPr>
              <a:t>Postconditions</a:t>
            </a:r>
            <a:r>
              <a:rPr sz="1900" spc="-1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or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state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1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system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after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use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case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has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finished</a:t>
            </a:r>
            <a:endParaRPr sz="1900">
              <a:latin typeface="Arial MT"/>
              <a:cs typeface="Arial MT"/>
            </a:endParaRPr>
          </a:p>
          <a:p>
            <a:pPr marL="244475" indent="-231775">
              <a:lnSpc>
                <a:spcPct val="100000"/>
              </a:lnSpc>
              <a:spcBef>
                <a:spcPts val="225"/>
              </a:spcBef>
              <a:buChar char="•"/>
              <a:tabLst>
                <a:tab pos="244475" algn="l"/>
              </a:tabLst>
            </a:pPr>
            <a:r>
              <a:rPr sz="1850" spc="-10" dirty="0">
                <a:latin typeface="Arial MT"/>
                <a:cs typeface="Arial MT"/>
              </a:rPr>
              <a:t>Assumptions</a:t>
            </a:r>
            <a:endParaRPr sz="1850">
              <a:latin typeface="Arial MT"/>
              <a:cs typeface="Arial MT"/>
            </a:endParaRPr>
          </a:p>
          <a:p>
            <a:pPr marL="236220" indent="-223520">
              <a:lnSpc>
                <a:spcPct val="100000"/>
              </a:lnSpc>
              <a:spcBef>
                <a:spcPts val="254"/>
              </a:spcBef>
              <a:buChar char="•"/>
              <a:tabLst>
                <a:tab pos="236220" algn="l"/>
              </a:tabLst>
            </a:pPr>
            <a:r>
              <a:rPr sz="1850" dirty="0">
                <a:latin typeface="Arial MT"/>
                <a:cs typeface="Arial MT"/>
              </a:rPr>
              <a:t>Minimal</a:t>
            </a:r>
            <a:r>
              <a:rPr sz="1850" spc="6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guarantee</a:t>
            </a:r>
            <a:endParaRPr sz="185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254"/>
              </a:spcBef>
              <a:buChar char="•"/>
              <a:tabLst>
                <a:tab pos="243204" algn="l"/>
              </a:tabLst>
            </a:pPr>
            <a:r>
              <a:rPr sz="1850" dirty="0">
                <a:latin typeface="Arial MT"/>
                <a:cs typeface="Arial MT"/>
              </a:rPr>
              <a:t>Success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guarantee</a:t>
            </a:r>
            <a:endParaRPr sz="1850">
              <a:latin typeface="Arial MT"/>
              <a:cs typeface="Arial MT"/>
            </a:endParaRPr>
          </a:p>
          <a:p>
            <a:pPr marL="242570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242570" algn="l"/>
              </a:tabLst>
            </a:pPr>
            <a:r>
              <a:rPr sz="1850" dirty="0">
                <a:latin typeface="Arial MT"/>
                <a:cs typeface="Arial MT"/>
              </a:rPr>
              <a:t>Outstanding </a:t>
            </a:r>
            <a:r>
              <a:rPr sz="1850" spc="-10" dirty="0">
                <a:latin typeface="Arial MT"/>
                <a:cs typeface="Arial MT"/>
              </a:rPr>
              <a:t>issues</a:t>
            </a:r>
            <a:endParaRPr sz="1850">
              <a:latin typeface="Arial MT"/>
              <a:cs typeface="Arial MT"/>
            </a:endParaRPr>
          </a:p>
          <a:p>
            <a:pPr marL="242570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242570" algn="l"/>
              </a:tabLst>
            </a:pPr>
            <a:r>
              <a:rPr sz="1850" dirty="0">
                <a:latin typeface="Arial MT"/>
                <a:cs typeface="Arial MT"/>
              </a:rPr>
              <a:t>Optional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priority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and</a:t>
            </a:r>
            <a:r>
              <a:rPr sz="1850" spc="-30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risk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65656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6311" y="219075"/>
            <a:ext cx="5126124" cy="943207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6510">
              <a:lnSpc>
                <a:spcPts val="3390"/>
              </a:lnSpc>
              <a:spcBef>
                <a:spcPts val="100"/>
              </a:spcBef>
            </a:pPr>
            <a:r>
              <a:rPr dirty="0"/>
              <a:t>Four Steps Used to </a:t>
            </a:r>
            <a:r>
              <a:t>Create Use</a:t>
            </a:r>
            <a:r>
              <a:rPr lang="en-US"/>
              <a:t> </a:t>
            </a:r>
            <a:r>
              <a:t>Cases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3204" marR="415925" indent="-231140">
              <a:lnSpc>
                <a:spcPct val="88700"/>
              </a:lnSpc>
              <a:spcBef>
                <a:spcPts val="390"/>
              </a:spcBef>
              <a:buChar char="•"/>
              <a:tabLst>
                <a:tab pos="243204" algn="l"/>
              </a:tabLst>
            </a:pPr>
            <a:r>
              <a:rPr dirty="0"/>
              <a:t>Use</a:t>
            </a:r>
            <a:r>
              <a:rPr spc="-135" dirty="0"/>
              <a:t> </a:t>
            </a:r>
            <a:r>
              <a:rPr dirty="0"/>
              <a:t>agile</a:t>
            </a:r>
            <a:r>
              <a:rPr spc="-100" dirty="0"/>
              <a:t> </a:t>
            </a:r>
            <a:r>
              <a:rPr spc="-10" dirty="0"/>
              <a:t>stories,</a:t>
            </a:r>
            <a:r>
              <a:rPr spc="-95" dirty="0"/>
              <a:t> </a:t>
            </a:r>
            <a:r>
              <a:rPr spc="-10" dirty="0"/>
              <a:t>problem</a:t>
            </a:r>
            <a:r>
              <a:rPr spc="-45" dirty="0"/>
              <a:t> </a:t>
            </a:r>
            <a:r>
              <a:rPr spc="-20" dirty="0"/>
              <a:t>definition </a:t>
            </a:r>
            <a:r>
              <a:rPr spc="-25" dirty="0"/>
              <a:t>objectives,</a:t>
            </a:r>
            <a:r>
              <a:rPr spc="-15" dirty="0"/>
              <a:t> </a:t>
            </a:r>
            <a:r>
              <a:rPr dirty="0"/>
              <a:t>user</a:t>
            </a:r>
            <a:r>
              <a:rPr spc="-75" dirty="0"/>
              <a:t> </a:t>
            </a:r>
            <a:r>
              <a:rPr spc="-20" dirty="0"/>
              <a:t>requirements,</a:t>
            </a:r>
            <a:r>
              <a:rPr spc="15" dirty="0"/>
              <a:t> </a:t>
            </a:r>
            <a:r>
              <a:rPr dirty="0"/>
              <a:t>or</a:t>
            </a:r>
            <a:r>
              <a:rPr spc="-135" dirty="0"/>
              <a:t> </a:t>
            </a:r>
            <a:r>
              <a:rPr spc="-50" dirty="0"/>
              <a:t>a </a:t>
            </a:r>
            <a:r>
              <a:rPr spc="-10" dirty="0"/>
              <a:t>features</a:t>
            </a:r>
            <a:r>
              <a:rPr spc="-90" dirty="0"/>
              <a:t> </a:t>
            </a:r>
            <a:r>
              <a:rPr spc="-10" dirty="0"/>
              <a:t>list.</a:t>
            </a:r>
          </a:p>
          <a:p>
            <a:pPr marL="246379" indent="-233679">
              <a:lnSpc>
                <a:spcPct val="100000"/>
              </a:lnSpc>
              <a:spcBef>
                <a:spcPts val="270"/>
              </a:spcBef>
              <a:buChar char="•"/>
              <a:tabLst>
                <a:tab pos="246379" algn="l"/>
              </a:tabLst>
            </a:pPr>
            <a:r>
              <a:rPr dirty="0"/>
              <a:t>Ask</a:t>
            </a:r>
            <a:r>
              <a:rPr spc="-50" dirty="0"/>
              <a:t> </a:t>
            </a:r>
            <a:r>
              <a:rPr spc="-10" dirty="0"/>
              <a:t>about</a:t>
            </a:r>
            <a:r>
              <a:rPr spc="-105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tasks</a:t>
            </a:r>
            <a:r>
              <a:rPr spc="-65" dirty="0"/>
              <a:t> </a:t>
            </a:r>
            <a:r>
              <a:rPr dirty="0"/>
              <a:t>that</a:t>
            </a:r>
            <a:r>
              <a:rPr spc="-114" dirty="0"/>
              <a:t> </a:t>
            </a:r>
            <a:r>
              <a:rPr dirty="0"/>
              <a:t>must</a:t>
            </a:r>
            <a:r>
              <a:rPr spc="-95" dirty="0"/>
              <a:t> </a:t>
            </a:r>
            <a:r>
              <a:rPr dirty="0"/>
              <a:t>be</a:t>
            </a:r>
            <a:r>
              <a:rPr spc="-125" dirty="0"/>
              <a:t> </a:t>
            </a:r>
            <a:r>
              <a:rPr spc="-10" dirty="0"/>
              <a:t>done.</a:t>
            </a:r>
          </a:p>
          <a:p>
            <a:pPr marL="238125" marR="215900" indent="-226060">
              <a:lnSpc>
                <a:spcPts val="2290"/>
              </a:lnSpc>
              <a:spcBef>
                <a:spcPts val="550"/>
              </a:spcBef>
              <a:buChar char="•"/>
              <a:tabLst>
                <a:tab pos="238125" algn="l"/>
                <a:tab pos="243840" algn="l"/>
              </a:tabLst>
            </a:pPr>
            <a:r>
              <a:rPr dirty="0"/>
              <a:t>	</a:t>
            </a:r>
            <a:r>
              <a:rPr spc="-25" dirty="0"/>
              <a:t>Determine </a:t>
            </a:r>
            <a:r>
              <a:rPr dirty="0"/>
              <a:t>if</a:t>
            </a:r>
            <a:r>
              <a:rPr spc="-95" dirty="0"/>
              <a:t> </a:t>
            </a:r>
            <a:r>
              <a:rPr dirty="0"/>
              <a:t>there</a:t>
            </a:r>
            <a:r>
              <a:rPr spc="-75" dirty="0"/>
              <a:t> </a:t>
            </a:r>
            <a:r>
              <a:rPr dirty="0"/>
              <a:t>are</a:t>
            </a:r>
            <a:r>
              <a:rPr spc="-95" dirty="0"/>
              <a:t> </a:t>
            </a:r>
            <a:r>
              <a:rPr dirty="0"/>
              <a:t>any</a:t>
            </a:r>
            <a:r>
              <a:rPr spc="-100" dirty="0"/>
              <a:t> </a:t>
            </a:r>
            <a:r>
              <a:rPr spc="-10" dirty="0"/>
              <a:t>iterative</a:t>
            </a:r>
            <a:r>
              <a:rPr spc="-50" dirty="0"/>
              <a:t> </a:t>
            </a:r>
            <a:r>
              <a:rPr spc="-25" dirty="0"/>
              <a:t>or </a:t>
            </a:r>
            <a:r>
              <a:rPr dirty="0"/>
              <a:t>looping</a:t>
            </a:r>
            <a:r>
              <a:rPr spc="-150" dirty="0"/>
              <a:t> </a:t>
            </a:r>
            <a:r>
              <a:rPr spc="-10" dirty="0"/>
              <a:t>actions.</a:t>
            </a:r>
          </a:p>
          <a:p>
            <a:pPr marL="239395" marR="42545" indent="-227329">
              <a:lnSpc>
                <a:spcPts val="2330"/>
              </a:lnSpc>
              <a:spcBef>
                <a:spcPts val="525"/>
              </a:spcBef>
              <a:buChar char="•"/>
              <a:tabLst>
                <a:tab pos="247015" algn="l"/>
              </a:tabLst>
            </a:pPr>
            <a:r>
              <a:rPr dirty="0"/>
              <a:t>The</a:t>
            </a:r>
            <a:r>
              <a:rPr spc="-130" dirty="0"/>
              <a:t> </a:t>
            </a:r>
            <a:r>
              <a:rPr dirty="0"/>
              <a:t>use</a:t>
            </a:r>
            <a:r>
              <a:rPr spc="-105" dirty="0"/>
              <a:t> </a:t>
            </a:r>
            <a:r>
              <a:rPr dirty="0"/>
              <a:t>case</a:t>
            </a:r>
            <a:r>
              <a:rPr spc="-80" dirty="0"/>
              <a:t> </a:t>
            </a:r>
            <a:r>
              <a:rPr dirty="0"/>
              <a:t>ends</a:t>
            </a:r>
            <a:r>
              <a:rPr spc="-65" dirty="0"/>
              <a:t> </a:t>
            </a:r>
            <a:r>
              <a:rPr dirty="0"/>
              <a:t>when</a:t>
            </a:r>
            <a:r>
              <a:rPr spc="-60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10" dirty="0"/>
              <a:t>customer 	</a:t>
            </a:r>
            <a:r>
              <a:rPr dirty="0"/>
              <a:t>goal</a:t>
            </a:r>
            <a:r>
              <a:rPr spc="-7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0" dirty="0"/>
              <a:t>complete.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7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5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Pearson</a:t>
            </a:r>
            <a:r>
              <a:rPr sz="700" spc="3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363636"/>
                </a:solidFill>
                <a:latin typeface="Arial MT"/>
                <a:cs typeface="Arial MT"/>
              </a:rPr>
              <a:t>Eouc‹mion,</a:t>
            </a:r>
            <a:r>
              <a:rPr sz="700" spc="6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3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-1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Nail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1361" y="4322762"/>
            <a:ext cx="19304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65" dirty="0">
                <a:solidFill>
                  <a:srgbClr val="3D3D3D"/>
                </a:solidFill>
                <a:latin typeface="Courier New"/>
                <a:cs typeface="Courier New"/>
              </a:rPr>
              <a:t>2M?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E22649"/>
                </a:solidFill>
              </a:rPr>
              <a:t>Why</a:t>
            </a:r>
            <a:r>
              <a:rPr sz="2900" spc="-15" dirty="0">
                <a:solidFill>
                  <a:srgbClr val="E22649"/>
                </a:solidFill>
              </a:rPr>
              <a:t> </a:t>
            </a:r>
            <a:r>
              <a:rPr sz="2900" dirty="0">
                <a:solidFill>
                  <a:srgbClr val="B8213F"/>
                </a:solidFill>
              </a:rPr>
              <a:t>Use</a:t>
            </a:r>
            <a:r>
              <a:rPr sz="2900" spc="-40" dirty="0">
                <a:solidFill>
                  <a:srgbClr val="B8213F"/>
                </a:solidFill>
              </a:rPr>
              <a:t> </a:t>
            </a:r>
            <a:r>
              <a:rPr sz="2900" dirty="0">
                <a:solidFill>
                  <a:srgbClr val="C81834"/>
                </a:solidFill>
              </a:rPr>
              <a:t>Case</a:t>
            </a:r>
            <a:r>
              <a:rPr sz="2900" spc="-10" dirty="0">
                <a:solidFill>
                  <a:srgbClr val="C81834"/>
                </a:solidFill>
              </a:rPr>
              <a:t> </a:t>
            </a:r>
            <a:r>
              <a:rPr sz="2900" dirty="0">
                <a:solidFill>
                  <a:srgbClr val="C41A3A"/>
                </a:solidFill>
              </a:rPr>
              <a:t>Diagrams</a:t>
            </a:r>
            <a:r>
              <a:rPr sz="2900" spc="70" dirty="0">
                <a:solidFill>
                  <a:srgbClr val="C41A3A"/>
                </a:solidFill>
              </a:rPr>
              <a:t> </a:t>
            </a:r>
            <a:r>
              <a:rPr sz="2900" spc="-25" dirty="0">
                <a:solidFill>
                  <a:srgbClr val="D42444"/>
                </a:solidFill>
              </a:rPr>
              <a:t>Are</a:t>
            </a:r>
            <a:endParaRPr sz="2900" dirty="0"/>
          </a:p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sz="2850" spc="-10" dirty="0">
                <a:solidFill>
                  <a:srgbClr val="AF1A38"/>
                </a:solidFill>
              </a:rPr>
              <a:t>Helpful</a:t>
            </a:r>
            <a:endParaRPr sz="2850" dirty="0"/>
          </a:p>
        </p:txBody>
      </p:sp>
      <p:sp>
        <p:nvSpPr>
          <p:cNvPr id="6" name="object 6"/>
          <p:cNvSpPr txBox="1"/>
          <p:nvPr/>
        </p:nvSpPr>
        <p:spPr>
          <a:xfrm>
            <a:off x="830018" y="1319212"/>
            <a:ext cx="4803775" cy="25965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39395" marR="305435" indent="-227329">
              <a:lnSpc>
                <a:spcPts val="2290"/>
              </a:lnSpc>
              <a:spcBef>
                <a:spcPts val="415"/>
              </a:spcBef>
              <a:buChar char="•"/>
              <a:tabLst>
                <a:tab pos="246379" algn="l"/>
              </a:tabLst>
            </a:pPr>
            <a:r>
              <a:rPr sz="2150" dirty="0">
                <a:latin typeface="Arial MT"/>
                <a:cs typeface="Arial MT"/>
              </a:rPr>
              <a:t>Identify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all</a:t>
            </a:r>
            <a:r>
              <a:rPr sz="2150" spc="-1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actors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in</a:t>
            </a:r>
            <a:r>
              <a:rPr sz="2150" spc="-12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problem 	</a:t>
            </a:r>
            <a:r>
              <a:rPr sz="2150" spc="-10" dirty="0">
                <a:latin typeface="Arial MT"/>
                <a:cs typeface="Arial MT"/>
              </a:rPr>
              <a:t>domain.</a:t>
            </a:r>
            <a:endParaRPr sz="2150" dirty="0">
              <a:latin typeface="Arial MT"/>
              <a:cs typeface="Arial MT"/>
            </a:endParaRPr>
          </a:p>
          <a:p>
            <a:pPr marL="245745" marR="5080" indent="-233679">
              <a:lnSpc>
                <a:spcPct val="89400"/>
              </a:lnSpc>
              <a:spcBef>
                <a:spcPts val="475"/>
              </a:spcBef>
              <a:buChar char="•"/>
              <a:tabLst>
                <a:tab pos="245745" algn="l"/>
              </a:tabLst>
            </a:pPr>
            <a:r>
              <a:rPr sz="2150" spc="-10" dirty="0">
                <a:latin typeface="Arial MT"/>
                <a:cs typeface="Arial MT"/>
              </a:rPr>
              <a:t>Actions</a:t>
            </a:r>
            <a:r>
              <a:rPr sz="2150" spc="-4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that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need</a:t>
            </a:r>
            <a:r>
              <a:rPr sz="2150" spc="-8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to</a:t>
            </a:r>
            <a:r>
              <a:rPr sz="2150" spc="-1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be</a:t>
            </a:r>
            <a:r>
              <a:rPr sz="2150" spc="-105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completed</a:t>
            </a:r>
            <a:r>
              <a:rPr sz="2150" spc="55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are </a:t>
            </a:r>
            <a:r>
              <a:rPr sz="2150" dirty="0">
                <a:latin typeface="Arial MT"/>
                <a:cs typeface="Arial MT"/>
              </a:rPr>
              <a:t>also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clearly</a:t>
            </a:r>
            <a:r>
              <a:rPr sz="2150" spc="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shown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on</a:t>
            </a:r>
            <a:r>
              <a:rPr sz="2150" spc="-14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1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use</a:t>
            </a:r>
            <a:r>
              <a:rPr sz="2150" spc="-12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case </a:t>
            </a:r>
            <a:r>
              <a:rPr sz="2150" spc="-10" dirty="0">
                <a:latin typeface="Arial MT"/>
                <a:cs typeface="Arial MT"/>
              </a:rPr>
              <a:t>diagram.</a:t>
            </a:r>
            <a:endParaRPr sz="2150" dirty="0">
              <a:latin typeface="Arial MT"/>
              <a:cs typeface="Arial MT"/>
            </a:endParaRPr>
          </a:p>
          <a:p>
            <a:pPr marL="239395" indent="-226695">
              <a:lnSpc>
                <a:spcPts val="2395"/>
              </a:lnSpc>
              <a:spcBef>
                <a:spcPts val="285"/>
              </a:spcBef>
              <a:buChar char="•"/>
              <a:tabLst>
                <a:tab pos="239395" algn="l"/>
              </a:tabLst>
            </a:pPr>
            <a:r>
              <a:rPr sz="2100" dirty="0">
                <a:latin typeface="Arial MT"/>
                <a:cs typeface="Arial MT"/>
              </a:rPr>
              <a:t>The</a:t>
            </a:r>
            <a:r>
              <a:rPr sz="2100" spc="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use</a:t>
            </a:r>
            <a:r>
              <a:rPr sz="2100" spc="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case</a:t>
            </a:r>
            <a:r>
              <a:rPr sz="2100" spc="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scenario</a:t>
            </a:r>
            <a:r>
              <a:rPr sz="2100" spc="1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also</a:t>
            </a:r>
            <a:endParaRPr sz="2100" dirty="0">
              <a:latin typeface="Arial MT"/>
              <a:cs typeface="Arial MT"/>
            </a:endParaRPr>
          </a:p>
          <a:p>
            <a:pPr marL="245110">
              <a:lnSpc>
                <a:spcPts val="2460"/>
              </a:lnSpc>
            </a:pPr>
            <a:r>
              <a:rPr sz="2150" spc="-10" dirty="0">
                <a:latin typeface="Arial MT"/>
                <a:cs typeface="Arial MT"/>
              </a:rPr>
              <a:t>worthwhile.</a:t>
            </a:r>
            <a:endParaRPr sz="2150" dirty="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229"/>
              </a:spcBef>
              <a:buChar char="•"/>
              <a:tabLst>
                <a:tab pos="243204" algn="l"/>
              </a:tabLst>
            </a:pPr>
            <a:r>
              <a:rPr sz="2150" spc="-10" dirty="0">
                <a:latin typeface="Arial MT"/>
                <a:cs typeface="Arial MT"/>
              </a:rPr>
              <a:t>Simplicity</a:t>
            </a:r>
            <a:r>
              <a:rPr sz="2150" spc="-2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and</a:t>
            </a:r>
            <a:r>
              <a:rPr sz="2150" spc="-14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lack</a:t>
            </a:r>
            <a:r>
              <a:rPr sz="2150" spc="-2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technical</a:t>
            </a:r>
            <a:r>
              <a:rPr sz="2150" spc="-3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detail</a:t>
            </a:r>
            <a:endParaRPr sz="21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1361" y="4322762"/>
            <a:ext cx="2006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45" dirty="0">
                <a:solidFill>
                  <a:srgbClr val="3A3A3A"/>
                </a:solidFill>
                <a:latin typeface="Courier New"/>
                <a:cs typeface="Courier New"/>
              </a:rPr>
              <a:t>2MS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15000" cy="45529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6510" marR="5080" indent="2540">
              <a:lnSpc>
                <a:spcPct val="99200"/>
              </a:lnSpc>
              <a:spcBef>
                <a:spcPts val="114"/>
              </a:spcBef>
            </a:pPr>
            <a:r>
              <a:rPr sz="1950" spc="-45" dirty="0">
                <a:solidFill>
                  <a:srgbClr val="B31C36"/>
                </a:solidFill>
              </a:rPr>
              <a:t>The</a:t>
            </a:r>
            <a:r>
              <a:rPr sz="1950" spc="-90" dirty="0">
                <a:solidFill>
                  <a:srgbClr val="B31C36"/>
                </a:solidFill>
              </a:rPr>
              <a:t> </a:t>
            </a:r>
            <a:r>
              <a:rPr sz="1950" spc="-70" dirty="0">
                <a:solidFill>
                  <a:srgbClr val="F96079"/>
                </a:solidFill>
              </a:rPr>
              <a:t>Main</a:t>
            </a:r>
            <a:r>
              <a:rPr sz="1950" spc="-65" dirty="0">
                <a:solidFill>
                  <a:srgbClr val="F96079"/>
                </a:solidFill>
              </a:rPr>
              <a:t> </a:t>
            </a:r>
            <a:r>
              <a:rPr sz="1950" spc="-55" dirty="0">
                <a:solidFill>
                  <a:srgbClr val="A31F38"/>
                </a:solidFill>
              </a:rPr>
              <a:t>Reasons</a:t>
            </a:r>
            <a:r>
              <a:rPr sz="1950" spc="-80" dirty="0">
                <a:solidFill>
                  <a:srgbClr val="A31F38"/>
                </a:solidFill>
              </a:rPr>
              <a:t> </a:t>
            </a:r>
            <a:r>
              <a:rPr sz="1950" dirty="0">
                <a:solidFill>
                  <a:srgbClr val="891C34"/>
                </a:solidFill>
              </a:rPr>
              <a:t>for</a:t>
            </a:r>
            <a:r>
              <a:rPr sz="1950" spc="-100" dirty="0">
                <a:solidFill>
                  <a:srgbClr val="891C34"/>
                </a:solidFill>
              </a:rPr>
              <a:t> </a:t>
            </a:r>
            <a:r>
              <a:rPr sz="1950" spc="-55" dirty="0">
                <a:solidFill>
                  <a:srgbClr val="FF7790"/>
                </a:solidFill>
              </a:rPr>
              <a:t>Writing </a:t>
            </a:r>
            <a:r>
              <a:rPr sz="1950" spc="-65" dirty="0">
                <a:solidFill>
                  <a:srgbClr val="A12638"/>
                </a:solidFill>
              </a:rPr>
              <a:t>Use</a:t>
            </a:r>
            <a:r>
              <a:rPr sz="1950" spc="-70" dirty="0">
                <a:solidFill>
                  <a:srgbClr val="A12638"/>
                </a:solidFill>
              </a:rPr>
              <a:t> </a:t>
            </a:r>
            <a:r>
              <a:rPr sz="1950" spc="-30" dirty="0">
                <a:solidFill>
                  <a:srgbClr val="AC1C3B"/>
                </a:solidFill>
              </a:rPr>
              <a:t>Cases</a:t>
            </a:r>
            <a:r>
              <a:rPr sz="1950" spc="-40" dirty="0">
                <a:solidFill>
                  <a:srgbClr val="AC1C3B"/>
                </a:solidFill>
              </a:rPr>
              <a:t> </a:t>
            </a:r>
            <a:r>
              <a:rPr sz="1950" spc="-25" dirty="0">
                <a:solidFill>
                  <a:srgbClr val="9C1631"/>
                </a:solidFill>
              </a:rPr>
              <a:t>Are </a:t>
            </a:r>
            <a:r>
              <a:rPr sz="1850" dirty="0">
                <a:solidFill>
                  <a:srgbClr val="8C1F3B"/>
                </a:solidFill>
              </a:rPr>
              <a:t>Their</a:t>
            </a:r>
            <a:r>
              <a:rPr sz="1850" spc="-15" dirty="0">
                <a:solidFill>
                  <a:srgbClr val="8C1F3B"/>
                </a:solidFill>
              </a:rPr>
              <a:t> </a:t>
            </a:r>
            <a:r>
              <a:rPr sz="1850" dirty="0">
                <a:solidFill>
                  <a:srgbClr val="9C0F2F"/>
                </a:solidFill>
              </a:rPr>
              <a:t>Effectiveness</a:t>
            </a:r>
            <a:r>
              <a:rPr sz="1850" spc="60" dirty="0">
                <a:solidFill>
                  <a:srgbClr val="9C0F2F"/>
                </a:solidFill>
              </a:rPr>
              <a:t> </a:t>
            </a:r>
            <a:r>
              <a:rPr sz="1850" dirty="0">
                <a:solidFill>
                  <a:srgbClr val="853B4F"/>
                </a:solidFill>
              </a:rPr>
              <a:t>in</a:t>
            </a:r>
            <a:r>
              <a:rPr sz="1850" spc="-25" dirty="0">
                <a:solidFill>
                  <a:srgbClr val="853B4F"/>
                </a:solidFill>
              </a:rPr>
              <a:t> </a:t>
            </a:r>
            <a:r>
              <a:rPr sz="1850" spc="-10" dirty="0">
                <a:solidFill>
                  <a:srgbClr val="BC1C3B"/>
                </a:solidFill>
              </a:rPr>
              <a:t>Communicating</a:t>
            </a:r>
            <a:r>
              <a:rPr sz="1850" spc="235" dirty="0">
                <a:solidFill>
                  <a:srgbClr val="BC1C3B"/>
                </a:solidFill>
              </a:rPr>
              <a:t> </a:t>
            </a:r>
            <a:r>
              <a:rPr sz="1850" spc="-20" dirty="0">
                <a:solidFill>
                  <a:srgbClr val="CF3B57"/>
                </a:solidFill>
              </a:rPr>
              <a:t>with</a:t>
            </a:r>
            <a:r>
              <a:rPr sz="1850" spc="500" dirty="0">
                <a:solidFill>
                  <a:srgbClr val="CF3B57"/>
                </a:solidFill>
              </a:rPr>
              <a:t> </a:t>
            </a:r>
            <a:r>
              <a:rPr sz="1850" dirty="0">
                <a:solidFill>
                  <a:srgbClr val="9A243D"/>
                </a:solidFill>
              </a:rPr>
              <a:t>Users</a:t>
            </a:r>
            <a:r>
              <a:rPr sz="1850" spc="25" dirty="0">
                <a:solidFill>
                  <a:srgbClr val="9A243D"/>
                </a:solidFill>
              </a:rPr>
              <a:t> </a:t>
            </a:r>
            <a:r>
              <a:rPr sz="1850" dirty="0">
                <a:solidFill>
                  <a:srgbClr val="8C152F"/>
                </a:solidFill>
              </a:rPr>
              <a:t>and</a:t>
            </a:r>
            <a:r>
              <a:rPr sz="1850" spc="-20" dirty="0">
                <a:solidFill>
                  <a:srgbClr val="8C152F"/>
                </a:solidFill>
              </a:rPr>
              <a:t> </a:t>
            </a:r>
            <a:r>
              <a:rPr sz="1850" dirty="0">
                <a:solidFill>
                  <a:srgbClr val="C83652"/>
                </a:solidFill>
              </a:rPr>
              <a:t>Their</a:t>
            </a:r>
            <a:r>
              <a:rPr sz="1850" spc="30" dirty="0">
                <a:solidFill>
                  <a:srgbClr val="C83652"/>
                </a:solidFill>
              </a:rPr>
              <a:t> </a:t>
            </a:r>
            <a:r>
              <a:rPr sz="1850" dirty="0">
                <a:solidFill>
                  <a:srgbClr val="8A1C2D"/>
                </a:solidFill>
              </a:rPr>
              <a:t>Capturing</a:t>
            </a:r>
            <a:r>
              <a:rPr sz="1850" spc="45" dirty="0">
                <a:solidFill>
                  <a:srgbClr val="8A1C2D"/>
                </a:solidFill>
              </a:rPr>
              <a:t> </a:t>
            </a:r>
            <a:r>
              <a:rPr sz="1850" dirty="0">
                <a:solidFill>
                  <a:srgbClr val="991D3A"/>
                </a:solidFill>
              </a:rPr>
              <a:t>of</a:t>
            </a:r>
            <a:r>
              <a:rPr sz="1850" spc="-30" dirty="0">
                <a:solidFill>
                  <a:srgbClr val="991D3A"/>
                </a:solidFill>
              </a:rPr>
              <a:t> </a:t>
            </a:r>
            <a:r>
              <a:rPr sz="1850" dirty="0">
                <a:solidFill>
                  <a:srgbClr val="9A182F"/>
                </a:solidFill>
              </a:rPr>
              <a:t>User</a:t>
            </a:r>
            <a:r>
              <a:rPr sz="1850" spc="30" dirty="0">
                <a:solidFill>
                  <a:srgbClr val="9A182F"/>
                </a:solidFill>
              </a:rPr>
              <a:t> </a:t>
            </a:r>
            <a:r>
              <a:rPr sz="1850" dirty="0">
                <a:solidFill>
                  <a:srgbClr val="911C34"/>
                </a:solidFill>
              </a:rPr>
              <a:t>Stories</a:t>
            </a:r>
            <a:r>
              <a:rPr sz="1850" spc="100" dirty="0">
                <a:solidFill>
                  <a:srgbClr val="911C34"/>
                </a:solidFill>
              </a:rPr>
              <a:t> </a:t>
            </a:r>
            <a:r>
              <a:rPr sz="1850" spc="-120" dirty="0">
                <a:solidFill>
                  <a:srgbClr val="AF647C"/>
                </a:solidFill>
              </a:rPr>
              <a:t>(Figure</a:t>
            </a:r>
            <a:endParaRPr sz="185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1000" cy="45529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6862" y="1362075"/>
            <a:ext cx="2790825" cy="2400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3550" y="4381500"/>
            <a:ext cx="171450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750" y="4391025"/>
            <a:ext cx="657225" cy="76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81200" y="4386262"/>
            <a:ext cx="2609850" cy="1000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3911" y="257175"/>
            <a:ext cx="4553585" cy="77025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1270">
              <a:lnSpc>
                <a:spcPts val="1910"/>
              </a:lnSpc>
              <a:spcBef>
                <a:spcPts val="270"/>
              </a:spcBef>
            </a:pPr>
            <a:r>
              <a:rPr sz="1700" spc="-80" dirty="0">
                <a:solidFill>
                  <a:srgbClr val="FFC4D6"/>
                </a:solidFill>
                <a:latin typeface="Arial MT"/>
                <a:cs typeface="Arial MT"/>
              </a:rPr>
              <a:t>Management</a:t>
            </a:r>
            <a:r>
              <a:rPr sz="1700" spc="45" dirty="0">
                <a:solidFill>
                  <a:srgbClr val="FFC4D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822B3D"/>
                </a:solidFill>
                <a:latin typeface="Arial MT"/>
                <a:cs typeface="Arial MT"/>
              </a:rPr>
              <a:t>in</a:t>
            </a:r>
            <a:r>
              <a:rPr sz="1700" spc="-130" dirty="0">
                <a:solidFill>
                  <a:srgbClr val="822B3D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8A2F3F"/>
                </a:solidFill>
                <a:latin typeface="Arial MT"/>
                <a:cs typeface="Arial MT"/>
              </a:rPr>
              <a:t>Organizations</a:t>
            </a:r>
            <a:r>
              <a:rPr sz="1700" spc="110" dirty="0">
                <a:solidFill>
                  <a:srgbClr val="8A2F3F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901A31"/>
                </a:solidFill>
                <a:latin typeface="Arial MT"/>
                <a:cs typeface="Arial MT"/>
              </a:rPr>
              <a:t>Exists</a:t>
            </a:r>
            <a:r>
              <a:rPr sz="1700" spc="-55" dirty="0">
                <a:solidFill>
                  <a:srgbClr val="901A3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903146"/>
                </a:solidFill>
                <a:latin typeface="Arial MT"/>
                <a:cs typeface="Arial MT"/>
              </a:rPr>
              <a:t>on</a:t>
            </a:r>
            <a:r>
              <a:rPr sz="1700" spc="-100" dirty="0">
                <a:solidFill>
                  <a:srgbClr val="90314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EB7289"/>
                </a:solidFill>
                <a:latin typeface="Arial MT"/>
                <a:cs typeface="Arial MT"/>
              </a:rPr>
              <a:t>Three </a:t>
            </a:r>
            <a:r>
              <a:rPr sz="1700" spc="-55" dirty="0">
                <a:solidFill>
                  <a:srgbClr val="93424F"/>
                </a:solidFill>
                <a:latin typeface="Arial MT"/>
                <a:cs typeface="Arial MT"/>
              </a:rPr>
              <a:t>Horizontal</a:t>
            </a:r>
            <a:r>
              <a:rPr sz="1700" spc="30" dirty="0">
                <a:solidFill>
                  <a:srgbClr val="93424F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A72F48"/>
                </a:solidFill>
                <a:latin typeface="Arial MT"/>
                <a:cs typeface="Arial MT"/>
              </a:rPr>
              <a:t>Levels:</a:t>
            </a:r>
            <a:r>
              <a:rPr sz="1700" spc="5" dirty="0">
                <a:solidFill>
                  <a:srgbClr val="A72F48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951F34"/>
                </a:solidFill>
                <a:latin typeface="Arial MT"/>
                <a:cs typeface="Arial MT"/>
              </a:rPr>
              <a:t>Operational</a:t>
            </a:r>
            <a:r>
              <a:rPr sz="1700" spc="30" dirty="0">
                <a:solidFill>
                  <a:srgbClr val="951F34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8E263D"/>
                </a:solidFill>
                <a:latin typeface="Arial MT"/>
                <a:cs typeface="Arial MT"/>
              </a:rPr>
              <a:t>Control, </a:t>
            </a:r>
            <a:r>
              <a:rPr sz="1700" spc="-35" dirty="0">
                <a:solidFill>
                  <a:srgbClr val="FB8095"/>
                </a:solidFill>
                <a:latin typeface="Arial MT"/>
                <a:cs typeface="Arial MT"/>
              </a:rPr>
              <a:t>Managerial </a:t>
            </a:r>
            <a:r>
              <a:rPr sz="1700" spc="-60" dirty="0">
                <a:solidFill>
                  <a:srgbClr val="904656"/>
                </a:solidFill>
                <a:latin typeface="Arial MT"/>
                <a:cs typeface="Arial MT"/>
              </a:rPr>
              <a:t>Planning</a:t>
            </a:r>
            <a:r>
              <a:rPr sz="1700" spc="-70" dirty="0">
                <a:solidFill>
                  <a:srgbClr val="904656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CC506E"/>
                </a:solidFill>
                <a:latin typeface="Arial MT"/>
                <a:cs typeface="Arial MT"/>
              </a:rPr>
              <a:t>and</a:t>
            </a:r>
            <a:r>
              <a:rPr sz="1700" spc="-65" dirty="0">
                <a:solidFill>
                  <a:srgbClr val="CC506E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B62D4F"/>
                </a:solidFill>
                <a:latin typeface="Arial MT"/>
                <a:cs typeface="Arial MT"/>
              </a:rPr>
              <a:t>Control,</a:t>
            </a:r>
            <a:r>
              <a:rPr sz="1700" spc="-65" dirty="0">
                <a:solidFill>
                  <a:srgbClr val="B62D4F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9C2A44"/>
                </a:solidFill>
                <a:latin typeface="Arial MT"/>
                <a:cs typeface="Arial MT"/>
              </a:rPr>
              <a:t>and</a:t>
            </a:r>
            <a:r>
              <a:rPr sz="1700" spc="-80" dirty="0">
                <a:solidFill>
                  <a:srgbClr val="9C2A44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AC2A49"/>
                </a:solidFill>
                <a:latin typeface="Arial MT"/>
                <a:cs typeface="Arial MT"/>
              </a:rPr>
              <a:t>Strategic</a:t>
            </a:r>
            <a:r>
              <a:rPr sz="1700" spc="-20" dirty="0">
                <a:solidFill>
                  <a:srgbClr val="AC2A49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A0B3"/>
                </a:solidFill>
                <a:latin typeface="Arial MT"/>
                <a:cs typeface="Arial MT"/>
              </a:rPr>
              <a:t>Management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172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C31F3B"/>
                </a:solidFill>
              </a:rPr>
              <a:t>Operations </a:t>
            </a:r>
            <a:r>
              <a:rPr spc="-40" dirty="0">
                <a:solidFill>
                  <a:srgbClr val="CD1C38"/>
                </a:solidFill>
              </a:rPr>
              <a:t>Control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9342" y="1352550"/>
            <a:ext cx="4718685" cy="1395095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238760" marR="5080" indent="-225425">
              <a:lnSpc>
                <a:spcPts val="2550"/>
              </a:lnSpc>
              <a:spcBef>
                <a:spcPts val="209"/>
              </a:spcBef>
              <a:buChar char="•"/>
              <a:tabLst>
                <a:tab pos="238760" algn="l"/>
                <a:tab pos="245110" algn="l"/>
              </a:tabLst>
            </a:pPr>
            <a:r>
              <a:rPr sz="2150" dirty="0">
                <a:latin typeface="Arial MT"/>
                <a:cs typeface="Arial MT"/>
              </a:rPr>
              <a:t>	Make</a:t>
            </a:r>
            <a:r>
              <a:rPr sz="2150" spc="-114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decisions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using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predetermined </a:t>
            </a:r>
            <a:r>
              <a:rPr sz="2150" dirty="0">
                <a:latin typeface="Arial MT"/>
                <a:cs typeface="Arial MT"/>
              </a:rPr>
              <a:t>rules</a:t>
            </a:r>
            <a:r>
              <a:rPr sz="2150" spc="-1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that</a:t>
            </a:r>
            <a:r>
              <a:rPr sz="2150" spc="-9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have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predictable</a:t>
            </a:r>
            <a:r>
              <a:rPr sz="2150" spc="-20" dirty="0">
                <a:latin typeface="Arial MT"/>
                <a:cs typeface="Arial MT"/>
              </a:rPr>
              <a:t> outcomes.</a:t>
            </a:r>
            <a:endParaRPr sz="2150">
              <a:latin typeface="Arial MT"/>
              <a:cs typeface="Arial MT"/>
            </a:endParaRPr>
          </a:p>
          <a:p>
            <a:pPr marL="242570" indent="-229870">
              <a:lnSpc>
                <a:spcPts val="2600"/>
              </a:lnSpc>
              <a:spcBef>
                <a:spcPts val="315"/>
              </a:spcBef>
              <a:buChar char="•"/>
              <a:tabLst>
                <a:tab pos="242570" algn="l"/>
              </a:tabLst>
            </a:pPr>
            <a:r>
              <a:rPr sz="2250" spc="-70" dirty="0">
                <a:latin typeface="Arial MT"/>
                <a:cs typeface="Arial MT"/>
              </a:rPr>
              <a:t>Oversee</a:t>
            </a:r>
            <a:r>
              <a:rPr sz="2250" spc="-60" dirty="0">
                <a:latin typeface="Arial MT"/>
                <a:cs typeface="Arial MT"/>
              </a:rPr>
              <a:t> </a:t>
            </a:r>
            <a:r>
              <a:rPr sz="2250" spc="-30" dirty="0">
                <a:latin typeface="Arial MT"/>
                <a:cs typeface="Arial MT"/>
              </a:rPr>
              <a:t>the</a:t>
            </a:r>
            <a:r>
              <a:rPr sz="2250" spc="-100" dirty="0">
                <a:latin typeface="Arial MT"/>
                <a:cs typeface="Arial MT"/>
              </a:rPr>
              <a:t> </a:t>
            </a:r>
            <a:r>
              <a:rPr sz="2250" spc="-65" dirty="0">
                <a:latin typeface="Arial MT"/>
                <a:cs typeface="Arial MT"/>
              </a:rPr>
              <a:t>operating</a:t>
            </a:r>
            <a:r>
              <a:rPr sz="2250" spc="-50" dirty="0">
                <a:latin typeface="Arial MT"/>
                <a:cs typeface="Arial MT"/>
              </a:rPr>
              <a:t> </a:t>
            </a:r>
            <a:r>
              <a:rPr sz="2250" spc="-40" dirty="0">
                <a:latin typeface="Arial MT"/>
                <a:cs typeface="Arial MT"/>
              </a:rPr>
              <a:t>details</a:t>
            </a:r>
            <a:r>
              <a:rPr sz="2250" spc="-6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of</a:t>
            </a:r>
            <a:r>
              <a:rPr sz="2250" spc="-150" dirty="0">
                <a:latin typeface="Arial MT"/>
                <a:cs typeface="Arial MT"/>
              </a:rPr>
              <a:t> </a:t>
            </a:r>
            <a:r>
              <a:rPr sz="2250" spc="-25" dirty="0">
                <a:latin typeface="Arial MT"/>
                <a:cs typeface="Arial MT"/>
              </a:rPr>
              <a:t>the</a:t>
            </a:r>
            <a:endParaRPr sz="2250">
              <a:latin typeface="Arial MT"/>
              <a:cs typeface="Arial MT"/>
            </a:endParaRPr>
          </a:p>
          <a:p>
            <a:pPr marL="246379">
              <a:lnSpc>
                <a:spcPts val="2660"/>
              </a:lnSpc>
            </a:pPr>
            <a:r>
              <a:rPr sz="2300" spc="-30" dirty="0">
                <a:latin typeface="Arial MT"/>
                <a:cs typeface="Arial MT"/>
              </a:rPr>
              <a:t>organization.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2F2F2F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24242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7741" y="4341812"/>
            <a:ext cx="1727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0" dirty="0">
                <a:solidFill>
                  <a:srgbClr val="2D2D2D"/>
                </a:solidFill>
                <a:latin typeface="Arial MT"/>
                <a:cs typeface="Arial MT"/>
              </a:rPr>
              <a:t>2-</a:t>
            </a:r>
            <a:r>
              <a:rPr sz="700" spc="-35" dirty="0">
                <a:solidFill>
                  <a:srgbClr val="2D2D2D"/>
                </a:solidFill>
                <a:latin typeface="Arial MT"/>
                <a:cs typeface="Arial MT"/>
              </a:rPr>
              <a:t>ñJ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807" rIns="0" bIns="0" rtlCol="0">
            <a:spAutoFit/>
          </a:bodyPr>
          <a:lstStyle/>
          <a:p>
            <a:pPr marL="26034" marR="5080">
              <a:lnSpc>
                <a:spcPct val="101299"/>
              </a:lnSpc>
              <a:spcBef>
                <a:spcPts val="55"/>
              </a:spcBef>
            </a:pPr>
            <a:r>
              <a:rPr sz="2900" dirty="0">
                <a:solidFill>
                  <a:srgbClr val="E82848"/>
                </a:solidFill>
              </a:rPr>
              <a:t>Managerial</a:t>
            </a:r>
            <a:r>
              <a:rPr sz="2900" spc="-90" dirty="0">
                <a:solidFill>
                  <a:srgbClr val="E82848"/>
                </a:solidFill>
              </a:rPr>
              <a:t> </a:t>
            </a:r>
            <a:r>
              <a:rPr sz="2900" dirty="0">
                <a:solidFill>
                  <a:srgbClr val="C11F3F"/>
                </a:solidFill>
              </a:rPr>
              <a:t>Planning</a:t>
            </a:r>
            <a:r>
              <a:rPr sz="2900" spc="-80" dirty="0">
                <a:solidFill>
                  <a:srgbClr val="C11F3F"/>
                </a:solidFill>
              </a:rPr>
              <a:t> </a:t>
            </a:r>
            <a:r>
              <a:rPr sz="2900" spc="-25" dirty="0">
                <a:solidFill>
                  <a:srgbClr val="B31C38"/>
                </a:solidFill>
              </a:rPr>
              <a:t>and </a:t>
            </a:r>
            <a:r>
              <a:rPr sz="2900" spc="-10" dirty="0">
                <a:solidFill>
                  <a:srgbClr val="C11D38"/>
                </a:solidFill>
              </a:rPr>
              <a:t>Control</a:t>
            </a:r>
            <a:endParaRPr sz="2900"/>
          </a:p>
        </p:txBody>
      </p:sp>
      <p:sp>
        <p:nvSpPr>
          <p:cNvPr id="6" name="object 6"/>
          <p:cNvSpPr txBox="1"/>
          <p:nvPr/>
        </p:nvSpPr>
        <p:spPr>
          <a:xfrm>
            <a:off x="830018" y="1319212"/>
            <a:ext cx="4719955" cy="15868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4475" marR="5080" indent="-232410">
              <a:lnSpc>
                <a:spcPct val="88700"/>
              </a:lnSpc>
              <a:spcBef>
                <a:spcPts val="390"/>
              </a:spcBef>
              <a:buChar char="•"/>
              <a:tabLst>
                <a:tab pos="246379" algn="l"/>
              </a:tabLst>
            </a:pPr>
            <a:r>
              <a:rPr sz="2150" dirty="0">
                <a:latin typeface="Arial MT"/>
                <a:cs typeface="Arial MT"/>
              </a:rPr>
              <a:t>Make</a:t>
            </a:r>
            <a:r>
              <a:rPr sz="2150" spc="-60" dirty="0">
                <a:latin typeface="Arial MT"/>
                <a:cs typeface="Arial MT"/>
              </a:rPr>
              <a:t> </a:t>
            </a:r>
            <a:r>
              <a:rPr sz="2150" spc="-45" dirty="0">
                <a:latin typeface="Arial MT"/>
                <a:cs typeface="Arial MT"/>
              </a:rPr>
              <a:t>short-</a:t>
            </a:r>
            <a:r>
              <a:rPr sz="2150" dirty="0">
                <a:latin typeface="Arial MT"/>
                <a:cs typeface="Arial MT"/>
              </a:rPr>
              <a:t>term</a:t>
            </a:r>
            <a:r>
              <a:rPr sz="2150" spc="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planning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and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control 	</a:t>
            </a:r>
            <a:r>
              <a:rPr sz="2150" spc="-20" dirty="0">
                <a:latin typeface="Arial MT"/>
                <a:cs typeface="Arial MT"/>
              </a:rPr>
              <a:t>decisions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about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resources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and 	organizational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objectives.</a:t>
            </a:r>
            <a:endParaRPr sz="2150">
              <a:latin typeface="Arial MT"/>
              <a:cs typeface="Arial MT"/>
            </a:endParaRPr>
          </a:p>
          <a:p>
            <a:pPr marL="243840" marR="211454" indent="-231775">
              <a:lnSpc>
                <a:spcPts val="2290"/>
              </a:lnSpc>
              <a:spcBef>
                <a:spcPts val="590"/>
              </a:spcBef>
              <a:buChar char="•"/>
              <a:tabLst>
                <a:tab pos="245745" algn="l"/>
              </a:tabLst>
            </a:pPr>
            <a:r>
              <a:rPr sz="2150" spc="-10" dirty="0">
                <a:latin typeface="Arial MT"/>
                <a:cs typeface="Arial MT"/>
              </a:rPr>
              <a:t>Decisions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may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be</a:t>
            </a:r>
            <a:r>
              <a:rPr sz="2150" spc="-1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partly</a:t>
            </a:r>
            <a:r>
              <a:rPr sz="2150" spc="-85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operational 	</a:t>
            </a:r>
            <a:r>
              <a:rPr sz="2150" dirty="0">
                <a:latin typeface="Arial MT"/>
                <a:cs typeface="Arial MT"/>
              </a:rPr>
              <a:t>and</a:t>
            </a:r>
            <a:r>
              <a:rPr sz="2150" spc="-1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partly</a:t>
            </a:r>
            <a:r>
              <a:rPr sz="2150" spc="-12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strategic.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7741" y="4341812"/>
            <a:ext cx="18034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5" dirty="0">
                <a:solidFill>
                  <a:srgbClr val="2D2D2D"/>
                </a:solidFill>
                <a:latin typeface="Arial MT"/>
                <a:cs typeface="Arial MT"/>
              </a:rPr>
              <a:t>2-</a:t>
            </a:r>
            <a:r>
              <a:rPr sz="700" spc="-25" dirty="0">
                <a:solidFill>
                  <a:srgbClr val="2D2D2D"/>
                </a:solidFill>
                <a:latin typeface="Arial MT"/>
                <a:cs typeface="Arial MT"/>
              </a:rPr>
              <a:t>ñ2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61925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DD001A"/>
                </a:solidFill>
              </a:rPr>
              <a:t>Strategic</a:t>
            </a:r>
            <a:r>
              <a:rPr sz="2900" spc="35" dirty="0">
                <a:solidFill>
                  <a:srgbClr val="DD001A"/>
                </a:solidFill>
              </a:rPr>
              <a:t> </a:t>
            </a:r>
            <a:r>
              <a:rPr sz="2900" spc="-20" dirty="0">
                <a:solidFill>
                  <a:srgbClr val="D3162B"/>
                </a:solidFill>
              </a:rPr>
              <a:t>Management</a:t>
            </a:r>
            <a:endParaRPr sz="2900"/>
          </a:p>
        </p:txBody>
      </p:sp>
      <p:sp>
        <p:nvSpPr>
          <p:cNvPr id="7" name="object 7"/>
          <p:cNvSpPr txBox="1"/>
          <p:nvPr/>
        </p:nvSpPr>
        <p:spPr>
          <a:xfrm>
            <a:off x="829342" y="1325562"/>
            <a:ext cx="4790440" cy="2298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379" indent="-233045">
              <a:lnSpc>
                <a:spcPts val="2370"/>
              </a:lnSpc>
              <a:spcBef>
                <a:spcPts val="100"/>
              </a:spcBef>
              <a:buChar char="•"/>
              <a:tabLst>
                <a:tab pos="246379" algn="l"/>
              </a:tabLst>
            </a:pPr>
            <a:r>
              <a:rPr sz="2100" dirty="0">
                <a:latin typeface="Arial MT"/>
                <a:cs typeface="Arial MT"/>
              </a:rPr>
              <a:t>Look</a:t>
            </a:r>
            <a:r>
              <a:rPr sz="2100" spc="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outward</a:t>
            </a:r>
            <a:r>
              <a:rPr sz="2100" spc="1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from</a:t>
            </a:r>
            <a:r>
              <a:rPr sz="2100" spc="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organization</a:t>
            </a:r>
            <a:r>
              <a:rPr sz="2100" spc="114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to</a:t>
            </a:r>
            <a:endParaRPr sz="2100">
              <a:latin typeface="Arial MT"/>
              <a:cs typeface="Arial MT"/>
            </a:endParaRPr>
          </a:p>
          <a:p>
            <a:pPr marL="241935">
              <a:lnSpc>
                <a:spcPts val="2495"/>
              </a:lnSpc>
            </a:pPr>
            <a:r>
              <a:rPr sz="2200" spc="-10" dirty="0">
                <a:latin typeface="Arial MT"/>
                <a:cs typeface="Arial MT"/>
              </a:rPr>
              <a:t>the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future.</a:t>
            </a:r>
            <a:endParaRPr sz="2200">
              <a:latin typeface="Arial MT"/>
              <a:cs typeface="Arial MT"/>
            </a:endParaRPr>
          </a:p>
          <a:p>
            <a:pPr marL="244475" marR="112395" indent="-232410">
              <a:lnSpc>
                <a:spcPts val="2330"/>
              </a:lnSpc>
              <a:spcBef>
                <a:spcPts val="470"/>
              </a:spcBef>
              <a:buChar char="•"/>
              <a:tabLst>
                <a:tab pos="245745" algn="l"/>
              </a:tabLst>
            </a:pPr>
            <a:r>
              <a:rPr sz="2250" spc="-70" dirty="0">
                <a:latin typeface="Arial MT"/>
                <a:cs typeface="Arial MT"/>
              </a:rPr>
              <a:t>Make</a:t>
            </a:r>
            <a:r>
              <a:rPr sz="2250" spc="-90" dirty="0">
                <a:latin typeface="Arial MT"/>
                <a:cs typeface="Arial MT"/>
              </a:rPr>
              <a:t> </a:t>
            </a:r>
            <a:r>
              <a:rPr sz="2250" spc="-60" dirty="0">
                <a:latin typeface="Arial MT"/>
                <a:cs typeface="Arial MT"/>
              </a:rPr>
              <a:t>decisions</a:t>
            </a:r>
            <a:r>
              <a:rPr sz="2250" spc="10" dirty="0">
                <a:latin typeface="Arial MT"/>
                <a:cs typeface="Arial MT"/>
              </a:rPr>
              <a:t> </a:t>
            </a:r>
            <a:r>
              <a:rPr sz="2250" spc="-30" dirty="0">
                <a:latin typeface="Arial MT"/>
                <a:cs typeface="Arial MT"/>
              </a:rPr>
              <a:t>that</a:t>
            </a:r>
            <a:r>
              <a:rPr sz="2250" spc="-70" dirty="0">
                <a:latin typeface="Arial MT"/>
                <a:cs typeface="Arial MT"/>
              </a:rPr>
              <a:t> </a:t>
            </a:r>
            <a:r>
              <a:rPr sz="2250" spc="-35" dirty="0">
                <a:latin typeface="Arial MT"/>
                <a:cs typeface="Arial MT"/>
              </a:rPr>
              <a:t>will</a:t>
            </a:r>
            <a:r>
              <a:rPr sz="2250" spc="-120" dirty="0">
                <a:latin typeface="Arial MT"/>
                <a:cs typeface="Arial MT"/>
              </a:rPr>
              <a:t> </a:t>
            </a:r>
            <a:r>
              <a:rPr sz="2250" spc="-60" dirty="0">
                <a:latin typeface="Arial MT"/>
                <a:cs typeface="Arial MT"/>
              </a:rPr>
              <a:t>guide</a:t>
            </a:r>
            <a:r>
              <a:rPr sz="2250" spc="-95" dirty="0">
                <a:latin typeface="Arial MT"/>
                <a:cs typeface="Arial MT"/>
              </a:rPr>
              <a:t> </a:t>
            </a:r>
            <a:r>
              <a:rPr sz="2250" spc="-80" dirty="0">
                <a:latin typeface="Arial MT"/>
                <a:cs typeface="Arial MT"/>
              </a:rPr>
              <a:t>middle 	</a:t>
            </a:r>
            <a:r>
              <a:rPr sz="2250" spc="-60" dirty="0">
                <a:latin typeface="Arial MT"/>
                <a:cs typeface="Arial MT"/>
              </a:rPr>
              <a:t>and</a:t>
            </a:r>
            <a:r>
              <a:rPr sz="2250" spc="-100" dirty="0">
                <a:latin typeface="Arial MT"/>
                <a:cs typeface="Arial MT"/>
              </a:rPr>
              <a:t> </a:t>
            </a:r>
            <a:r>
              <a:rPr sz="2250" spc="-55" dirty="0">
                <a:latin typeface="Arial MT"/>
                <a:cs typeface="Arial MT"/>
              </a:rPr>
              <a:t>operations</a:t>
            </a:r>
            <a:r>
              <a:rPr sz="2250" spc="-65" dirty="0">
                <a:latin typeface="Arial MT"/>
                <a:cs typeface="Arial MT"/>
              </a:rPr>
              <a:t> </a:t>
            </a:r>
            <a:r>
              <a:rPr sz="2250" spc="-10" dirty="0">
                <a:latin typeface="Arial MT"/>
                <a:cs typeface="Arial MT"/>
              </a:rPr>
              <a:t>managers.</a:t>
            </a:r>
            <a:endParaRPr sz="2250">
              <a:latin typeface="Arial MT"/>
              <a:cs typeface="Arial MT"/>
            </a:endParaRPr>
          </a:p>
          <a:p>
            <a:pPr marL="238125" marR="521970" indent="-225425">
              <a:lnSpc>
                <a:spcPts val="2290"/>
              </a:lnSpc>
              <a:spcBef>
                <a:spcPts val="509"/>
              </a:spcBef>
              <a:buChar char="•"/>
              <a:tabLst>
                <a:tab pos="238125" algn="l"/>
                <a:tab pos="243204" algn="l"/>
              </a:tabLst>
            </a:pPr>
            <a:r>
              <a:rPr sz="2150" dirty="0">
                <a:latin typeface="Arial MT"/>
                <a:cs typeface="Arial MT"/>
              </a:rPr>
              <a:t>	Work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in</a:t>
            </a:r>
            <a:r>
              <a:rPr sz="2150" spc="-1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highly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uncertain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decision- </a:t>
            </a:r>
            <a:r>
              <a:rPr sz="2150" spc="-10" dirty="0">
                <a:latin typeface="Arial MT"/>
                <a:cs typeface="Arial MT"/>
              </a:rPr>
              <a:t>making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environment.</a:t>
            </a:r>
            <a:endParaRPr sz="2150">
              <a:latin typeface="Arial MT"/>
              <a:cs typeface="Arial MT"/>
            </a:endParaRPr>
          </a:p>
          <a:p>
            <a:pPr marL="245110" indent="-231775">
              <a:lnSpc>
                <a:spcPct val="100000"/>
              </a:lnSpc>
              <a:spcBef>
                <a:spcPts val="290"/>
              </a:spcBef>
              <a:buChar char="•"/>
              <a:tabLst>
                <a:tab pos="245110" algn="l"/>
              </a:tabLst>
            </a:pPr>
            <a:r>
              <a:rPr sz="2100" dirty="0">
                <a:latin typeface="Arial MT"/>
                <a:cs typeface="Arial MT"/>
              </a:rPr>
              <a:t>Define</a:t>
            </a:r>
            <a:r>
              <a:rPr sz="2100" spc="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organization</a:t>
            </a:r>
            <a:r>
              <a:rPr sz="2100" spc="1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whole.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65656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52400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E62842"/>
                </a:solidFill>
              </a:rPr>
              <a:t>Managerial</a:t>
            </a:r>
            <a:r>
              <a:rPr sz="2900" spc="-114" dirty="0">
                <a:solidFill>
                  <a:srgbClr val="E62842"/>
                </a:solidFill>
              </a:rPr>
              <a:t> </a:t>
            </a:r>
            <a:r>
              <a:rPr sz="2900" spc="-10" dirty="0">
                <a:solidFill>
                  <a:srgbClr val="C81331"/>
                </a:solidFill>
              </a:rPr>
              <a:t>Levels</a:t>
            </a:r>
            <a:endParaRPr sz="2900" dirty="0"/>
          </a:p>
        </p:txBody>
      </p:sp>
      <p:sp>
        <p:nvSpPr>
          <p:cNvPr id="7" name="object 7"/>
          <p:cNvSpPr txBox="1"/>
          <p:nvPr/>
        </p:nvSpPr>
        <p:spPr>
          <a:xfrm>
            <a:off x="830018" y="1289685"/>
            <a:ext cx="4597400" cy="26974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595"/>
              </a:spcBef>
              <a:buChar char="•"/>
              <a:tabLst>
                <a:tab pos="243840" algn="l"/>
              </a:tabLst>
            </a:pPr>
            <a:r>
              <a:rPr sz="2150" spc="-20" dirty="0">
                <a:latin typeface="Arial MT"/>
                <a:cs typeface="Arial MT"/>
              </a:rPr>
              <a:t>Different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spc="-30" dirty="0">
                <a:latin typeface="Arial MT"/>
                <a:cs typeface="Arial MT"/>
              </a:rPr>
              <a:t>organization</a:t>
            </a:r>
            <a:r>
              <a:rPr sz="2150" spc="2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structure</a:t>
            </a:r>
            <a:endParaRPr sz="2150" dirty="0">
              <a:latin typeface="Arial MT"/>
              <a:cs typeface="Arial MT"/>
            </a:endParaRPr>
          </a:p>
          <a:p>
            <a:pPr marL="245110" indent="-232410">
              <a:lnSpc>
                <a:spcPct val="100000"/>
              </a:lnSpc>
              <a:spcBef>
                <a:spcPts val="495"/>
              </a:spcBef>
              <a:buChar char="•"/>
              <a:tabLst>
                <a:tab pos="245110" algn="l"/>
              </a:tabLst>
            </a:pPr>
            <a:r>
              <a:rPr sz="2150" spc="-25" dirty="0">
                <a:latin typeface="Arial MT"/>
                <a:cs typeface="Arial MT"/>
              </a:rPr>
              <a:t>Leadership </a:t>
            </a:r>
            <a:r>
              <a:rPr sz="2150" spc="-10" dirty="0">
                <a:latin typeface="Arial MT"/>
                <a:cs typeface="Arial MT"/>
              </a:rPr>
              <a:t>style</a:t>
            </a:r>
            <a:endParaRPr sz="2150" dirty="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495"/>
              </a:spcBef>
              <a:buChar char="•"/>
              <a:tabLst>
                <a:tab pos="239395" algn="l"/>
              </a:tabLst>
            </a:pPr>
            <a:r>
              <a:rPr sz="2150" spc="-30" dirty="0">
                <a:latin typeface="Arial MT"/>
                <a:cs typeface="Arial MT"/>
              </a:rPr>
              <a:t>Technological</a:t>
            </a:r>
            <a:r>
              <a:rPr sz="2150" spc="9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considerations</a:t>
            </a:r>
            <a:endParaRPr sz="2150" dirty="0">
              <a:latin typeface="Arial MT"/>
              <a:cs typeface="Arial MT"/>
            </a:endParaRPr>
          </a:p>
          <a:p>
            <a:pPr marL="242570" indent="-229870">
              <a:lnSpc>
                <a:spcPct val="100000"/>
              </a:lnSpc>
              <a:spcBef>
                <a:spcPts val="530"/>
              </a:spcBef>
              <a:buChar char="•"/>
              <a:tabLst>
                <a:tab pos="242570" algn="l"/>
              </a:tabLst>
            </a:pPr>
            <a:r>
              <a:rPr sz="2150" spc="-25" dirty="0">
                <a:latin typeface="Arial MT"/>
                <a:cs typeface="Arial MT"/>
              </a:rPr>
              <a:t>Organization</a:t>
            </a:r>
            <a:r>
              <a:rPr sz="2150" spc="3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culture</a:t>
            </a:r>
            <a:endParaRPr sz="2150" dirty="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495"/>
              </a:spcBef>
              <a:buChar char="•"/>
              <a:tabLst>
                <a:tab pos="243204" algn="l"/>
              </a:tabLst>
            </a:pPr>
            <a:r>
              <a:rPr sz="2150" spc="-10" dirty="0">
                <a:latin typeface="Arial MT"/>
                <a:cs typeface="Arial MT"/>
              </a:rPr>
              <a:t>Human</a:t>
            </a:r>
            <a:r>
              <a:rPr sz="2150" spc="-114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interaction</a:t>
            </a:r>
            <a:endParaRPr sz="2150" dirty="0">
              <a:latin typeface="Arial MT"/>
              <a:cs typeface="Arial MT"/>
            </a:endParaRPr>
          </a:p>
          <a:p>
            <a:pPr marL="245745" marR="5080" indent="-233679">
              <a:lnSpc>
                <a:spcPts val="2550"/>
              </a:lnSpc>
              <a:spcBef>
                <a:spcPts val="605"/>
              </a:spcBef>
              <a:buChar char="•"/>
              <a:tabLst>
                <a:tab pos="245745" algn="l"/>
              </a:tabLst>
            </a:pPr>
            <a:r>
              <a:rPr sz="2150" dirty="0">
                <a:latin typeface="Arial MT"/>
                <a:cs typeface="Arial MT"/>
              </a:rPr>
              <a:t>All</a:t>
            </a:r>
            <a:r>
              <a:rPr sz="2150" spc="-9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carry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implications</a:t>
            </a:r>
            <a:r>
              <a:rPr sz="2150" spc="2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for</a:t>
            </a:r>
            <a:r>
              <a:rPr sz="2150" spc="-9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analysis </a:t>
            </a:r>
            <a:r>
              <a:rPr sz="2150" dirty="0">
                <a:latin typeface="Arial MT"/>
                <a:cs typeface="Arial MT"/>
              </a:rPr>
              <a:t>and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design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12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information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systems</a:t>
            </a:r>
            <a:endParaRPr sz="21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13131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65656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61925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C11F3F"/>
                </a:solidFill>
              </a:rPr>
              <a:t>Organizational</a:t>
            </a:r>
            <a:r>
              <a:rPr sz="2900" spc="-45" dirty="0">
                <a:solidFill>
                  <a:srgbClr val="C11F3F"/>
                </a:solidFill>
              </a:rPr>
              <a:t> </a:t>
            </a:r>
            <a:r>
              <a:rPr sz="2900" spc="-10" dirty="0">
                <a:solidFill>
                  <a:srgbClr val="C80F36"/>
                </a:solidFill>
              </a:rPr>
              <a:t>Culture</a:t>
            </a:r>
            <a:endParaRPr sz="2900"/>
          </a:p>
        </p:txBody>
      </p:sp>
      <p:sp>
        <p:nvSpPr>
          <p:cNvPr id="7" name="object 7"/>
          <p:cNvSpPr txBox="1"/>
          <p:nvPr/>
        </p:nvSpPr>
        <p:spPr>
          <a:xfrm>
            <a:off x="830018" y="1352550"/>
            <a:ext cx="4137660" cy="1396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indent="-229870">
              <a:lnSpc>
                <a:spcPts val="2560"/>
              </a:lnSpc>
              <a:spcBef>
                <a:spcPts val="100"/>
              </a:spcBef>
              <a:buChar char="•"/>
              <a:tabLst>
                <a:tab pos="242570" algn="l"/>
              </a:tabLst>
            </a:pPr>
            <a:r>
              <a:rPr sz="2150" spc="-25" dirty="0">
                <a:latin typeface="Arial MT"/>
                <a:cs typeface="Arial MT"/>
              </a:rPr>
              <a:t>Organizations</a:t>
            </a:r>
            <a:r>
              <a:rPr sz="2150" spc="4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have</a:t>
            </a:r>
            <a:r>
              <a:rPr sz="2150" spc="-10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cultures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and</a:t>
            </a:r>
            <a:endParaRPr sz="2150">
              <a:latin typeface="Arial MT"/>
              <a:cs typeface="Arial MT"/>
            </a:endParaRPr>
          </a:p>
          <a:p>
            <a:pPr marL="247015">
              <a:lnSpc>
                <a:spcPts val="2620"/>
              </a:lnSpc>
            </a:pPr>
            <a:r>
              <a:rPr sz="2200" spc="-10" dirty="0">
                <a:latin typeface="Arial MT"/>
                <a:cs typeface="Arial MT"/>
              </a:rPr>
              <a:t>subcultures.</a:t>
            </a:r>
            <a:endParaRPr sz="2200">
              <a:latin typeface="Arial MT"/>
              <a:cs typeface="Arial MT"/>
            </a:endParaRPr>
          </a:p>
          <a:p>
            <a:pPr marL="245110" marR="5080" indent="-233045">
              <a:lnSpc>
                <a:spcPct val="100000"/>
              </a:lnSpc>
              <a:spcBef>
                <a:spcPts val="445"/>
              </a:spcBef>
              <a:buChar char="•"/>
              <a:tabLst>
                <a:tab pos="247015" algn="l"/>
              </a:tabLst>
            </a:pPr>
            <a:r>
              <a:rPr sz="2150" spc="-10" dirty="0">
                <a:latin typeface="Arial MT"/>
                <a:cs typeface="Arial MT"/>
              </a:rPr>
              <a:t>Learn</a:t>
            </a:r>
            <a:r>
              <a:rPr sz="2150" spc="-14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from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verbal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and</a:t>
            </a:r>
            <a:r>
              <a:rPr sz="2150" spc="-65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nonverbal 	</a:t>
            </a:r>
            <a:r>
              <a:rPr sz="2150" spc="-10" dirty="0">
                <a:latin typeface="Arial MT"/>
                <a:cs typeface="Arial MT"/>
              </a:rPr>
              <a:t>symbolism.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37465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3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3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62367" y="4351337"/>
            <a:ext cx="214312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2F2F2F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24242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00575" cy="45529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D82341"/>
                </a:solidFill>
              </a:rPr>
              <a:t>Verbal</a:t>
            </a:r>
            <a:r>
              <a:rPr spc="-195" dirty="0">
                <a:solidFill>
                  <a:srgbClr val="D82341"/>
                </a:solidFill>
              </a:rPr>
              <a:t> </a:t>
            </a:r>
            <a:r>
              <a:rPr spc="-30" dirty="0">
                <a:solidFill>
                  <a:srgbClr val="B50E1F"/>
                </a:solidFill>
              </a:rPr>
              <a:t>Symbolism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342" y="1295717"/>
            <a:ext cx="1515745" cy="15887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34950" indent="-222250">
              <a:lnSpc>
                <a:spcPct val="100000"/>
              </a:lnSpc>
              <a:spcBef>
                <a:spcPts val="535"/>
              </a:spcBef>
              <a:buChar char="•"/>
              <a:tabLst>
                <a:tab pos="234950" algn="l"/>
              </a:tabLst>
            </a:pPr>
            <a:r>
              <a:rPr sz="2200" spc="-10" dirty="0">
                <a:latin typeface="Arial MT"/>
                <a:cs typeface="Arial MT"/>
              </a:rPr>
              <a:t>Myths</a:t>
            </a:r>
            <a:endParaRPr sz="2200">
              <a:latin typeface="Arial MT"/>
              <a:cs typeface="Arial MT"/>
            </a:endParaRPr>
          </a:p>
          <a:p>
            <a:pPr marL="234950" indent="-222250">
              <a:lnSpc>
                <a:spcPct val="100000"/>
              </a:lnSpc>
              <a:spcBef>
                <a:spcPts val="434"/>
              </a:spcBef>
              <a:buChar char="•"/>
              <a:tabLst>
                <a:tab pos="234950" algn="l"/>
              </a:tabLst>
            </a:pPr>
            <a:r>
              <a:rPr sz="2200" spc="-50" dirty="0">
                <a:latin typeface="Arial MT"/>
                <a:cs typeface="Arial MT"/>
              </a:rPr>
              <a:t>Metaphors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Font typeface="Arial MT"/>
              <a:buChar char="•"/>
            </a:pPr>
            <a:endParaRPr sz="2200">
              <a:latin typeface="Arial MT"/>
              <a:cs typeface="Arial MT"/>
            </a:endParaRPr>
          </a:p>
          <a:p>
            <a:pPr marL="242570" indent="-229870">
              <a:lnSpc>
                <a:spcPct val="100000"/>
              </a:lnSpc>
              <a:buChar char="•"/>
              <a:tabLst>
                <a:tab pos="242570" algn="l"/>
              </a:tabLst>
            </a:pPr>
            <a:r>
              <a:rPr sz="2250" spc="-10" dirty="0">
                <a:latin typeface="Arial MT"/>
                <a:cs typeface="Arial MT"/>
              </a:rPr>
              <a:t>Humor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400550"/>
            <a:ext cx="647700" cy="57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solidFill>
                  <a:srgbClr val="DD1836"/>
                </a:solidFill>
              </a:rPr>
              <a:t>Nonverbal</a:t>
            </a:r>
            <a:r>
              <a:rPr sz="2900" spc="5" dirty="0">
                <a:solidFill>
                  <a:srgbClr val="DD1836"/>
                </a:solidFill>
              </a:rPr>
              <a:t> </a:t>
            </a:r>
            <a:r>
              <a:rPr sz="2900" spc="-10" dirty="0">
                <a:solidFill>
                  <a:srgbClr val="BD112F"/>
                </a:solidFill>
              </a:rPr>
              <a:t>Symbolism</a:t>
            </a:r>
            <a:endParaRPr sz="2900"/>
          </a:p>
        </p:txBody>
      </p:sp>
      <p:sp>
        <p:nvSpPr>
          <p:cNvPr id="6" name="object 6"/>
          <p:cNvSpPr txBox="1"/>
          <p:nvPr/>
        </p:nvSpPr>
        <p:spPr>
          <a:xfrm>
            <a:off x="830018" y="1304139"/>
            <a:ext cx="4257675" cy="260667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43204" indent="-230504">
              <a:lnSpc>
                <a:spcPct val="100000"/>
              </a:lnSpc>
              <a:spcBef>
                <a:spcPts val="515"/>
              </a:spcBef>
              <a:buChar char="•"/>
              <a:tabLst>
                <a:tab pos="243204" algn="l"/>
              </a:tabLst>
            </a:pPr>
            <a:r>
              <a:rPr sz="2150" spc="-10" dirty="0">
                <a:latin typeface="Arial MT"/>
                <a:cs typeface="Arial MT"/>
              </a:rPr>
              <a:t>Shared</a:t>
            </a:r>
            <a:r>
              <a:rPr sz="2150" spc="-12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artifacts</a:t>
            </a:r>
            <a:endParaRPr sz="2150">
              <a:latin typeface="Arial MT"/>
              <a:cs typeface="Arial MT"/>
            </a:endParaRPr>
          </a:p>
          <a:p>
            <a:pPr marL="506095" lvl="1" indent="-187325">
              <a:lnSpc>
                <a:spcPct val="100000"/>
              </a:lnSpc>
              <a:spcBef>
                <a:spcPts val="370"/>
              </a:spcBef>
              <a:buClr>
                <a:srgbClr val="F02448"/>
              </a:buClr>
              <a:buChar char="•"/>
              <a:tabLst>
                <a:tab pos="506095" algn="l"/>
              </a:tabLst>
            </a:pPr>
            <a:r>
              <a:rPr sz="1900" spc="-30" dirty="0">
                <a:latin typeface="Arial MT"/>
                <a:cs typeface="Arial MT"/>
              </a:rPr>
              <a:t>Trophies,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etc.</a:t>
            </a:r>
            <a:endParaRPr sz="190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470"/>
              </a:spcBef>
              <a:buChar char="•"/>
              <a:tabLst>
                <a:tab pos="243204" algn="l"/>
              </a:tabLst>
            </a:pPr>
            <a:r>
              <a:rPr sz="2150" dirty="0">
                <a:latin typeface="Arial MT"/>
                <a:cs typeface="Arial MT"/>
              </a:rPr>
              <a:t>Rites</a:t>
            </a:r>
            <a:r>
              <a:rPr sz="2150" spc="-8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and</a:t>
            </a:r>
            <a:r>
              <a:rPr sz="2150" spc="-14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rituals</a:t>
            </a:r>
            <a:endParaRPr sz="2150">
              <a:latin typeface="Arial MT"/>
              <a:cs typeface="Arial MT"/>
            </a:endParaRPr>
          </a:p>
          <a:p>
            <a:pPr marL="503555" lvl="1" indent="-184150">
              <a:lnSpc>
                <a:spcPct val="100000"/>
              </a:lnSpc>
              <a:spcBef>
                <a:spcPts val="495"/>
              </a:spcBef>
              <a:buClr>
                <a:srgbClr val="ED2A49"/>
              </a:buClr>
              <a:buChar char="•"/>
              <a:tabLst>
                <a:tab pos="503555" algn="l"/>
              </a:tabLst>
            </a:pPr>
            <a:r>
              <a:rPr sz="1850" spc="-10" dirty="0">
                <a:latin typeface="Arial MT"/>
                <a:cs typeface="Arial MT"/>
              </a:rPr>
              <a:t>Promotions</a:t>
            </a:r>
            <a:endParaRPr sz="1850">
              <a:latin typeface="Arial MT"/>
              <a:cs typeface="Arial MT"/>
            </a:endParaRPr>
          </a:p>
          <a:p>
            <a:pPr marL="504190" lvl="1" indent="-184785">
              <a:lnSpc>
                <a:spcPct val="100000"/>
              </a:lnSpc>
              <a:spcBef>
                <a:spcPts val="480"/>
              </a:spcBef>
              <a:buClr>
                <a:srgbClr val="E41A41"/>
              </a:buClr>
              <a:buChar char="•"/>
              <a:tabLst>
                <a:tab pos="504190" algn="l"/>
              </a:tabLst>
            </a:pPr>
            <a:r>
              <a:rPr sz="1850" dirty="0">
                <a:latin typeface="Arial MT"/>
                <a:cs typeface="Arial MT"/>
              </a:rPr>
              <a:t>Birthdays,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etc.</a:t>
            </a:r>
            <a:endParaRPr sz="185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spcBef>
                <a:spcPts val="520"/>
              </a:spcBef>
              <a:buChar char="•"/>
              <a:tabLst>
                <a:tab pos="241935" algn="l"/>
              </a:tabLst>
            </a:pPr>
            <a:r>
              <a:rPr sz="2150" spc="-10" dirty="0">
                <a:latin typeface="Arial MT"/>
                <a:cs typeface="Arial MT"/>
              </a:rPr>
              <a:t>Clothing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worn</a:t>
            </a:r>
            <a:endParaRPr sz="2150">
              <a:latin typeface="Arial MT"/>
              <a:cs typeface="Arial MT"/>
            </a:endParaRPr>
          </a:p>
          <a:p>
            <a:pPr marL="242570" indent="-229870">
              <a:lnSpc>
                <a:spcPct val="100000"/>
              </a:lnSpc>
              <a:spcBef>
                <a:spcPts val="530"/>
              </a:spcBef>
              <a:buChar char="•"/>
              <a:tabLst>
                <a:tab pos="242570" algn="l"/>
              </a:tabLst>
            </a:pPr>
            <a:r>
              <a:rPr sz="2150" spc="-10" dirty="0">
                <a:latin typeface="Arial MT"/>
                <a:cs typeface="Arial MT"/>
              </a:rPr>
              <a:t>Office</a:t>
            </a:r>
            <a:r>
              <a:rPr sz="2150" spc="-140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placement</a:t>
            </a:r>
            <a:r>
              <a:rPr sz="2150" spc="3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and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decorations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45454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343434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14141"/>
                </a:solidFill>
                <a:latin typeface="Arial MT"/>
                <a:cs typeface="Arial MT"/>
              </a:rPr>
              <a:t>Pe</a:t>
            </a:r>
            <a:r>
              <a:rPr sz="700" spc="-20" dirty="0">
                <a:solidFill>
                  <a:srgbClr val="525252"/>
                </a:solidFill>
                <a:latin typeface="Arial MT"/>
                <a:cs typeface="Arial MT"/>
              </a:rPr>
              <a:t>arson</a:t>
            </a:r>
            <a:r>
              <a:rPr sz="700" spc="6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44444"/>
                </a:solidFill>
                <a:latin typeface="Arial MT"/>
                <a:cs typeface="Arial MT"/>
              </a:rPr>
              <a:t>Pubi'shing</a:t>
            </a:r>
            <a:r>
              <a:rPr sz="700"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as</a:t>
            </a:r>
            <a:r>
              <a:rPr sz="700" spc="-1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Prem&lt;e</a:t>
            </a:r>
            <a:r>
              <a:rPr sz="700" spc="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7741" y="4341812"/>
            <a:ext cx="18034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5" dirty="0">
                <a:solidFill>
                  <a:srgbClr val="2D2D2D"/>
                </a:solidFill>
                <a:latin typeface="Arial MT"/>
                <a:cs typeface="Arial MT"/>
              </a:rPr>
              <a:t>2-</a:t>
            </a:r>
            <a:r>
              <a:rPr sz="700" spc="-25" dirty="0">
                <a:solidFill>
                  <a:srgbClr val="2D2D2D"/>
                </a:solidFill>
                <a:latin typeface="Arial MT"/>
                <a:cs typeface="Arial MT"/>
              </a:rPr>
              <a:t>ñ7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91025"/>
            <a:ext cx="647700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075" y="4381500"/>
            <a:ext cx="161925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522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2900" spc="-35" dirty="0">
                <a:solidFill>
                  <a:srgbClr val="DD001A"/>
                </a:solidFill>
              </a:rPr>
              <a:t>Summary</a:t>
            </a:r>
            <a:endParaRPr sz="2900"/>
          </a:p>
        </p:txBody>
      </p:sp>
      <p:sp>
        <p:nvSpPr>
          <p:cNvPr id="7" name="object 7"/>
          <p:cNvSpPr txBox="1"/>
          <p:nvPr/>
        </p:nvSpPr>
        <p:spPr>
          <a:xfrm>
            <a:off x="831708" y="1297622"/>
            <a:ext cx="4060825" cy="27686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29235" marR="828675" indent="-229235" algn="r">
              <a:lnSpc>
                <a:spcPct val="100000"/>
              </a:lnSpc>
              <a:spcBef>
                <a:spcPts val="520"/>
              </a:spcBef>
              <a:buClr>
                <a:srgbClr val="0F0F0F"/>
              </a:buClr>
              <a:buChar char="•"/>
              <a:tabLst>
                <a:tab pos="229235" algn="l"/>
              </a:tabLst>
            </a:pPr>
            <a:r>
              <a:rPr sz="1900" spc="-30" dirty="0">
                <a:latin typeface="Arial MT"/>
                <a:cs typeface="Arial MT"/>
              </a:rPr>
              <a:t>Organizational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30" dirty="0">
                <a:latin typeface="Arial MT"/>
                <a:cs typeface="Arial MT"/>
              </a:rPr>
              <a:t>fundamentals</a:t>
            </a:r>
            <a:endParaRPr sz="1900">
              <a:latin typeface="Arial MT"/>
              <a:cs typeface="Arial MT"/>
            </a:endParaRPr>
          </a:p>
          <a:p>
            <a:pPr marL="190500" marR="851535" lvl="1" indent="-190500" algn="r">
              <a:lnSpc>
                <a:spcPct val="100000"/>
              </a:lnSpc>
              <a:spcBef>
                <a:spcPts val="420"/>
              </a:spcBef>
              <a:buClr>
                <a:srgbClr val="FF2F4D"/>
              </a:buClr>
              <a:buChar char="•"/>
              <a:tabLst>
                <a:tab pos="190500" algn="l"/>
              </a:tabLst>
            </a:pPr>
            <a:r>
              <a:rPr sz="1900" spc="-30" dirty="0">
                <a:latin typeface="Arial MT"/>
                <a:cs typeface="Arial MT"/>
              </a:rPr>
              <a:t>Organizations</a:t>
            </a:r>
            <a:r>
              <a:rPr sz="1900" spc="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as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systems</a:t>
            </a:r>
            <a:endParaRPr sz="1900">
              <a:latin typeface="Arial MT"/>
              <a:cs typeface="Arial MT"/>
            </a:endParaRPr>
          </a:p>
          <a:p>
            <a:pPr marL="502284" lvl="1" indent="-184785">
              <a:lnSpc>
                <a:spcPct val="100000"/>
              </a:lnSpc>
              <a:spcBef>
                <a:spcPts val="420"/>
              </a:spcBef>
              <a:buClr>
                <a:srgbClr val="FF2146"/>
              </a:buClr>
              <a:buChar char="•"/>
              <a:tabLst>
                <a:tab pos="502284" algn="l"/>
              </a:tabLst>
            </a:pPr>
            <a:r>
              <a:rPr sz="1900" spc="-10" dirty="0">
                <a:latin typeface="Arial MT"/>
                <a:cs typeface="Arial MT"/>
              </a:rPr>
              <a:t>Levels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1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management</a:t>
            </a:r>
            <a:endParaRPr sz="1900">
              <a:latin typeface="Arial MT"/>
              <a:cs typeface="Arial MT"/>
            </a:endParaRPr>
          </a:p>
          <a:p>
            <a:pPr marL="508000" lvl="1" indent="-190500">
              <a:lnSpc>
                <a:spcPct val="100000"/>
              </a:lnSpc>
              <a:spcBef>
                <a:spcPts val="420"/>
              </a:spcBef>
              <a:buClr>
                <a:srgbClr val="FF2D4D"/>
              </a:buClr>
              <a:buChar char="•"/>
              <a:tabLst>
                <a:tab pos="508000" algn="l"/>
              </a:tabLst>
            </a:pPr>
            <a:r>
              <a:rPr sz="1900" spc="-35" dirty="0">
                <a:latin typeface="Arial MT"/>
                <a:cs typeface="Arial MT"/>
              </a:rPr>
              <a:t>Organizational</a:t>
            </a:r>
            <a:r>
              <a:rPr sz="1900" spc="-10" dirty="0">
                <a:latin typeface="Arial MT"/>
                <a:cs typeface="Arial MT"/>
              </a:rPr>
              <a:t> culture</a:t>
            </a:r>
            <a:endParaRPr sz="19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Char char="•"/>
              <a:tabLst>
                <a:tab pos="241300" algn="l"/>
              </a:tabLst>
            </a:pPr>
            <a:r>
              <a:rPr sz="1850" dirty="0">
                <a:latin typeface="Arial MT"/>
                <a:cs typeface="Arial MT"/>
              </a:rPr>
              <a:t>Graphical</a:t>
            </a:r>
            <a:r>
              <a:rPr sz="1850" spc="7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representation</a:t>
            </a:r>
            <a:r>
              <a:rPr sz="1850" spc="-4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of</a:t>
            </a:r>
            <a:r>
              <a:rPr sz="1850" spc="2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systems</a:t>
            </a:r>
            <a:endParaRPr sz="1850">
              <a:latin typeface="Arial MT"/>
              <a:cs typeface="Arial MT"/>
            </a:endParaRPr>
          </a:p>
          <a:p>
            <a:pPr marL="511809" lvl="1" indent="-193675">
              <a:lnSpc>
                <a:spcPct val="100000"/>
              </a:lnSpc>
              <a:spcBef>
                <a:spcPts val="495"/>
              </a:spcBef>
              <a:buClr>
                <a:srgbClr val="FF314F"/>
              </a:buClr>
              <a:buChar char="•"/>
              <a:tabLst>
                <a:tab pos="511809" algn="l"/>
              </a:tabLst>
            </a:pPr>
            <a:r>
              <a:rPr sz="1800" spc="-25" dirty="0">
                <a:latin typeface="Arial MT"/>
                <a:cs typeface="Arial MT"/>
              </a:rPr>
              <a:t>DFD</a:t>
            </a:r>
            <a:endParaRPr sz="1800">
              <a:latin typeface="Arial MT"/>
              <a:cs typeface="Arial MT"/>
            </a:endParaRPr>
          </a:p>
          <a:p>
            <a:pPr marL="511809" lvl="1" indent="-193675">
              <a:lnSpc>
                <a:spcPct val="100000"/>
              </a:lnSpc>
              <a:spcBef>
                <a:spcPts val="590"/>
              </a:spcBef>
              <a:buClr>
                <a:srgbClr val="E41C38"/>
              </a:buClr>
              <a:buChar char="•"/>
              <a:tabLst>
                <a:tab pos="511809" algn="l"/>
              </a:tabLst>
            </a:pPr>
            <a:r>
              <a:rPr sz="1750" spc="-25" dirty="0">
                <a:latin typeface="Arial MT"/>
                <a:cs typeface="Arial MT"/>
              </a:rPr>
              <a:t>ERD</a:t>
            </a:r>
            <a:endParaRPr sz="1750">
              <a:latin typeface="Arial MT"/>
              <a:cs typeface="Arial MT"/>
            </a:endParaRPr>
          </a:p>
          <a:p>
            <a:pPr marL="510540" lvl="1" indent="-193040">
              <a:lnSpc>
                <a:spcPct val="100000"/>
              </a:lnSpc>
              <a:spcBef>
                <a:spcPts val="525"/>
              </a:spcBef>
              <a:buClr>
                <a:srgbClr val="FB2D49"/>
              </a:buClr>
              <a:buChar char="•"/>
              <a:tabLst>
                <a:tab pos="510540" algn="l"/>
              </a:tabLst>
            </a:pPr>
            <a:r>
              <a:rPr sz="1900" dirty="0">
                <a:latin typeface="Arial MT"/>
                <a:cs typeface="Arial MT"/>
              </a:rPr>
              <a:t>Use</a:t>
            </a:r>
            <a:r>
              <a:rPr sz="1900" spc="-13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case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diagrams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and</a:t>
            </a:r>
            <a:r>
              <a:rPr sz="1900" spc="-12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scenarios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596" y="4351337"/>
            <a:ext cx="26320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sz="700" spc="-10" dirty="0">
                <a:solidFill>
                  <a:srgbClr val="4D4D4D"/>
                </a:solidFill>
                <a:latin typeface="Arial MT"/>
                <a:cs typeface="Arial MT"/>
              </a:rPr>
              <a:t>C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opynght</a:t>
            </a:r>
            <a:r>
              <a:rPr sz="7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2D2D2D"/>
                </a:solidFill>
                <a:latin typeface="Arial MT"/>
                <a:cs typeface="Arial MT"/>
              </a:rPr>
              <a:t>yo</a:t>
            </a:r>
            <a:r>
              <a:rPr sz="700" spc="-25" dirty="0">
                <a:solidFill>
                  <a:srgbClr val="424242"/>
                </a:solidFill>
                <a:latin typeface="Arial MT"/>
                <a:cs typeface="Arial MT"/>
              </a:rPr>
              <a:t>11</a:t>
            </a:r>
            <a:r>
              <a:rPr sz="700" spc="-3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65656"/>
                </a:solidFill>
                <a:latin typeface="Arial MT"/>
                <a:cs typeface="Arial MT"/>
              </a:rPr>
              <a:t>P</a:t>
            </a:r>
            <a:r>
              <a:rPr sz="700" spc="-20" dirty="0">
                <a:solidFill>
                  <a:srgbClr val="5E5E5E"/>
                </a:solidFill>
                <a:latin typeface="Arial MT"/>
                <a:cs typeface="Arial MT"/>
              </a:rPr>
              <a:t>e</a:t>
            </a:r>
            <a:r>
              <a:rPr sz="700" spc="-20" dirty="0">
                <a:solidFill>
                  <a:srgbClr val="4F4F4F"/>
                </a:solidFill>
                <a:latin typeface="Arial MT"/>
                <a:cs typeface="Arial MT"/>
              </a:rPr>
              <a:t>arson</a:t>
            </a:r>
            <a:r>
              <a:rPr sz="700" spc="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A3A3A"/>
                </a:solidFill>
                <a:latin typeface="Arial MT"/>
                <a:cs typeface="Arial MT"/>
              </a:rPr>
              <a:t>E</a:t>
            </a:r>
            <a:r>
              <a:rPr sz="700" dirty="0">
                <a:solidFill>
                  <a:srgbClr val="545454"/>
                </a:solidFill>
                <a:latin typeface="Arial MT"/>
                <a:cs typeface="Arial MT"/>
              </a:rPr>
              <a:t>suction,</a:t>
            </a:r>
            <a:r>
              <a:rPr sz="700" spc="7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3D3D3D"/>
                </a:solidFill>
                <a:latin typeface="Arial MT"/>
                <a:cs typeface="Arial MT"/>
              </a:rPr>
              <a:t>inc.</a:t>
            </a:r>
            <a:r>
              <a:rPr sz="700" spc="-4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44444"/>
                </a:solidFill>
                <a:latin typeface="Arial MT"/>
                <a:cs typeface="Arial MT"/>
              </a:rPr>
              <a:t>Publishing</a:t>
            </a:r>
            <a:r>
              <a:rPr sz="700" spc="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7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3B3B3B"/>
                </a:solidFill>
                <a:latin typeface="Arial MT"/>
                <a:cs typeface="Arial MT"/>
              </a:rPr>
              <a:t>Pr</a:t>
            </a:r>
            <a:r>
              <a:rPr sz="700" spc="-114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63636"/>
                </a:solidFill>
                <a:latin typeface="Arial MT"/>
                <a:cs typeface="Arial MT"/>
              </a:rPr>
              <a:t>emice</a:t>
            </a:r>
            <a:r>
              <a:rPr sz="7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3A3A3A"/>
                </a:solidFill>
                <a:latin typeface="Arial MT"/>
                <a:cs typeface="Arial MT"/>
              </a:rPr>
              <a:t>i-</a:t>
            </a:r>
            <a:r>
              <a:rPr sz="700" spc="-20" dirty="0">
                <a:solidFill>
                  <a:srgbClr val="3A3A3A"/>
                </a:solidFill>
                <a:latin typeface="Arial MT"/>
                <a:cs typeface="Arial MT"/>
              </a:rPr>
              <a:t>iali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90525" cy="1228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905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4386262"/>
            <a:ext cx="657225" cy="857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62600" y="4371975"/>
            <a:ext cx="161925" cy="666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B30521"/>
                </a:solidFill>
              </a:rPr>
              <a:t>Summary</a:t>
            </a:r>
            <a:r>
              <a:rPr spc="-90" dirty="0">
                <a:solidFill>
                  <a:srgbClr val="B30521"/>
                </a:solidFill>
              </a:rPr>
              <a:t> </a:t>
            </a:r>
            <a:r>
              <a:rPr spc="-35" dirty="0"/>
              <a:t>(Continued)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1370" y="1305177"/>
            <a:ext cx="3206115" cy="173418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36220" indent="-223520">
              <a:lnSpc>
                <a:spcPct val="100000"/>
              </a:lnSpc>
              <a:spcBef>
                <a:spcPts val="459"/>
              </a:spcBef>
              <a:buChar char="•"/>
              <a:tabLst>
                <a:tab pos="236220" algn="l"/>
              </a:tabLst>
            </a:pPr>
            <a:r>
              <a:rPr sz="1900" spc="-10" dirty="0">
                <a:latin typeface="Arial MT"/>
                <a:cs typeface="Arial MT"/>
              </a:rPr>
              <a:t>Levels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130" dirty="0">
                <a:latin typeface="Arial MT"/>
                <a:cs typeface="Arial MT"/>
              </a:rPr>
              <a:t> </a:t>
            </a:r>
            <a:r>
              <a:rPr sz="1900" spc="-35" dirty="0">
                <a:latin typeface="Arial MT"/>
                <a:cs typeface="Arial MT"/>
              </a:rPr>
              <a:t>managerial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control</a:t>
            </a:r>
            <a:endParaRPr sz="1900">
              <a:latin typeface="Arial MT"/>
              <a:cs typeface="Arial MT"/>
            </a:endParaRPr>
          </a:p>
          <a:p>
            <a:pPr marL="507365" lvl="1" indent="-189865">
              <a:lnSpc>
                <a:spcPct val="100000"/>
              </a:lnSpc>
              <a:spcBef>
                <a:spcPts val="370"/>
              </a:spcBef>
              <a:buClr>
                <a:srgbClr val="FF315B"/>
              </a:buClr>
              <a:buChar char="•"/>
              <a:tabLst>
                <a:tab pos="507365" algn="l"/>
              </a:tabLst>
            </a:pPr>
            <a:r>
              <a:rPr sz="1950" spc="-10" dirty="0">
                <a:latin typeface="Arial MT"/>
                <a:cs typeface="Arial MT"/>
              </a:rPr>
              <a:t>Operational</a:t>
            </a:r>
            <a:endParaRPr sz="1950">
              <a:latin typeface="Arial MT"/>
              <a:cs typeface="Arial MT"/>
            </a:endParaRPr>
          </a:p>
          <a:p>
            <a:pPr marL="501650" lvl="1" indent="-184150">
              <a:lnSpc>
                <a:spcPct val="100000"/>
              </a:lnSpc>
              <a:spcBef>
                <a:spcPts val="409"/>
              </a:spcBef>
              <a:buClr>
                <a:srgbClr val="F6264D"/>
              </a:buClr>
              <a:buChar char="•"/>
              <a:tabLst>
                <a:tab pos="501650" algn="l"/>
              </a:tabLst>
            </a:pPr>
            <a:r>
              <a:rPr sz="1900" spc="-20" dirty="0">
                <a:latin typeface="Arial MT"/>
                <a:cs typeface="Arial MT"/>
              </a:rPr>
              <a:t>Middle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management</a:t>
            </a:r>
            <a:endParaRPr sz="1900">
              <a:latin typeface="Arial MT"/>
              <a:cs typeface="Arial MT"/>
            </a:endParaRPr>
          </a:p>
          <a:p>
            <a:pPr marL="508634" lvl="1" indent="-191135">
              <a:lnSpc>
                <a:spcPct val="100000"/>
              </a:lnSpc>
              <a:spcBef>
                <a:spcPts val="370"/>
              </a:spcBef>
              <a:buClr>
                <a:srgbClr val="FB3156"/>
              </a:buClr>
              <a:buChar char="•"/>
              <a:tabLst>
                <a:tab pos="508634" algn="l"/>
              </a:tabLst>
            </a:pPr>
            <a:r>
              <a:rPr sz="1950" spc="-10" dirty="0">
                <a:latin typeface="Arial MT"/>
                <a:cs typeface="Arial MT"/>
              </a:rPr>
              <a:t>Strategic</a:t>
            </a:r>
            <a:endParaRPr sz="195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spcBef>
                <a:spcPts val="360"/>
              </a:spcBef>
              <a:buChar char="•"/>
              <a:tabLst>
                <a:tab pos="241935" algn="l"/>
              </a:tabLst>
            </a:pPr>
            <a:r>
              <a:rPr sz="1950" spc="-60" dirty="0">
                <a:latin typeface="Arial MT"/>
                <a:cs typeface="Arial MT"/>
              </a:rPr>
              <a:t>Organizational</a:t>
            </a:r>
            <a:r>
              <a:rPr sz="195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culture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0516" y="4351337"/>
            <a:ext cx="263525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0" dirty="0">
                <a:solidFill>
                  <a:srgbClr val="343434"/>
                </a:solidFill>
                <a:latin typeface="Arial MT"/>
                <a:cs typeface="Arial MT"/>
              </a:rPr>
              <a:t>Eogynght</a:t>
            </a:r>
            <a:r>
              <a:rPr sz="700" spc="10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8E8E8E"/>
                </a:solidFill>
                <a:latin typeface="Arial MT"/>
                <a:cs typeface="Arial MT"/>
              </a:rPr>
              <a:t>B</a:t>
            </a:r>
            <a:r>
              <a:rPr sz="700" spc="130" dirty="0">
                <a:solidFill>
                  <a:srgbClr val="8E8E8E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2D2D2D"/>
                </a:solidFill>
                <a:latin typeface="Arial MT"/>
                <a:cs typeface="Arial MT"/>
              </a:rPr>
              <a:t>2011</a:t>
            </a:r>
            <a:r>
              <a:rPr sz="700" spc="-4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700" spc="235" dirty="0">
                <a:solidFill>
                  <a:srgbClr val="5B5B5B"/>
                </a:solidFill>
                <a:latin typeface="Arial MT"/>
                <a:cs typeface="Arial MT"/>
              </a:rPr>
              <a:t>Pass</a:t>
            </a:r>
            <a:r>
              <a:rPr sz="70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545454"/>
                </a:solidFill>
                <a:latin typeface="Arial MT"/>
                <a:cs typeface="Arial MT"/>
              </a:rPr>
              <a:t>Eounalion,</a:t>
            </a:r>
            <a:r>
              <a:rPr sz="700" spc="6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700" spc="-30" dirty="0">
                <a:solidFill>
                  <a:srgbClr val="464646"/>
                </a:solidFill>
                <a:latin typeface="Arial MT"/>
                <a:cs typeface="Arial MT"/>
              </a:rPr>
              <a:t>Inc.</a:t>
            </a:r>
            <a:r>
              <a:rPr sz="7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414141"/>
                </a:solidFill>
                <a:latin typeface="Arial MT"/>
                <a:cs typeface="Arial MT"/>
              </a:rPr>
              <a:t>Publishing</a:t>
            </a:r>
            <a:r>
              <a:rPr sz="700" spc="3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5D5D5D"/>
                </a:solidFill>
                <a:latin typeface="Arial MT"/>
                <a:cs typeface="Arial MT"/>
              </a:rPr>
              <a:t>es</a:t>
            </a:r>
            <a:r>
              <a:rPr sz="700" spc="-30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700" spc="-85" dirty="0">
                <a:solidFill>
                  <a:srgbClr val="3D3D3D"/>
                </a:solidFill>
                <a:latin typeface="Arial MT"/>
                <a:cs typeface="Arial MT"/>
              </a:rPr>
              <a:t>Pren1+be</a:t>
            </a:r>
            <a:r>
              <a:rPr sz="700" spc="2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3B3B3B"/>
                </a:solidFill>
                <a:latin typeface="Arial MT"/>
                <a:cs typeface="Arial MT"/>
              </a:rPr>
              <a:t>Hell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24225"/>
            <a:ext cx="381000" cy="962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1000" cy="2362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" y="1047750"/>
            <a:ext cx="142875" cy="3429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2476500"/>
            <a:ext cx="381000" cy="428625"/>
            <a:chOff x="0" y="2476500"/>
            <a:chExt cx="381000" cy="42862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476500"/>
              <a:ext cx="381000" cy="2190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2714625"/>
              <a:ext cx="381000" cy="1905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476500"/>
              <a:ext cx="381000" cy="2190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2714625"/>
              <a:ext cx="381000" cy="19050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90725" y="4391025"/>
            <a:ext cx="2600325" cy="857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53075" y="4381500"/>
            <a:ext cx="152400" cy="666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65340" y="738187"/>
            <a:ext cx="397827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ts val="1185"/>
              </a:lnSpc>
              <a:spcBef>
                <a:spcPts val="100"/>
              </a:spcBef>
            </a:pPr>
            <a:r>
              <a:rPr sz="1100" spc="-155" dirty="0">
                <a:solidFill>
                  <a:srgbClr val="151515"/>
                </a:solidFill>
                <a:latin typeface="Arial MT"/>
                <a:cs typeface="Arial MT"/>
              </a:rPr>
              <a:t>This</a:t>
            </a:r>
            <a:r>
              <a:rPr sz="1100" spc="1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0F0F0F"/>
                </a:solidFill>
                <a:latin typeface="Arial MT"/>
                <a:cs typeface="Arial MT"/>
              </a:rPr>
              <a:t>w•rk</a:t>
            </a:r>
            <a:r>
              <a:rPr sz="1100" spc="-1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F1F1F"/>
                </a:solidFill>
                <a:latin typeface="Arial MT"/>
                <a:cs typeface="Arial MT"/>
              </a:rPr>
              <a:t>i›</a:t>
            </a:r>
            <a:r>
              <a:rPr sz="11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100" spc="-95" dirty="0">
                <a:solidFill>
                  <a:srgbClr val="111111"/>
                </a:solidFill>
                <a:latin typeface="Arial MT"/>
                <a:cs typeface="Arial MT"/>
              </a:rPr>
              <a:t>prete‹1ed</a:t>
            </a:r>
            <a:r>
              <a:rPr sz="1100" spc="-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100" spc="-114" dirty="0">
                <a:latin typeface="Arial MT"/>
                <a:cs typeface="Arial MT"/>
              </a:rPr>
              <a:t>Ly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20" dirty="0">
                <a:solidFill>
                  <a:srgbClr val="1A1A1A"/>
                </a:solidFill>
                <a:latin typeface="Arial MT"/>
                <a:cs typeface="Arial MT"/>
              </a:rPr>
              <a:t>Unncd</a:t>
            </a:r>
            <a:r>
              <a:rPr sz="11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100" spc="-175" dirty="0">
                <a:solidFill>
                  <a:srgbClr val="131313"/>
                </a:solidFill>
                <a:latin typeface="Arial MT"/>
                <a:cs typeface="Arial MT"/>
              </a:rPr>
              <a:t>51.Item</a:t>
            </a:r>
            <a:r>
              <a:rPr sz="1100" spc="-9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E0E0E"/>
                </a:solidFill>
                <a:latin typeface="Arial MT"/>
                <a:cs typeface="Arial MT"/>
              </a:rPr>
              <a:t>‹•ryriuht</a:t>
            </a:r>
            <a:r>
              <a:rPr sz="1100" spc="-1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Iawr.end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0C0C0C"/>
                </a:solidFill>
                <a:latin typeface="Arial MT"/>
                <a:cs typeface="Arial MT"/>
              </a:rPr>
              <a:t>o</a:t>
            </a:r>
            <a:r>
              <a:rPr sz="1100" spc="-9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232323"/>
                </a:solidFill>
                <a:latin typeface="Arial MT"/>
                <a:cs typeface="Arial MT"/>
              </a:rPr>
              <a:t>pt</a:t>
            </a:r>
            <a:r>
              <a:rPr sz="1100" spc="-1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100" spc="-110" dirty="0">
                <a:solidFill>
                  <a:srgbClr val="161616"/>
                </a:solidFill>
                <a:latin typeface="Arial MT"/>
                <a:cs typeface="Arial MT"/>
              </a:rPr>
              <a:t>evided</a:t>
            </a:r>
            <a:r>
              <a:rPr sz="1100" spc="-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61616"/>
                </a:solidFill>
                <a:latin typeface="Arial MT"/>
                <a:cs typeface="Arial MT"/>
              </a:rPr>
              <a:t>solely</a:t>
            </a:r>
            <a:endParaRPr sz="1100">
              <a:latin typeface="Arial MT"/>
              <a:cs typeface="Arial MT"/>
            </a:endParaRPr>
          </a:p>
          <a:p>
            <a:pPr marL="117475">
              <a:lnSpc>
                <a:spcPts val="985"/>
              </a:lnSpc>
            </a:pPr>
            <a:r>
              <a:rPr sz="950" dirty="0">
                <a:solidFill>
                  <a:srgbClr val="131313"/>
                </a:solidFill>
                <a:latin typeface="Arial MT"/>
                <a:cs typeface="Arial MT"/>
              </a:rPr>
              <a:t>lot</a:t>
            </a:r>
            <a:r>
              <a:rPr sz="950" spc="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sz="950" spc="-10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950" spc="-50" dirty="0">
                <a:solidFill>
                  <a:srgbClr val="0F0F0F"/>
                </a:solidFill>
                <a:latin typeface="Arial MT"/>
                <a:cs typeface="Arial MT"/>
              </a:rPr>
              <a:t>use</a:t>
            </a:r>
            <a:r>
              <a:rPr sz="950" spc="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F1F1F"/>
                </a:solidFill>
                <a:latin typeface="Arial MT"/>
                <a:cs typeface="Arial MT"/>
              </a:rPr>
              <a:t>uf</a:t>
            </a:r>
            <a:r>
              <a:rPr sz="95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950" spc="-40" dirty="0">
                <a:latin typeface="Arial MT"/>
                <a:cs typeface="Arial MT"/>
              </a:rPr>
              <a:t>inscruc‹ors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F0F0F"/>
                </a:solidFill>
                <a:latin typeface="Arial MT"/>
                <a:cs typeface="Arial MT"/>
              </a:rPr>
              <a:t>in</a:t>
            </a:r>
            <a:r>
              <a:rPr sz="950" spc="-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950" spc="-55" dirty="0">
                <a:latin typeface="Arial MT"/>
                <a:cs typeface="Arial MT"/>
              </a:rPr>
              <a:t>te.aching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61616"/>
                </a:solidFill>
                <a:latin typeface="Arial MT"/>
                <a:cs typeface="Arial MT"/>
              </a:rPr>
              <a:t>their</a:t>
            </a:r>
            <a:r>
              <a:rPr sz="950" spc="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81818"/>
                </a:solidFill>
                <a:latin typeface="Arial MT"/>
                <a:cs typeface="Arial MT"/>
              </a:rPr>
              <a:t>tour</a:t>
            </a:r>
            <a:r>
              <a:rPr sz="95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950" spc="-55" dirty="0">
                <a:solidFill>
                  <a:srgbClr val="1D1D1D"/>
                </a:solidFill>
                <a:latin typeface="Arial MT"/>
                <a:cs typeface="Arial MT"/>
              </a:rPr>
              <a:t>set</a:t>
            </a:r>
            <a:r>
              <a:rPr sz="9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950" spc="-95" dirty="0">
                <a:solidFill>
                  <a:srgbClr val="111111"/>
                </a:solidFill>
                <a:latin typeface="Arial MT"/>
                <a:cs typeface="Arial MT"/>
              </a:rPr>
              <a:t>.and</a:t>
            </a:r>
            <a:r>
              <a:rPr sz="950" spc="-1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950" spc="-60" dirty="0">
                <a:solidFill>
                  <a:srgbClr val="181818"/>
                </a:solidFill>
                <a:latin typeface="Arial MT"/>
                <a:cs typeface="Arial MT"/>
              </a:rPr>
              <a:t>.\sse</a:t>
            </a:r>
            <a:r>
              <a:rPr sz="950" spc="-1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31313"/>
                </a:solidFill>
                <a:latin typeface="Arial MT"/>
                <a:cs typeface="Arial MT"/>
              </a:rPr>
              <a:t>sting</a:t>
            </a:r>
            <a:r>
              <a:rPr sz="950" spc="-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11111"/>
                </a:solidFill>
                <a:latin typeface="Arial MT"/>
                <a:cs typeface="Arial MT"/>
              </a:rPr>
              <a:t>student</a:t>
            </a:r>
            <a:endParaRPr sz="950">
              <a:latin typeface="Arial MT"/>
              <a:cs typeface="Arial MT"/>
            </a:endParaRPr>
          </a:p>
          <a:p>
            <a:pPr marL="267335" marR="5080" indent="-76200">
              <a:lnSpc>
                <a:spcPct val="85100"/>
              </a:lnSpc>
              <a:spcBef>
                <a:spcPts val="140"/>
              </a:spcBef>
            </a:pPr>
            <a:r>
              <a:rPr sz="900" dirty="0">
                <a:solidFill>
                  <a:srgbClr val="161616"/>
                </a:solidFill>
                <a:latin typeface="Arial MT"/>
                <a:cs typeface="Arial MT"/>
              </a:rPr>
              <a:t>\</a:t>
            </a:r>
            <a:r>
              <a:rPr sz="900" dirty="0">
                <a:solidFill>
                  <a:srgbClr val="282828"/>
                </a:solidFill>
                <a:latin typeface="Arial MT"/>
                <a:cs typeface="Arial MT"/>
              </a:rPr>
              <a:t>enrn</a:t>
            </a:r>
            <a:r>
              <a:rPr sz="900" dirty="0">
                <a:solidFill>
                  <a:srgbClr val="181818"/>
                </a:solidFill>
                <a:latin typeface="Arial MT"/>
                <a:cs typeface="Arial MT"/>
              </a:rPr>
              <a:t>in</a:t>
            </a:r>
            <a:r>
              <a:rPr sz="900" dirty="0">
                <a:solidFill>
                  <a:srgbClr val="333333"/>
                </a:solidFill>
                <a:latin typeface="Arial MT"/>
                <a:cs typeface="Arial MT"/>
              </a:rPr>
              <a:t>g.</a:t>
            </a:r>
            <a:r>
              <a:rPr sz="9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900" spc="-45" dirty="0">
                <a:solidFill>
                  <a:srgbClr val="212121"/>
                </a:solidFill>
                <a:latin typeface="Arial MT"/>
                <a:cs typeface="Arial MT"/>
              </a:rPr>
              <a:t>D</a:t>
            </a:r>
            <a:r>
              <a:rPr sz="900" spc="-45" dirty="0">
                <a:solidFill>
                  <a:srgbClr val="151515"/>
                </a:solidFill>
                <a:latin typeface="Arial MT"/>
                <a:cs typeface="Arial MT"/>
              </a:rPr>
              <a:t>issem</a:t>
            </a:r>
            <a:r>
              <a:rPr sz="900" spc="-16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rgbClr val="111111"/>
                </a:solidFill>
                <a:latin typeface="Arial MT"/>
                <a:cs typeface="Arial MT"/>
              </a:rPr>
              <a:t>in.Clio</a:t>
            </a:r>
            <a:r>
              <a:rPr sz="900" spc="-1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63636"/>
                </a:solidFill>
                <a:latin typeface="Arial MT"/>
                <a:cs typeface="Arial MT"/>
              </a:rPr>
              <a:t>n</a:t>
            </a:r>
            <a:r>
              <a:rPr sz="900" spc="-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81818"/>
                </a:solidFill>
                <a:latin typeface="Arial MT"/>
                <a:cs typeface="Arial MT"/>
              </a:rPr>
              <a:t>o</a:t>
            </a:r>
            <a:r>
              <a:rPr sz="900" dirty="0">
                <a:solidFill>
                  <a:srgbClr val="1A1A1A"/>
                </a:solidFill>
                <a:latin typeface="Arial MT"/>
                <a:cs typeface="Arial MT"/>
              </a:rPr>
              <a:t>r</a:t>
            </a:r>
            <a:r>
              <a:rPr sz="900" spc="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900" spc="-105" dirty="0">
                <a:solidFill>
                  <a:srgbClr val="212121"/>
                </a:solidFill>
                <a:latin typeface="Arial MT"/>
                <a:cs typeface="Arial MT"/>
              </a:rPr>
              <a:t>na</a:t>
            </a:r>
            <a:r>
              <a:rPr sz="900" spc="-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900" spc="-225" dirty="0">
                <a:solidFill>
                  <a:srgbClr val="1C1C1C"/>
                </a:solidFill>
                <a:latin typeface="Arial MT"/>
                <a:cs typeface="Arial MT"/>
              </a:rPr>
              <a:t>Te</a:t>
            </a:r>
            <a:r>
              <a:rPr sz="900" spc="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9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Arial MT"/>
                <a:cs typeface="Arial MT"/>
              </a:rPr>
              <a:t>any</a:t>
            </a:r>
            <a:r>
              <a:rPr sz="90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E0E0E"/>
                </a:solidFill>
                <a:latin typeface="Arial MT"/>
                <a:cs typeface="Arial MT"/>
              </a:rPr>
              <a:t>part</a:t>
            </a:r>
            <a:r>
              <a:rPr sz="900" spc="-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900" spc="-114" dirty="0">
                <a:solidFill>
                  <a:srgbClr val="181818"/>
                </a:solidFill>
                <a:latin typeface="Arial MT"/>
                <a:cs typeface="Arial MT"/>
              </a:rPr>
              <a:t>o4</a:t>
            </a:r>
            <a:r>
              <a:rPr sz="9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900" spc="-60" dirty="0">
                <a:solidFill>
                  <a:srgbClr val="1F1F1F"/>
                </a:solidFill>
                <a:latin typeface="Arial MT"/>
                <a:cs typeface="Arial MT"/>
              </a:rPr>
              <a:t>I</a:t>
            </a:r>
            <a:r>
              <a:rPr sz="900" spc="-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Arial MT"/>
                <a:cs typeface="Arial MT"/>
              </a:rPr>
              <a:t>his</a:t>
            </a:r>
            <a:r>
              <a:rPr sz="9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11111"/>
                </a:solidFill>
                <a:latin typeface="Arial MT"/>
                <a:cs typeface="Arial MT"/>
              </a:rPr>
              <a:t>w</a:t>
            </a:r>
            <a:r>
              <a:rPr sz="900" spc="-114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A1A1A"/>
                </a:solidFill>
                <a:latin typeface="Arial MT"/>
                <a:cs typeface="Arial MT"/>
              </a:rPr>
              <a:t>ark</a:t>
            </a:r>
            <a:r>
              <a:rPr sz="900" spc="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900" spc="-95" dirty="0">
                <a:solidFill>
                  <a:srgbClr val="494949"/>
                </a:solidFill>
                <a:latin typeface="Arial MT"/>
                <a:cs typeface="Arial MT"/>
              </a:rPr>
              <a:t>T</a:t>
            </a:r>
            <a:r>
              <a:rPr sz="900" spc="-95" dirty="0">
                <a:solidFill>
                  <a:srgbClr val="161616"/>
                </a:solidFill>
                <a:latin typeface="Arial MT"/>
                <a:cs typeface="Arial MT"/>
              </a:rPr>
              <a:t>ink</a:t>
            </a:r>
            <a:r>
              <a:rPr sz="900" spc="-1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I</a:t>
            </a:r>
            <a:r>
              <a:rPr sz="900" spc="-10" dirty="0">
                <a:solidFill>
                  <a:srgbClr val="2D2D2D"/>
                </a:solidFill>
                <a:latin typeface="Arial MT"/>
                <a:cs typeface="Arial MT"/>
              </a:rPr>
              <a:t>u</a:t>
            </a:r>
            <a:r>
              <a:rPr sz="900" spc="-16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Arial MT"/>
                <a:cs typeface="Arial MT"/>
              </a:rPr>
              <a:t>fi</a:t>
            </a:r>
            <a:r>
              <a:rPr sz="900" dirty="0">
                <a:solidFill>
                  <a:srgbClr val="181818"/>
                </a:solidFill>
                <a:latin typeface="Arial MT"/>
                <a:cs typeface="Arial MT"/>
              </a:rPr>
              <a:t>ing</a:t>
            </a:r>
            <a:r>
              <a:rPr sz="900" spc="-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242424"/>
                </a:solidFill>
                <a:latin typeface="Arial MT"/>
                <a:cs typeface="Arial MT"/>
              </a:rPr>
              <a:t>on </a:t>
            </a:r>
            <a:r>
              <a:rPr sz="900" spc="-25" dirty="0">
                <a:solidFill>
                  <a:srgbClr val="0F0F0F"/>
                </a:solidFill>
                <a:latin typeface="Arial MT"/>
                <a:cs typeface="Arial MT"/>
              </a:rPr>
              <a:t>the </a:t>
            </a:r>
            <a:r>
              <a:rPr sz="1000" spc="-20" dirty="0">
                <a:solidFill>
                  <a:srgbClr val="131313"/>
                </a:solidFill>
                <a:latin typeface="Arial MT"/>
                <a:cs typeface="Arial MT"/>
              </a:rPr>
              <a:t>world</a:t>
            </a:r>
            <a:r>
              <a:rPr sz="1000" spc="-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0F0F0F"/>
                </a:solidFill>
                <a:latin typeface="Arial MT"/>
                <a:cs typeface="Arial MT"/>
              </a:rPr>
              <a:t>wide</a:t>
            </a:r>
            <a:r>
              <a:rPr sz="1000" spc="-6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31313"/>
                </a:solidFill>
                <a:latin typeface="Arial MT"/>
                <a:cs typeface="Arial MT"/>
              </a:rPr>
              <a:t>web)</a:t>
            </a:r>
            <a:r>
              <a:rPr sz="1000" spc="-1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0F0F"/>
                </a:solidFill>
                <a:latin typeface="Arial MT"/>
                <a:cs typeface="Arial MT"/>
              </a:rPr>
              <a:t>will</a:t>
            </a:r>
            <a:r>
              <a:rPr sz="1000" spc="-6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de*t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ay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212121"/>
                </a:solidFill>
                <a:latin typeface="Arial MT"/>
                <a:cs typeface="Arial MT"/>
              </a:rPr>
              <a:t>‹he</a:t>
            </a:r>
            <a:r>
              <a:rPr sz="1000" spc="-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0E0E"/>
                </a:solidFill>
                <a:latin typeface="Arial MT"/>
                <a:cs typeface="Arial MT"/>
              </a:rPr>
              <a:t>integrity</a:t>
            </a:r>
            <a:r>
              <a:rPr sz="1000" spc="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242424"/>
                </a:solidFill>
                <a:latin typeface="Arial MT"/>
                <a:cs typeface="Arial MT"/>
              </a:rPr>
              <a:t>of</a:t>
            </a:r>
            <a:r>
              <a:rPr sz="1000" spc="-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 MT"/>
                <a:cs typeface="Arial MT"/>
              </a:rPr>
              <a:t>the </a:t>
            </a:r>
            <a:r>
              <a:rPr sz="1000" spc="-55" dirty="0">
                <a:solidFill>
                  <a:srgbClr val="0F0F0F"/>
                </a:solidFill>
                <a:latin typeface="Arial MT"/>
                <a:cs typeface="Arial MT"/>
              </a:rPr>
              <a:t>work</a:t>
            </a:r>
            <a:r>
              <a:rPr sz="1000" spc="-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.Ind</a:t>
            </a:r>
            <a:r>
              <a:rPr sz="1000" spc="-80" dirty="0"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81818"/>
                </a:solidFill>
                <a:latin typeface="Arial MT"/>
                <a:cs typeface="Arial MT"/>
              </a:rPr>
              <a:t>i*</a:t>
            </a:r>
            <a:r>
              <a:rPr sz="10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11111"/>
                </a:solidFill>
                <a:latin typeface="Arial MT"/>
                <a:cs typeface="Arial MT"/>
              </a:rPr>
              <a:t>not</a:t>
            </a:r>
            <a:r>
              <a:rPr sz="1000" spc="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yermi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- ted.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55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000" spc="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work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and</a:t>
            </a:r>
            <a:r>
              <a:rPr sz="1000" spc="-135" dirty="0">
                <a:latin typeface="Arial MT"/>
                <a:cs typeface="Arial MT"/>
              </a:rPr>
              <a:t> </a:t>
            </a:r>
            <a:r>
              <a:rPr sz="1000" spc="-125" dirty="0">
                <a:latin typeface="Arial MT"/>
                <a:cs typeface="Arial MT"/>
              </a:rPr>
              <a:t>m.at+ri.aTs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31313"/>
                </a:solidFill>
                <a:latin typeface="Arial MT"/>
                <a:cs typeface="Arial MT"/>
              </a:rPr>
              <a:t>from</a:t>
            </a:r>
            <a:r>
              <a:rPr sz="1000" spc="-1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0F0F"/>
                </a:solidFill>
                <a:latin typeface="Arial MT"/>
                <a:cs typeface="Arial MT"/>
              </a:rPr>
              <a:t>it</a:t>
            </a:r>
            <a:r>
              <a:rPr sz="1000" spc="1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000" spc="-130" dirty="0">
                <a:solidFill>
                  <a:srgbClr val="0C0C0C"/>
                </a:solidFill>
                <a:latin typeface="Arial MT"/>
                <a:cs typeface="Arial MT"/>
              </a:rPr>
              <a:t>yhouTd</a:t>
            </a:r>
            <a:r>
              <a:rPr sz="1000" spc="-11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11111"/>
                </a:solidFill>
                <a:latin typeface="Arial MT"/>
                <a:cs typeface="Arial MT"/>
              </a:rPr>
              <a:t>never</a:t>
            </a:r>
            <a:r>
              <a:rPr sz="1000" spc="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0C0C0C"/>
                </a:solidFill>
                <a:latin typeface="Arial MT"/>
                <a:cs typeface="Arial MT"/>
              </a:rPr>
              <a:t>he</a:t>
            </a:r>
            <a:r>
              <a:rPr sz="1000" spc="-130" dirty="0">
                <a:solidFill>
                  <a:srgbClr val="0C0C0C"/>
                </a:solidFill>
                <a:latin typeface="Arial MT"/>
                <a:cs typeface="Arial MT"/>
              </a:rPr>
              <a:t> m.ade</a:t>
            </a:r>
            <a:r>
              <a:rPr sz="1000" spc="-1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000" spc="-190" dirty="0">
                <a:latin typeface="Arial MT"/>
                <a:cs typeface="Arial MT"/>
              </a:rPr>
              <a:t>.av.aiT.aT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spc="-285" dirty="0">
                <a:latin typeface="Arial MT"/>
                <a:cs typeface="Arial MT"/>
              </a:rPr>
              <a:t>Te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262626"/>
                </a:solidFill>
                <a:latin typeface="Arial MT"/>
                <a:cs typeface="Arial MT"/>
              </a:rPr>
              <a:t>to</a:t>
            </a:r>
            <a:endParaRPr sz="1000">
              <a:latin typeface="Arial MT"/>
              <a:cs typeface="Arial MT"/>
            </a:endParaRPr>
          </a:p>
          <a:p>
            <a:pPr marL="262890" algn="ctr">
              <a:lnSpc>
                <a:spcPts val="925"/>
              </a:lnSpc>
            </a:pPr>
            <a:r>
              <a:rPr sz="1000" spc="-30" dirty="0">
                <a:solidFill>
                  <a:srgbClr val="1F1F1F"/>
                </a:solidFill>
                <a:latin typeface="Arial MT"/>
                <a:cs typeface="Arial MT"/>
              </a:rPr>
              <a:t>s</a:t>
            </a:r>
            <a:r>
              <a:rPr sz="1000" spc="-30" dirty="0">
                <a:latin typeface="Arial MT"/>
                <a:cs typeface="Arial MT"/>
              </a:rPr>
              <a:t>tudenls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31313"/>
                </a:solidFill>
                <a:latin typeface="Arial MT"/>
                <a:cs typeface="Arial MT"/>
              </a:rPr>
              <a:t>ex¥ep\</a:t>
            </a:r>
            <a:r>
              <a:rPr sz="1000" spc="-4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instructors</a:t>
            </a:r>
            <a:r>
              <a:rPr sz="1000" spc="-65" dirty="0"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61616"/>
                </a:solidFill>
                <a:latin typeface="Arial MT"/>
                <a:cs typeface="Arial MT"/>
              </a:rPr>
              <a:t>using</a:t>
            </a:r>
            <a:r>
              <a:rPr sz="1000" spc="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000" spc="-65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000" spc="-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.›ctemp.anyzng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text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C0C0C"/>
                </a:solidFill>
                <a:latin typeface="Arial MT"/>
                <a:cs typeface="Arial MT"/>
              </a:rPr>
              <a:t>their</a:t>
            </a:r>
            <a:endParaRPr sz="1000">
              <a:latin typeface="Arial MT"/>
              <a:cs typeface="Arial MT"/>
            </a:endParaRPr>
          </a:p>
          <a:p>
            <a:pPr marL="247015" algn="ctr">
              <a:lnSpc>
                <a:spcPts val="969"/>
              </a:lnSpc>
            </a:pPr>
            <a:r>
              <a:rPr sz="950" spc="-35" dirty="0">
                <a:solidFill>
                  <a:srgbClr val="1C1C1C"/>
                </a:solidFill>
                <a:latin typeface="Arial MT"/>
                <a:cs typeface="Arial MT"/>
              </a:rPr>
              <a:t>tTattes.</a:t>
            </a:r>
            <a:r>
              <a:rPr sz="950" spc="-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950" spc="-170" dirty="0">
                <a:solidFill>
                  <a:srgbClr val="181818"/>
                </a:solidFill>
                <a:latin typeface="Arial MT"/>
                <a:cs typeface="Arial MT"/>
              </a:rPr>
              <a:t>AU</a:t>
            </a:r>
            <a:r>
              <a:rPr sz="95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61616"/>
                </a:solidFill>
                <a:latin typeface="Arial MT"/>
                <a:cs typeface="Arial MT"/>
              </a:rPr>
              <a:t>recipients</a:t>
            </a:r>
            <a:r>
              <a:rPr sz="950" spc="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sz="95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thit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C1C1C"/>
                </a:solidFill>
                <a:latin typeface="Arial MT"/>
                <a:cs typeface="Arial MT"/>
              </a:rPr>
              <a:t>work</a:t>
            </a:r>
            <a:r>
              <a:rPr sz="950" spc="-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950" spc="-100" dirty="0">
                <a:solidFill>
                  <a:srgbClr val="0C0C0C"/>
                </a:solidFill>
                <a:latin typeface="Arial MT"/>
                <a:cs typeface="Arial MT"/>
              </a:rPr>
              <a:t>.are</a:t>
            </a:r>
            <a:r>
              <a:rPr sz="950" spc="3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950" spc="-80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950" spc="-1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950" spc="-100" dirty="0">
                <a:latin typeface="Arial MT"/>
                <a:cs typeface="Arial MT"/>
              </a:rPr>
              <a:t>zpe¥</a:t>
            </a:r>
            <a:r>
              <a:rPr sz="950" spc="-145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F0F0F"/>
                </a:solidFill>
                <a:latin typeface="Arial MT"/>
                <a:cs typeface="Arial MT"/>
              </a:rPr>
              <a:t>red</a:t>
            </a:r>
            <a:r>
              <a:rPr sz="950" spc="-1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C1C1C"/>
                </a:solidFill>
                <a:latin typeface="Arial MT"/>
                <a:cs typeface="Arial MT"/>
              </a:rPr>
              <a:t>to</a:t>
            </a:r>
            <a:r>
              <a:rPr sz="950" spc="-1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950" spc="-65" dirty="0">
                <a:solidFill>
                  <a:srgbClr val="0E0E0E"/>
                </a:solidFill>
                <a:latin typeface="Arial MT"/>
                <a:cs typeface="Arial MT"/>
              </a:rPr>
              <a:t>.nbidc'</a:t>
            </a:r>
            <a:r>
              <a:rPr sz="950" spc="6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950" spc="-40" dirty="0">
                <a:solidFill>
                  <a:srgbClr val="262626"/>
                </a:solidFill>
                <a:latin typeface="Arial MT"/>
                <a:cs typeface="Arial MT"/>
              </a:rPr>
              <a:t>fry</a:t>
            </a:r>
            <a:r>
              <a:rPr sz="950" spc="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131313"/>
                </a:solidFill>
                <a:latin typeface="Arial MT"/>
                <a:cs typeface="Arial MT"/>
              </a:rPr>
              <a:t>These</a:t>
            </a:r>
            <a:endParaRPr sz="950">
              <a:latin typeface="Arial MT"/>
              <a:cs typeface="Arial MT"/>
            </a:endParaRPr>
          </a:p>
          <a:p>
            <a:pPr marL="16510" marR="12065" indent="-4445">
              <a:lnSpc>
                <a:spcPts val="980"/>
              </a:lnSpc>
              <a:spcBef>
                <a:spcPts val="120"/>
              </a:spcBef>
            </a:pPr>
            <a:r>
              <a:rPr sz="950" spc="-30" dirty="0">
                <a:solidFill>
                  <a:srgbClr val="131313"/>
                </a:solidFill>
                <a:latin typeface="Arial MT"/>
                <a:cs typeface="Arial MT"/>
              </a:rPr>
              <a:t>r+strip</a:t>
            </a:r>
            <a:r>
              <a:rPr sz="950" spc="-1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tions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35" dirty="0">
                <a:solidFill>
                  <a:srgbClr val="161616"/>
                </a:solidFill>
                <a:latin typeface="Arial MT"/>
                <a:cs typeface="Arial MT"/>
              </a:rPr>
              <a:t>and</a:t>
            </a:r>
            <a:r>
              <a:rPr sz="950" spc="-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sz="950" spc="-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161616"/>
                </a:solidFill>
                <a:latin typeface="Arial MT"/>
                <a:cs typeface="Arial MT"/>
              </a:rPr>
              <a:t>honor</a:t>
            </a:r>
            <a:r>
              <a:rPr sz="950" spc="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sz="950" spc="-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0E0E0E"/>
                </a:solidFill>
                <a:latin typeface="Arial MT"/>
                <a:cs typeface="Arial MT"/>
              </a:rPr>
              <a:t>intended </a:t>
            </a:r>
            <a:r>
              <a:rPr sz="950" spc="-80" dirty="0">
                <a:latin typeface="Arial MT"/>
                <a:cs typeface="Arial MT"/>
              </a:rPr>
              <a:t>pedagogic.aT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30" dirty="0">
                <a:latin typeface="Arial MT"/>
                <a:cs typeface="Arial MT"/>
              </a:rPr>
              <a:t>purposes</a:t>
            </a:r>
            <a:r>
              <a:rPr sz="950" spc="15" dirty="0">
                <a:latin typeface="Arial MT"/>
                <a:cs typeface="Arial MT"/>
              </a:rPr>
              <a:t> </a:t>
            </a:r>
            <a:r>
              <a:rPr sz="950" spc="-65" dirty="0">
                <a:latin typeface="Arial MT"/>
                <a:cs typeface="Arial MT"/>
              </a:rPr>
              <a:t>apd</a:t>
            </a:r>
            <a:r>
              <a:rPr sz="950" spc="-10" dirty="0">
                <a:latin typeface="Arial MT"/>
                <a:cs typeface="Arial MT"/>
              </a:rPr>
              <a:t> the</a:t>
            </a:r>
            <a:r>
              <a:rPr sz="950" spc="-120" dirty="0"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1D1D1D"/>
                </a:solidFill>
                <a:latin typeface="Arial MT"/>
                <a:cs typeface="Arial MT"/>
              </a:rPr>
              <a:t>need*</a:t>
            </a:r>
            <a:r>
              <a:rPr sz="950" spc="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2F2F2F"/>
                </a:solidFill>
                <a:latin typeface="Arial MT"/>
                <a:cs typeface="Arial MT"/>
              </a:rPr>
              <a:t>of </a:t>
            </a:r>
            <a:r>
              <a:rPr sz="950" dirty="0">
                <a:solidFill>
                  <a:srgbClr val="0C0C0C"/>
                </a:solidFill>
                <a:latin typeface="Arial MT"/>
                <a:cs typeface="Arial MT"/>
              </a:rPr>
              <a:t>other</a:t>
            </a:r>
            <a:r>
              <a:rPr sz="950" spc="-7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inttrucyow</a:t>
            </a:r>
            <a:r>
              <a:rPr sz="950" spc="30" dirty="0">
                <a:latin typeface="Arial MT"/>
                <a:cs typeface="Arial MT"/>
              </a:rPr>
              <a:t> </a:t>
            </a:r>
            <a:r>
              <a:rPr sz="950" spc="-40" dirty="0">
                <a:solidFill>
                  <a:srgbClr val="0F0F0F"/>
                </a:solidFill>
                <a:latin typeface="Arial MT"/>
                <a:cs typeface="Arial MT"/>
              </a:rPr>
              <a:t>who</a:t>
            </a:r>
            <a:r>
              <a:rPr sz="950" spc="-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11111"/>
                </a:solidFill>
                <a:latin typeface="Arial MT"/>
                <a:cs typeface="Arial MT"/>
              </a:rPr>
              <a:t>rely</a:t>
            </a:r>
            <a:r>
              <a:rPr sz="9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A1A1A"/>
                </a:solidFill>
                <a:latin typeface="Arial MT"/>
                <a:cs typeface="Arial MT"/>
              </a:rPr>
              <a:t>oo</a:t>
            </a:r>
            <a:r>
              <a:rPr sz="95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950" spc="-105" dirty="0">
                <a:solidFill>
                  <a:srgbClr val="151515"/>
                </a:solidFill>
                <a:latin typeface="Arial MT"/>
                <a:cs typeface="Arial MT"/>
              </a:rPr>
              <a:t>chc«e</a:t>
            </a:r>
            <a:r>
              <a:rPr sz="950" spc="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m.ntcri.Us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3295" y="2592387"/>
            <a:ext cx="4602480" cy="11334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1200"/>
              </a:lnSpc>
              <a:spcBef>
                <a:spcPts val="85"/>
              </a:spcBef>
            </a:pP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rights</a:t>
            </a:r>
            <a:r>
              <a:rPr sz="105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reserved.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31313"/>
                </a:solidFill>
                <a:latin typeface="Arial MT"/>
                <a:cs typeface="Arial MT"/>
              </a:rPr>
              <a:t>No</a:t>
            </a:r>
            <a:r>
              <a:rPr sz="1050" spc="-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part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lhis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publication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may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reproduced,</a:t>
            </a:r>
            <a:r>
              <a:rPr sz="1050" spc="8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stored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50" dirty="0">
                <a:solidFill>
                  <a:srgbClr val="282828"/>
                </a:solidFill>
                <a:latin typeface="Arial MT"/>
                <a:cs typeface="Arial MT"/>
              </a:rPr>
              <a:t>a </a:t>
            </a:r>
            <a:r>
              <a:rPr sz="1050" dirty="0">
                <a:latin typeface="Arial MT"/>
                <a:cs typeface="Arial MT"/>
              </a:rPr>
              <a:t>retrieval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syslem,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sz="1050" spc="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transmitted.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0E0E"/>
                </a:solidFill>
                <a:latin typeface="Arial MT"/>
                <a:cs typeface="Arial MT"/>
              </a:rPr>
              <a:t>any</a:t>
            </a:r>
            <a:r>
              <a:rPr sz="1050" spc="5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A1A1A"/>
                </a:solidFill>
                <a:latin typeface="Arial MT"/>
                <a:cs typeface="Arial MT"/>
              </a:rPr>
              <a:t>form</a:t>
            </a:r>
            <a:r>
              <a:rPr sz="105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82828"/>
                </a:solidFill>
                <a:latin typeface="Arial MT"/>
                <a:cs typeface="Arial MT"/>
              </a:rPr>
              <a:t>or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any means.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electronic, mechanical,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photocopying,</a:t>
            </a:r>
            <a:r>
              <a:rPr sz="1050" spc="7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recording,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otherwise.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without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prior </a:t>
            </a:r>
            <a:r>
              <a:rPr sz="1050" spc="-10" dirty="0">
                <a:latin typeface="Arial MT"/>
                <a:cs typeface="Arial MT"/>
              </a:rPr>
              <a:t>written </a:t>
            </a:r>
            <a:r>
              <a:rPr sz="1050" dirty="0">
                <a:latin typeface="Arial MT"/>
                <a:cs typeface="Arial MT"/>
              </a:rPr>
              <a:t>permission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82828"/>
                </a:solidFill>
                <a:latin typeface="Arial MT"/>
                <a:cs typeface="Arial MT"/>
              </a:rPr>
              <a:t>of</a:t>
            </a:r>
            <a:r>
              <a:rPr sz="1050" spc="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lhe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F0F0F"/>
                </a:solidFill>
                <a:latin typeface="Arial MT"/>
                <a:cs typeface="Arial MT"/>
              </a:rPr>
              <a:t>publisher.</a:t>
            </a:r>
            <a:r>
              <a:rPr sz="1050" spc="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61616"/>
                </a:solidFill>
                <a:latin typeface="Arial MT"/>
                <a:cs typeface="Arial MT"/>
              </a:rPr>
              <a:t>Printed</a:t>
            </a:r>
            <a:r>
              <a:rPr sz="1050" spc="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050" spc="-4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United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States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82828"/>
                </a:solidFill>
                <a:latin typeface="Arial MT"/>
                <a:cs typeface="Arial MT"/>
              </a:rPr>
              <a:t>of</a:t>
            </a:r>
            <a:r>
              <a:rPr sz="1050" spc="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America.</a:t>
            </a:r>
            <a:endParaRPr sz="1050">
              <a:latin typeface="Arial MT"/>
              <a:cs typeface="Arial MT"/>
            </a:endParaRPr>
          </a:p>
          <a:p>
            <a:pPr marL="183515" algn="ctr">
              <a:lnSpc>
                <a:spcPts val="1465"/>
              </a:lnSpc>
              <a:spcBef>
                <a:spcPts val="715"/>
              </a:spcBef>
              <a:tabLst>
                <a:tab pos="1034415" algn="l"/>
              </a:tabLst>
            </a:pPr>
            <a:r>
              <a:rPr sz="1250" spc="-10" dirty="0">
                <a:latin typeface="Arial MT"/>
                <a:cs typeface="Arial MT"/>
              </a:rPr>
              <a:t>Copyright</a:t>
            </a:r>
            <a:r>
              <a:rPr sz="1250" dirty="0">
                <a:latin typeface="Arial MT"/>
                <a:cs typeface="Arial MT"/>
              </a:rPr>
              <a:t>	</a:t>
            </a:r>
            <a:r>
              <a:rPr sz="1250" spc="-55" dirty="0">
                <a:latin typeface="Arial MT"/>
                <a:cs typeface="Arial MT"/>
              </a:rPr>
              <a:t>2011</a:t>
            </a:r>
            <a:r>
              <a:rPr sz="1250" spc="-35" dirty="0">
                <a:latin typeface="Arial MT"/>
                <a:cs typeface="Arial MT"/>
              </a:rPr>
              <a:t> </a:t>
            </a:r>
            <a:r>
              <a:rPr sz="1250" spc="-40" dirty="0">
                <a:latin typeface="Arial MT"/>
                <a:cs typeface="Arial MT"/>
              </a:rPr>
              <a:t>Pearson</a:t>
            </a:r>
            <a:r>
              <a:rPr sz="1250" spc="5" dirty="0">
                <a:latin typeface="Arial MT"/>
                <a:cs typeface="Arial MT"/>
              </a:rPr>
              <a:t> </a:t>
            </a:r>
            <a:r>
              <a:rPr sz="1250" spc="-40" dirty="0">
                <a:latin typeface="Arial MT"/>
                <a:cs typeface="Arial MT"/>
              </a:rPr>
              <a:t>Education.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-20" dirty="0">
                <a:latin typeface="Arial MT"/>
                <a:cs typeface="Arial MT"/>
              </a:rPr>
              <a:t>Inc.</a:t>
            </a:r>
            <a:endParaRPr sz="1250">
              <a:latin typeface="Arial MT"/>
              <a:cs typeface="Arial MT"/>
            </a:endParaRPr>
          </a:p>
          <a:p>
            <a:pPr marL="273050" algn="ctr">
              <a:lnSpc>
                <a:spcPts val="1465"/>
              </a:lnSpc>
            </a:pPr>
            <a:r>
              <a:rPr sz="1250" spc="-30" dirty="0">
                <a:latin typeface="Arial MT"/>
                <a:cs typeface="Arial MT"/>
              </a:rPr>
              <a:t>Publishing </a:t>
            </a:r>
            <a:r>
              <a:rPr sz="1250" spc="-80" dirty="0">
                <a:latin typeface="Arial MT"/>
                <a:cs typeface="Arial MT"/>
              </a:rPr>
              <a:t>as</a:t>
            </a:r>
            <a:r>
              <a:rPr sz="1250" spc="-15" dirty="0">
                <a:latin typeface="Arial MT"/>
                <a:cs typeface="Arial MT"/>
              </a:rPr>
              <a:t> </a:t>
            </a:r>
            <a:r>
              <a:rPr sz="1250" spc="-35" dirty="0">
                <a:latin typeface="Arial MT"/>
                <a:cs typeface="Arial MT"/>
              </a:rPr>
              <a:t>Prentice</a:t>
            </a:r>
            <a:r>
              <a:rPr sz="1250" spc="10" dirty="0">
                <a:latin typeface="Arial MT"/>
                <a:cs typeface="Arial MT"/>
              </a:rPr>
              <a:t> </a:t>
            </a:r>
            <a:r>
              <a:rPr sz="1250" spc="-20" dirty="0">
                <a:latin typeface="Arial MT"/>
                <a:cs typeface="Arial MT"/>
              </a:rPr>
              <a:t>Hall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2143</Words>
  <Application>Microsoft Office PowerPoint</Application>
  <PresentationFormat>Custom</PresentationFormat>
  <Paragraphs>500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3" baseType="lpstr">
      <vt:lpstr>Arial</vt:lpstr>
      <vt:lpstr>Arial Black</vt:lpstr>
      <vt:lpstr>Arial MT</vt:lpstr>
      <vt:lpstr>Calibri</vt:lpstr>
      <vt:lpstr>Courier New</vt:lpstr>
      <vt:lpstr>Tahoma</vt:lpstr>
      <vt:lpstr>Times New Roman</vt:lpstr>
      <vt:lpstr>Wingdings</vt:lpstr>
      <vt:lpstr>Office Theme</vt:lpstr>
      <vt:lpstr>PowerPoint Presentation</vt:lpstr>
      <vt:lpstr>Learning Objectives</vt:lpstr>
      <vt:lpstr>Three Main Forces Interacting to Shape Organizations</vt:lpstr>
      <vt:lpstr>Organizations Are Composed of Interrelated Subsystems</vt:lpstr>
      <vt:lpstr>Major Topics</vt:lpstr>
      <vt:lpstr>Organizations as Systems</vt:lpstr>
      <vt:lpstr>Interrelatedness and</vt:lpstr>
      <vt:lpstr>System Outputs Serve as Feedback that Compares Performance with Coals (Figure 2.1)</vt:lpstr>
      <vt:lpstr>Organizational Environments</vt:lpstr>
      <vt:lpstr>Openness and Closedness</vt:lpstr>
      <vt:lpstr>Virtual Organizations and Virtual Teams</vt:lpstr>
      <vt:lpstr>Benefits of Virtual Organizations and Teams</vt:lpstr>
      <vt:lpstr>Taking a Systems Perspective</vt:lpstr>
      <vt:lpstr>Taking a Systems Perspective (Figure 2.2)</vt:lpstr>
      <vt:lpstr>Perspective of Functional Managers (FIGURE 2.3)</vt:lpstr>
      <vt:lpstr>Enterprise Resource Planning</vt:lpstr>
      <vt:lpstr>Enterprise Resource Planning</vt:lpstr>
      <vt:lpstr>PowerPoint Presentation</vt:lpstr>
      <vt:lpstr>ERP and the Organization</vt:lpstr>
      <vt:lpstr>Issues to be Overcome for ERP Success</vt:lpstr>
      <vt:lpstr>Depicting Systems Graphically</vt:lpstr>
      <vt:lpstr>Context-Level Data Flow Diagrams</vt:lpstr>
      <vt:lpstr>Context-Level Data Flow Diagrams</vt:lpstr>
      <vt:lpstr>Context-Level Data Flow Diagrams</vt:lpstr>
      <vt:lpstr>The Basic Symbols of a Data Flow Diagram</vt:lpstr>
      <vt:lpstr>PowerPoint Presentation</vt:lpstr>
      <vt:lpstr>Airline Reservation System</vt:lpstr>
      <vt:lpstr>Entity-Relationship Model</vt:lpstr>
      <vt:lpstr>Relationships</vt:lpstr>
      <vt:lpstr>Relationships One-to-one —one employee is assigned to one phone extension.</vt:lpstr>
      <vt:lpstr>Entity-Relationship Example a one-to-one relationship</vt:lpstr>
      <vt:lpstr>a one-to-one relationship</vt:lpstr>
      <vt:lpstr>Entity-Relationship Example a many-to-one relationship</vt:lpstr>
      <vt:lpstr>a many-to-one relationship</vt:lpstr>
      <vt:lpstr>PowerPoint Presentation</vt:lpstr>
      <vt:lpstr>PowerPoint Presentation</vt:lpstr>
      <vt:lpstr>PowerPoint Presentation</vt:lpstr>
      <vt:lpstr>Many to Many</vt:lpstr>
      <vt:lpstr>PowerPoint Presentation</vt:lpstr>
      <vt:lpstr>Relationships in E-R Diagrams</vt:lpstr>
      <vt:lpstr>Three Different Types of Entities Used in E-R Diagrams (Figure 2.9)</vt:lpstr>
      <vt:lpstr>Entities</vt:lpstr>
      <vt:lpstr>Associative Entities</vt:lpstr>
      <vt:lpstr>Attributive Entities</vt:lpstr>
      <vt:lpstr>Attribute</vt:lpstr>
      <vt:lpstr>Example</vt:lpstr>
      <vt:lpstr>PowerPoint Presentation</vt:lpstr>
      <vt:lpstr>Attributes</vt:lpstr>
      <vt:lpstr>Creating Entity-Relationship Diagrams</vt:lpstr>
      <vt:lpstr>Notations for the components of ERD:</vt:lpstr>
      <vt:lpstr>PowerPoint Presentation</vt:lpstr>
      <vt:lpstr>A More Complete E-R Diagram Showing Data Attributes of the Entities (Figure 2.12 )</vt:lpstr>
      <vt:lpstr>PowerPoint Presentation</vt:lpstr>
      <vt:lpstr>Use Case Modeling</vt:lpstr>
      <vt:lpstr>Use Case Diagram</vt:lpstr>
      <vt:lpstr>Actor</vt:lpstr>
      <vt:lpstr>A Use Case Always Provides Three Things</vt:lpstr>
      <vt:lpstr>Use Case Relations</vt:lpstr>
      <vt:lpstr>Use Case Relations</vt:lpstr>
      <vt:lpstr>Some Components of Use Case Diagrams Showing Actors, Use Cases, and Relationships for a Student Enrollment Example (Figure 2.13)</vt:lpstr>
      <vt:lpstr>Examples of Use Cases, Behavioral Relationships for Student Enrollment (Figure 2.14)</vt:lpstr>
      <vt:lpstr>Scope</vt:lpstr>
      <vt:lpstr>Developing Use Case Diagrams</vt:lpstr>
      <vt:lpstr>A Use Case Diagram Representing a System Used to Plan a Conference (Figure 2.15 )</vt:lpstr>
      <vt:lpstr>Developing the Use Case Scenarios</vt:lpstr>
      <vt:lpstr>A Use Case Scenario Is Divided into Three Sections (Figure 2.16)</vt:lpstr>
      <vt:lpstr>Use Case Header Area</vt:lpstr>
      <vt:lpstr>Use Case Levels</vt:lpstr>
      <vt:lpstr>Alternative Scenarios</vt:lpstr>
      <vt:lpstr>Use Case Footer Area</vt:lpstr>
      <vt:lpstr>Four Steps Used to Create Use Cases</vt:lpstr>
      <vt:lpstr>Why Use Case Diagrams Are Helpful</vt:lpstr>
      <vt:lpstr>The Main Reasons for Writing Use Cases Are Their Effectiveness in Communicating with Users and Their Capturing of User Stories (Figure</vt:lpstr>
      <vt:lpstr>PowerPoint Presentation</vt:lpstr>
      <vt:lpstr>Operations Control</vt:lpstr>
      <vt:lpstr>Managerial Planning and Control</vt:lpstr>
      <vt:lpstr>Strategic Management</vt:lpstr>
      <vt:lpstr>Managerial Levels</vt:lpstr>
      <vt:lpstr>Organizational Culture</vt:lpstr>
      <vt:lpstr>Verbal Symbolism</vt:lpstr>
      <vt:lpstr>Nonverbal Symbolism</vt:lpstr>
      <vt:lpstr>Summary</vt:lpstr>
      <vt:lpstr>Summary (Continued)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BUBT</cp:lastModifiedBy>
  <cp:revision>10</cp:revision>
  <dcterms:created xsi:type="dcterms:W3CDTF">2025-08-03T19:08:11Z</dcterms:created>
  <dcterms:modified xsi:type="dcterms:W3CDTF">2026-01-18T03:40:21Z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2024-07-08T00:00:00Z</vt:filetime>
  </property>
  <property fmtid="{D5CDD505-2E9C-101B-9397-08002B2CF9AE}" pid="3" name="LastSaved">
    <vt:filetime>2025-08-03T00:00:00Z</vt:filetime>
  </property>
</Properties>
</file>